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6256000" cy="9144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F8EC1-0D07-449E-897B-B0DA6E394021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E3E46-69F7-4A54-8B2F-1E8DE481E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137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ko-KR" altLang="en-US"/>
              <a:t>사용자 설명에 따른 담당 역할은 </a:t>
            </a:r>
            <a:r>
              <a:rPr lang="en-US" altLang="ko-KR"/>
              <a:t>API </a:t>
            </a:r>
            <a:r>
              <a:rPr lang="ko-KR" altLang="en-US"/>
              <a:t>개발이다</a:t>
            </a:r>
            <a:r>
              <a:rPr lang="en-US" altLang="ko-KR"/>
              <a:t>. </a:t>
            </a:r>
            <a:r>
              <a:rPr lang="ko-KR" altLang="en-US"/>
              <a:t>기간</a:t>
            </a:r>
            <a:r>
              <a:rPr lang="en-US" altLang="ko-KR"/>
              <a:t>, </a:t>
            </a:r>
            <a:r>
              <a:rPr lang="ko-KR" altLang="en-US"/>
              <a:t>기여율</a:t>
            </a:r>
            <a:r>
              <a:rPr lang="en-US" altLang="ko-KR"/>
              <a:t>, </a:t>
            </a:r>
            <a:r>
              <a:rPr lang="ko-KR" altLang="en-US"/>
              <a:t>팀 규모</a:t>
            </a:r>
            <a:r>
              <a:rPr lang="en-US" altLang="ko-KR"/>
              <a:t>, </a:t>
            </a:r>
            <a:r>
              <a:rPr lang="ko-KR" altLang="en-US"/>
              <a:t>운영 성과 수치는 제공되지 않아 기재하지 않았다</a:t>
            </a:r>
            <a:r>
              <a:rPr lang="en-US" altLang="ko-KR"/>
              <a:t>. 5</a:t>
            </a:r>
            <a:r>
              <a:rPr lang="ko-KR" altLang="en-US"/>
              <a:t>는 </a:t>
            </a:r>
            <a:r>
              <a:rPr lang="en-US" altLang="ko-KR"/>
              <a:t>Service1.asmx.cs OutboundApiHandler</a:t>
            </a:r>
            <a:r>
              <a:rPr lang="ko-KR" altLang="en-US"/>
              <a:t>의 활성 </a:t>
            </a:r>
            <a:r>
              <a:rPr lang="en-US" altLang="ko-KR"/>
              <a:t>ORDER </a:t>
            </a:r>
            <a:r>
              <a:rPr lang="ko-KR" altLang="en-US"/>
              <a:t>라우트 수이며</a:t>
            </a:r>
            <a:r>
              <a:rPr lang="en-US" altLang="ko-KR"/>
              <a:t>, </a:t>
            </a:r>
            <a:r>
              <a:rPr lang="ko-KR" altLang="en-US"/>
              <a:t>별도 </a:t>
            </a:r>
            <a:r>
              <a:rPr lang="en-US" altLang="ko-KR"/>
              <a:t>PrintPickingSlip ASMX WebMethod</a:t>
            </a:r>
            <a:r>
              <a:rPr lang="ko-KR" altLang="en-US"/>
              <a:t>는 제외했다</a:t>
            </a:r>
            <a:r>
              <a:rPr lang="en-US" altLang="ko-KR"/>
              <a:t>. 3</a:t>
            </a:r>
            <a:r>
              <a:rPr lang="ko-KR" altLang="en-US"/>
              <a:t>개 출력 흐름은 외부 박스 라벨</a:t>
            </a:r>
            <a:r>
              <a:rPr lang="en-US" altLang="ko-KR"/>
              <a:t>, Packing List, Picking Slip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회사 자료의 외부 공개 승인은 별도 확인해야 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ko-KR" altLang="en-US"/>
              <a:t>인터페이스 정의서 </a:t>
            </a:r>
            <a:r>
              <a:rPr lang="en-US" altLang="ko-KR"/>
              <a:t>Ver 0.7 · </a:t>
            </a:r>
            <a:r>
              <a:rPr lang="ko-KR" altLang="en-US"/>
              <a:t>현재 워크스페이스 소스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448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ko-KR" altLang="en-US"/>
              <a:t>정의서는 </a:t>
            </a:r>
            <a:r>
              <a:rPr lang="en-US" altLang="ko-KR"/>
              <a:t>MES</a:t>
            </a:r>
            <a:r>
              <a:rPr lang="ko-KR" altLang="en-US"/>
              <a:t>와 선적자동화 운영 프로그램 사이의 인터페이스를 정의한다</a:t>
            </a:r>
            <a:r>
              <a:rPr lang="en-US" altLang="ko-KR"/>
              <a:t>. NG </a:t>
            </a:r>
            <a:r>
              <a:rPr lang="ko-KR" altLang="en-US"/>
              <a:t>수신 후 이송 정지</a:t>
            </a:r>
            <a:r>
              <a:rPr lang="en-US" altLang="ko-KR"/>
              <a:t>, </a:t>
            </a:r>
            <a:r>
              <a:rPr lang="ko-KR" altLang="en-US"/>
              <a:t>부저</a:t>
            </a:r>
            <a:r>
              <a:rPr lang="en-US" altLang="ko-KR"/>
              <a:t>, </a:t>
            </a:r>
            <a:r>
              <a:rPr lang="ko-KR" altLang="en-US"/>
              <a:t>운영화면 안내는 정의서상 설비 운영 프로그램 책임이다</a:t>
            </a:r>
            <a:r>
              <a:rPr lang="en-US" altLang="ko-KR"/>
              <a:t>. </a:t>
            </a:r>
            <a:r>
              <a:rPr lang="ko-KR" altLang="en-US"/>
              <a:t>서버가 </a:t>
            </a:r>
            <a:r>
              <a:rPr lang="en-US" altLang="ko-KR"/>
              <a:t>PLC</a:t>
            </a:r>
            <a:r>
              <a:rPr lang="ko-KR" altLang="en-US"/>
              <a:t>나 로봇을 직접 제어한다고 표현하지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ko-KR" altLang="en-US"/>
              <a:t>정의서 </a:t>
            </a:r>
            <a:r>
              <a:rPr lang="en-US" altLang="ko-KR"/>
              <a:t>p.2–7 | Service1.asmx.cs | BIZ/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922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ko-KR" altLang="en-US"/>
              <a:t>운영 전후 불량률이나 처리시간 측정 자료는 없으므로 개선율을 제시하지 않는다</a:t>
            </a:r>
            <a:r>
              <a:rPr lang="en-US" altLang="ko-KR"/>
              <a:t>. </a:t>
            </a:r>
            <a:r>
              <a:rPr lang="ko-KR" altLang="en-US"/>
              <a:t>이 슬라이드는 구현 목적과 구조적 가치를 설명한다</a:t>
            </a:r>
            <a:r>
              <a:rPr lang="en-US" altLang="ko-KR"/>
              <a:t>. </a:t>
            </a:r>
            <a:r>
              <a:rPr lang="ko-KR" altLang="en-US"/>
              <a:t>모든 조건이 데이터 테이블로만 구성되는 것은 아니며 고객별 코드 분기도 존재한다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en-US" altLang="ko-KR"/>
              <a:t>BoxScanCheckBiz.cs | ScanRuleDAO.cs | WeightCheckBiz.cs | </a:t>
            </a:r>
            <a:r>
              <a:rPr lang="ko-KR" altLang="en-US"/>
              <a:t>출력 </a:t>
            </a:r>
            <a:r>
              <a:rPr lang="en-US" altLang="ko-KR"/>
              <a:t>BIZ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18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ko-KR" altLang="en-US"/>
              <a:t>파일별 작성자나 개인 기여율은 검증되지 않았다</a:t>
            </a:r>
            <a:r>
              <a:rPr lang="en-US" altLang="ko-KR"/>
              <a:t>. </a:t>
            </a:r>
            <a:r>
              <a:rPr lang="ko-KR" altLang="en-US"/>
              <a:t>각 기능은 프로젝트 구현 범위로 설명하며</a:t>
            </a:r>
            <a:r>
              <a:rPr lang="en-US" altLang="ko-KR"/>
              <a:t>, </a:t>
            </a:r>
            <a:r>
              <a:rPr lang="ko-KR" altLang="en-US"/>
              <a:t>모든 레거시 모듈과 외부 시스템을 사용자가 단독 개발했다고 주장하지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ko-KR" altLang="en-US"/>
              <a:t>사용자 제공 담당 역할 </a:t>
            </a:r>
            <a:r>
              <a:rPr lang="en-US" altLang="ko-KR"/>
              <a:t>| </a:t>
            </a:r>
            <a:r>
              <a:rPr lang="ko-KR" altLang="en-US"/>
              <a:t>정의서 </a:t>
            </a:r>
            <a:r>
              <a:rPr lang="en-US" altLang="ko-KR"/>
              <a:t>p.2 | </a:t>
            </a:r>
            <a:r>
              <a:rPr lang="ko-KR" altLang="en-US"/>
              <a:t>전체 소스 구조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84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en-US" altLang="ko-KR"/>
              <a:t>PreApplicationStartMethod</a:t>
            </a:r>
            <a:r>
              <a:rPr lang="ko-KR" altLang="en-US"/>
              <a:t>로 </a:t>
            </a:r>
            <a:r>
              <a:rPr lang="en-US" altLang="ko-KR"/>
              <a:t>outbound </a:t>
            </a:r>
            <a:r>
              <a:rPr lang="ko-KR" altLang="en-US"/>
              <a:t>경로를 등록한다</a:t>
            </a:r>
            <a:r>
              <a:rPr lang="en-US" altLang="ko-KR"/>
              <a:t>. ORDER</a:t>
            </a:r>
            <a:r>
              <a:rPr lang="ko-KR" altLang="en-US"/>
              <a:t>는 커스텀 </a:t>
            </a:r>
            <a:r>
              <a:rPr lang="en-US" altLang="ko-KR"/>
              <a:t>IHttpHandler</a:t>
            </a:r>
            <a:r>
              <a:rPr lang="ko-KR" altLang="en-US"/>
              <a:t>에서 </a:t>
            </a:r>
            <a:r>
              <a:rPr lang="en-US" altLang="ko-KR"/>
              <a:t>JSON </a:t>
            </a:r>
            <a:r>
              <a:rPr lang="ko-KR" altLang="en-US"/>
              <a:t>문자열을 직접 응답하며</a:t>
            </a:r>
            <a:r>
              <a:rPr lang="en-US" altLang="ko-KR"/>
              <a:t>, PrintPickingSlip</a:t>
            </a:r>
            <a:r>
              <a:rPr lang="ko-KR" altLang="en-US"/>
              <a:t>은 </a:t>
            </a:r>
            <a:r>
              <a:rPr lang="en-US" altLang="ko-KR"/>
              <a:t>ASMX </a:t>
            </a:r>
            <a:r>
              <a:rPr lang="ko-KR" altLang="en-US"/>
              <a:t>경로를 사용한다</a:t>
            </a:r>
            <a:r>
              <a:rPr lang="en-US" altLang="ko-KR"/>
              <a:t>. </a:t>
            </a:r>
            <a:r>
              <a:rPr lang="ko-KR" altLang="en-US"/>
              <a:t>마이크로서비스나 </a:t>
            </a:r>
            <a:r>
              <a:rPr lang="en-US" altLang="ko-KR"/>
              <a:t>ASP.NET Core REST </a:t>
            </a:r>
            <a:r>
              <a:rPr lang="ko-KR" altLang="en-US"/>
              <a:t>프레임워크를 사용한 구조가 아니다</a:t>
            </a:r>
            <a:r>
              <a:rPr lang="en-US" altLang="ko-KR"/>
              <a:t>. </a:t>
            </a:r>
            <a:r>
              <a:rPr lang="ko-KR" altLang="en-US"/>
              <a:t>일부 </a:t>
            </a:r>
            <a:r>
              <a:rPr lang="en-US" altLang="ko-KR"/>
              <a:t>SQL</a:t>
            </a:r>
            <a:r>
              <a:rPr lang="ko-KR" altLang="en-US"/>
              <a:t>은 </a:t>
            </a:r>
            <a:r>
              <a:rPr lang="en-US" altLang="ko-KR"/>
              <a:t>PickingSlipPrintBiz </a:t>
            </a:r>
            <a:r>
              <a:rPr lang="ko-KR" altLang="en-US"/>
              <a:t>내부에 존재하므로 엄격한 계층 분리가 완성됐다고 주장하지 않는다</a:t>
            </a:r>
            <a:r>
              <a:rPr lang="en-US" altLang="ko-KR"/>
              <a:t>. SQL Server </a:t>
            </a:r>
            <a:r>
              <a:rPr lang="ko-KR" altLang="en-US"/>
              <a:t>연결 및 </a:t>
            </a:r>
            <a:r>
              <a:rPr lang="en-US" altLang="ko-KR"/>
              <a:t>MachineLogDAO</a:t>
            </a:r>
            <a:r>
              <a:rPr lang="ko-KR" altLang="en-US"/>
              <a:t>는 레거시 보조 경로이다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en-US" altLang="ko-KR"/>
              <a:t>Service1.asmx.cs | Properties/AssemblyInfo.cs | BIZ/ · DAO/ · COMMON/ · VO/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193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ko-KR" altLang="en-US"/>
              <a:t>카드의 </a:t>
            </a:r>
            <a:r>
              <a:rPr lang="en-US" altLang="ko-KR"/>
              <a:t>API</a:t>
            </a:r>
            <a:r>
              <a:rPr lang="ko-KR" altLang="en-US"/>
              <a:t>명은 </a:t>
            </a:r>
            <a:r>
              <a:rPr lang="en-US" altLang="ko-KR"/>
              <a:t>_ORDER </a:t>
            </a:r>
            <a:r>
              <a:rPr lang="ko-KR" altLang="en-US"/>
              <a:t>접미사를 생략했다</a:t>
            </a:r>
            <a:r>
              <a:rPr lang="en-US" altLang="ko-KR"/>
              <a:t>. LINE_01_01</a:t>
            </a:r>
            <a:r>
              <a:rPr lang="ko-KR" altLang="en-US"/>
              <a:t>은 라인 분기를 위한 공통 시작점이다</a:t>
            </a:r>
            <a:r>
              <a:rPr lang="en-US" altLang="ko-KR"/>
              <a:t>. LINE_02_01_01</a:t>
            </a:r>
            <a:r>
              <a:rPr lang="ko-KR" altLang="en-US"/>
              <a:t>과 </a:t>
            </a:r>
            <a:r>
              <a:rPr lang="en-US" altLang="ko-KR"/>
              <a:t>LINE_02_01_02</a:t>
            </a:r>
            <a:r>
              <a:rPr lang="ko-KR" altLang="en-US"/>
              <a:t>는 </a:t>
            </a:r>
            <a:r>
              <a:rPr lang="en-US" altLang="ko-KR"/>
              <a:t>PC_01_02</a:t>
            </a:r>
            <a:r>
              <a:rPr lang="ko-KR" altLang="en-US"/>
              <a:t>이면 </a:t>
            </a:r>
            <a:r>
              <a:rPr lang="en-US" altLang="ko-KR"/>
              <a:t>Line 1, </a:t>
            </a:r>
            <a:r>
              <a:rPr lang="ko-KR" altLang="en-US"/>
              <a:t>그 외 장비 코드는 현재 코드에서 </a:t>
            </a:r>
            <a:r>
              <a:rPr lang="en-US" altLang="ko-KR"/>
              <a:t>Line 2</a:t>
            </a:r>
            <a:r>
              <a:rPr lang="ko-KR" altLang="en-US"/>
              <a:t>로 취급한다</a:t>
            </a:r>
            <a:r>
              <a:rPr lang="en-US" altLang="ko-KR"/>
              <a:t>. </a:t>
            </a:r>
            <a:r>
              <a:rPr lang="ko-KR" altLang="en-US"/>
              <a:t>정의서는 </a:t>
            </a:r>
            <a:r>
              <a:rPr lang="en-US" altLang="ko-KR"/>
              <a:t>PC_01_02 </a:t>
            </a:r>
            <a:r>
              <a:rPr lang="ko-KR" altLang="en-US"/>
              <a:t>또는 </a:t>
            </a:r>
            <a:r>
              <a:rPr lang="en-US" altLang="ko-KR"/>
              <a:t>PC_02_01</a:t>
            </a:r>
            <a:r>
              <a:rPr lang="ko-KR" altLang="en-US"/>
              <a:t>을 지정하나 코드에 장비 코드 화이트리스트는 없다</a:t>
            </a:r>
            <a:r>
              <a:rPr lang="en-US" altLang="ko-KR"/>
              <a:t>. </a:t>
            </a:r>
            <a:r>
              <a:rPr lang="ko-KR" altLang="en-US"/>
              <a:t>서버에 전체 흐름을 강제하는 별도 상태 머신이 구현된 것은 아니다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ko-KR" altLang="en-US"/>
              <a:t>정의서 </a:t>
            </a:r>
            <a:r>
              <a:rPr lang="en-US" altLang="ko-KR"/>
              <a:t>p.2–7 | Service1.asmx.cs</a:t>
            </a:r>
            <a:r>
              <a:rPr lang="ko-KR" altLang="en-US"/>
              <a:t>의 </a:t>
            </a:r>
            <a:r>
              <a:rPr lang="en-US" altLang="ko-KR"/>
              <a:t>5</a:t>
            </a:r>
            <a:r>
              <a:rPr lang="ko-KR" altLang="en-US"/>
              <a:t>개 활성 </a:t>
            </a:r>
            <a:r>
              <a:rPr lang="en-US" altLang="ko-KR"/>
              <a:t>ORDER </a:t>
            </a:r>
            <a:r>
              <a:rPr lang="ko-KR" altLang="en-US"/>
              <a:t>메서드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444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en-US" altLang="ko-KR"/>
              <a:t>LINE_01_02_ORDER</a:t>
            </a:r>
            <a:r>
              <a:rPr lang="ko-KR" altLang="en-US"/>
              <a:t>는 정의서 </a:t>
            </a:r>
            <a:r>
              <a:rPr lang="en-US" altLang="ko-KR"/>
              <a:t>p.2</a:t>
            </a:r>
            <a:r>
              <a:rPr lang="ko-KR" altLang="en-US"/>
              <a:t>에 미사용으로 표시되며 코드의 메서드</a:t>
            </a:r>
            <a:r>
              <a:rPr lang="en-US" altLang="ko-KR"/>
              <a:t>/</a:t>
            </a:r>
            <a:r>
              <a:rPr lang="ko-KR" altLang="en-US"/>
              <a:t>라우팅이 주석 처리되어 있다</a:t>
            </a:r>
            <a:r>
              <a:rPr lang="en-US" altLang="ko-KR"/>
              <a:t>. LINE_02_01_ORDER </a:t>
            </a:r>
            <a:r>
              <a:rPr lang="ko-KR" altLang="en-US"/>
              <a:t>별칭도 활성 라우트가 아니다</a:t>
            </a:r>
            <a:r>
              <a:rPr lang="en-US" altLang="ko-KR"/>
              <a:t>. </a:t>
            </a:r>
            <a:r>
              <a:rPr lang="ko-KR" altLang="en-US"/>
              <a:t>최대 </a:t>
            </a:r>
            <a:r>
              <a:rPr lang="en-US" altLang="ko-KR"/>
              <a:t>6</a:t>
            </a:r>
            <a:r>
              <a:rPr lang="ko-KR" altLang="en-US"/>
              <a:t>개 라벨의 프린터 번호 및 위치 필드가 정의되어 있다</a:t>
            </a:r>
            <a:r>
              <a:rPr lang="en-US" altLang="ko-KR"/>
              <a:t>. </a:t>
            </a:r>
            <a:r>
              <a:rPr lang="ko-KR" altLang="en-US"/>
              <a:t>이 표는 계약의 주요 필드 요약이며</a:t>
            </a:r>
            <a:r>
              <a:rPr lang="en-US" altLang="ko-KR"/>
              <a:t>, </a:t>
            </a:r>
            <a:r>
              <a:rPr lang="ko-KR" altLang="en-US"/>
              <a:t>상세 메시지와 미등록 값의 실제 동작은 부록 차이점 참조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ko-KR" altLang="en-US"/>
              <a:t>정의서 </a:t>
            </a:r>
            <a:r>
              <a:rPr lang="en-US" altLang="ko-KR"/>
              <a:t>p.3–7 | VO/ApiRequestVO.cs · ApiResponseVO.cs | OutboundApiHandler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6726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ko-KR" altLang="en-US"/>
              <a:t>현재 활성 바코드 형식은 </a:t>
            </a:r>
            <a:r>
              <a:rPr lang="en-US" altLang="ko-KR"/>
              <a:t>PICK@,yyyyMMdd,Invoice,</a:t>
            </a:r>
            <a:r>
              <a:rPr lang="ko-KR" altLang="en-US"/>
              <a:t>고객</a:t>
            </a:r>
            <a:r>
              <a:rPr lang="en-US" altLang="ko-KR"/>
              <a:t>,Carton,...</a:t>
            </a:r>
            <a:r>
              <a:rPr lang="ko-KR" altLang="en-US"/>
              <a:t>이며 조회에 </a:t>
            </a:r>
            <a:r>
              <a:rPr lang="en-US" altLang="ko-KR"/>
              <a:t>[1], [2], [4]</a:t>
            </a:r>
            <a:r>
              <a:rPr lang="ko-KR" altLang="en-US"/>
              <a:t>를 사용한다</a:t>
            </a:r>
            <a:r>
              <a:rPr lang="en-US" altLang="ko-KR"/>
              <a:t>. </a:t>
            </a:r>
            <a:r>
              <a:rPr lang="ko-KR" altLang="en-US"/>
              <a:t>문서 예제에는 </a:t>
            </a:r>
            <a:r>
              <a:rPr lang="en-US" altLang="ko-KR"/>
              <a:t>Order </a:t>
            </a:r>
            <a:r>
              <a:rPr lang="ko-KR" altLang="en-US"/>
              <a:t>필드가 추가된 긴 형식이 있어 위치가 다르다</a:t>
            </a:r>
            <a:r>
              <a:rPr lang="en-US" altLang="ko-KR"/>
              <a:t>. </a:t>
            </a:r>
            <a:r>
              <a:rPr lang="ko-KR" altLang="en-US"/>
              <a:t>이전 </a:t>
            </a:r>
            <a:r>
              <a:rPr lang="en-US" altLang="ko-KR"/>
              <a:t>1B/2D </a:t>
            </a:r>
            <a:r>
              <a:rPr lang="ko-KR" altLang="en-US"/>
              <a:t>처리 함수가 일부 남아 있지만 활성 </a:t>
            </a:r>
            <a:r>
              <a:rPr lang="en-US" altLang="ko-KR"/>
              <a:t>ORDER </a:t>
            </a:r>
            <a:r>
              <a:rPr lang="ko-KR" altLang="en-US"/>
              <a:t>조회에서는 비활성이다</a:t>
            </a:r>
            <a:r>
              <a:rPr lang="en-US" altLang="ko-KR"/>
              <a:t>. DEVICE_CD</a:t>
            </a:r>
            <a:r>
              <a:rPr lang="ko-KR" altLang="en-US"/>
              <a:t>는 필수 여부만 검사한다</a:t>
            </a:r>
            <a:r>
              <a:rPr lang="en-US" altLang="ko-KR"/>
              <a:t>. </a:t>
            </a:r>
            <a:r>
              <a:rPr lang="ko-KR" altLang="en-US"/>
              <a:t>숫자 해석은 서버 </a:t>
            </a:r>
            <a:r>
              <a:rPr lang="en-US" altLang="ko-KR"/>
              <a:t>CurrentCulture</a:t>
            </a:r>
            <a:r>
              <a:rPr lang="ko-KR" altLang="en-US"/>
              <a:t>를 사용한다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en-US" altLang="ko-KR"/>
              <a:t>COMMON/OrderError.cs | Service1.ParseRequestBody | CommonBiz.getLotInfoByBarcode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265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en-US" altLang="ko-KR"/>
              <a:t>getLotListByInvoiceCarton</a:t>
            </a:r>
            <a:r>
              <a:rPr lang="ko-KR" altLang="en-US"/>
              <a:t>은 출하 수량 내림차순으로 </a:t>
            </a:r>
            <a:r>
              <a:rPr lang="en-US" altLang="ko-KR"/>
              <a:t>LOT</a:t>
            </a:r>
            <a:r>
              <a:rPr lang="ko-KR" altLang="en-US"/>
              <a:t>를 조회하고 </a:t>
            </a:r>
            <a:r>
              <a:rPr lang="en-US" altLang="ko-KR"/>
              <a:t>CommonBiz</a:t>
            </a:r>
            <a:r>
              <a:rPr lang="ko-KR" altLang="en-US"/>
              <a:t>는 첫 </a:t>
            </a:r>
            <a:r>
              <a:rPr lang="en-US" altLang="ko-KR"/>
              <a:t>LOT</a:t>
            </a:r>
            <a:r>
              <a:rPr lang="ko-KR" altLang="en-US"/>
              <a:t>를 사용한다</a:t>
            </a:r>
            <a:r>
              <a:rPr lang="en-US" altLang="ko-KR"/>
              <a:t>. Draft</a:t>
            </a:r>
            <a:r>
              <a:rPr lang="ko-KR" altLang="en-US"/>
              <a:t>는 </a:t>
            </a:r>
            <a:r>
              <a:rPr lang="en-US" altLang="ko-KR"/>
              <a:t>PDALIB.ELBLCL1P</a:t>
            </a:r>
            <a:r>
              <a:rPr lang="ko-KR" altLang="en-US"/>
              <a:t>에서 조회한다</a:t>
            </a:r>
            <a:r>
              <a:rPr lang="en-US" altLang="ko-KR"/>
              <a:t>. </a:t>
            </a:r>
            <a:r>
              <a:rPr lang="ko-KR" altLang="en-US"/>
              <a:t>선행 </a:t>
            </a:r>
            <a:r>
              <a:rPr lang="en-US" altLang="ko-KR"/>
              <a:t>Draft </a:t>
            </a:r>
            <a:r>
              <a:rPr lang="ko-KR" altLang="en-US"/>
              <a:t>미완료 시 서비스에서 바로 </a:t>
            </a:r>
            <a:r>
              <a:rPr lang="en-US" altLang="ko-KR"/>
              <a:t>NG</a:t>
            </a:r>
            <a:r>
              <a:rPr lang="ko-KR" altLang="en-US"/>
              <a:t>를 반환하며 </a:t>
            </a:r>
            <a:r>
              <a:rPr lang="en-US" altLang="ko-KR"/>
              <a:t>PACKING_END_YN</a:t>
            </a:r>
            <a:r>
              <a:rPr lang="ko-KR" altLang="en-US"/>
              <a:t>은 기본 빈값일 수 있다</a:t>
            </a:r>
            <a:r>
              <a:rPr lang="en-US" altLang="ko-KR"/>
              <a:t>. </a:t>
            </a:r>
            <a:r>
              <a:rPr lang="ko-KR" altLang="en-US"/>
              <a:t>문서의 모든 </a:t>
            </a:r>
            <a:r>
              <a:rPr lang="en-US" altLang="ko-KR"/>
              <a:t>NG </a:t>
            </a:r>
            <a:r>
              <a:rPr lang="ko-KR" altLang="en-US"/>
              <a:t>예제 값과 완전히 같다고 표현하지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en-US" altLang="ko-KR"/>
              <a:t>Service1.LINE_01_01_ORDER | BoxScanCheckBiz | SchWipShipMasterDAO | ScanRuleDAO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3573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en-US" altLang="ko-KR"/>
              <a:t>PACKING_LIST_PRINT_YN</a:t>
            </a:r>
            <a:r>
              <a:rPr lang="ko-KR" altLang="en-US"/>
              <a:t>은 현재 </a:t>
            </a:r>
            <a:r>
              <a:rPr lang="en-US" altLang="ko-KR"/>
              <a:t>LINE_02_01_01</a:t>
            </a:r>
            <a:r>
              <a:rPr lang="ko-KR" altLang="en-US"/>
              <a:t>에서 첫 카톤 여부로 결정한다</a:t>
            </a:r>
            <a:r>
              <a:rPr lang="en-US" altLang="ko-KR"/>
              <a:t>. </a:t>
            </a:r>
            <a:r>
              <a:rPr lang="ko-KR" altLang="en-US"/>
              <a:t>기존 </a:t>
            </a:r>
            <a:r>
              <a:rPr lang="en-US" altLang="ko-KR"/>
              <a:t>docs</a:t>
            </a:r>
            <a:r>
              <a:rPr lang="ko-KR" altLang="en-US"/>
              <a:t>의 비동기 등록 성공이라는 설명은 현재 이 필드에 적용되지 않는다</a:t>
            </a:r>
            <a:r>
              <a:rPr lang="en-US" altLang="ko-KR"/>
              <a:t>. LINE_02_01_02</a:t>
            </a:r>
            <a:r>
              <a:rPr lang="ko-KR" altLang="en-US"/>
              <a:t>의 </a:t>
            </a:r>
            <a:r>
              <a:rPr lang="en-US" altLang="ko-KR"/>
              <a:t>PRINT_YN=Y</a:t>
            </a:r>
            <a:r>
              <a:rPr lang="ko-KR" altLang="en-US"/>
              <a:t>가 </a:t>
            </a:r>
            <a:r>
              <a:rPr lang="en-US" altLang="ko-KR"/>
              <a:t>Packing List </a:t>
            </a:r>
            <a:r>
              <a:rPr lang="ko-KR" altLang="en-US"/>
              <a:t>비동기 작업 등록 성공에 해당한다</a:t>
            </a:r>
            <a:r>
              <a:rPr lang="en-US" altLang="ko-KR"/>
              <a:t>. Line 1</a:t>
            </a:r>
            <a:r>
              <a:rPr lang="ko-KR" altLang="en-US"/>
              <a:t>은 중량 처리 후 라벨 조회</a:t>
            </a:r>
            <a:r>
              <a:rPr lang="en-US" altLang="ko-KR"/>
              <a:t>·</a:t>
            </a:r>
            <a:r>
              <a:rPr lang="ko-KR" altLang="en-US"/>
              <a:t>출력도 수행하는 분기가 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ko-KR" altLang="en-US"/>
              <a:t>정의서 </a:t>
            </a:r>
            <a:r>
              <a:rPr lang="en-US" altLang="ko-KR"/>
              <a:t>p.4–5 | Service1.LINE_02_01_01_ORDER · LINE_02_01_02_ORDER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260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ko-KR" altLang="en-US"/>
              <a:t>정의서는 중량합불 판정을 요구하지만 저장 프로시저 내부 구현은 저장소에 없다</a:t>
            </a:r>
            <a:r>
              <a:rPr lang="en-US" altLang="ko-KR"/>
              <a:t>. </a:t>
            </a:r>
            <a:r>
              <a:rPr lang="ko-KR" altLang="en-US"/>
              <a:t>코드만으로 허용오차 검사의 실체를 확인할 수 없다</a:t>
            </a:r>
            <a:r>
              <a:rPr lang="en-US" altLang="ko-KR"/>
              <a:t>. </a:t>
            </a:r>
            <a:r>
              <a:rPr lang="ko-KR" altLang="en-US"/>
              <a:t>마감 차수는 </a:t>
            </a:r>
            <a:r>
              <a:rPr lang="en-US" altLang="ko-KR"/>
              <a:t>Y/SEQUENCE_CLOSED</a:t>
            </a:r>
            <a:r>
              <a:rPr lang="ko-KR" altLang="en-US"/>
              <a:t>를 반환하고 응답 변환에서 </a:t>
            </a:r>
            <a:r>
              <a:rPr lang="en-US" altLang="ko-KR"/>
              <a:t>WEIGHT_YN=Y</a:t>
            </a:r>
            <a:r>
              <a:rPr lang="ko-KR" altLang="en-US"/>
              <a:t>가 된다</a:t>
            </a:r>
            <a:r>
              <a:rPr lang="en-US" altLang="ko-KR"/>
              <a:t>. </a:t>
            </a:r>
            <a:r>
              <a:rPr lang="ko-KR" altLang="en-US"/>
              <a:t>일반 중량은 소수 </a:t>
            </a:r>
            <a:r>
              <a:rPr lang="en-US" altLang="ko-KR"/>
              <a:t>1</a:t>
            </a:r>
            <a:r>
              <a:rPr lang="ko-KR" altLang="en-US"/>
              <a:t>자리</a:t>
            </a:r>
            <a:r>
              <a:rPr lang="en-US" altLang="ko-KR"/>
              <a:t>, </a:t>
            </a:r>
            <a:r>
              <a:rPr lang="ko-KR" altLang="en-US"/>
              <a:t>일부 고객 보조 필드는 소수 </a:t>
            </a:r>
            <a:r>
              <a:rPr lang="en-US" altLang="ko-KR"/>
              <a:t>2</a:t>
            </a:r>
            <a:r>
              <a:rPr lang="ko-KR" altLang="en-US"/>
              <a:t>자리 문자열로 저장한다</a:t>
            </a:r>
            <a:r>
              <a:rPr lang="en-US" altLang="ko-KR"/>
              <a:t>. </a:t>
            </a:r>
            <a:r>
              <a:rPr lang="ko-KR" altLang="en-US"/>
              <a:t>프로시저 반환값 해석 및 최종 커밋 보장은 통합 확인 대상이다</a:t>
            </a:r>
            <a:r>
              <a:rPr lang="en-US" altLang="ko-KR"/>
              <a:t>. Line 1 </a:t>
            </a:r>
            <a:r>
              <a:rPr lang="ko-KR" altLang="en-US"/>
              <a:t>라벨 호출은 중량 </a:t>
            </a:r>
            <a:r>
              <a:rPr lang="en-US" altLang="ko-KR"/>
              <a:t>OK </a:t>
            </a:r>
            <a:r>
              <a:rPr lang="ko-KR" altLang="en-US"/>
              <a:t>조건보다 앞에 있어 업무 안전성 추가 검토가 필요하다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en-US" altLang="ko-KR"/>
              <a:t>WeightCheckBiz.cs | StoredProcedule.weightChange | SchWipShipMasterDAO.IsWeightSequenceClosed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489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ko-KR" altLang="en-US"/>
              <a:t>라인</a:t>
            </a:r>
            <a:r>
              <a:rPr lang="en-US" altLang="ko-KR"/>
              <a:t>·</a:t>
            </a:r>
            <a:r>
              <a:rPr lang="ko-KR" altLang="en-US"/>
              <a:t>라벨</a:t>
            </a:r>
            <a:r>
              <a:rPr lang="en-US" altLang="ko-KR"/>
              <a:t>·</a:t>
            </a:r>
            <a:r>
              <a:rPr lang="ko-KR" altLang="en-US"/>
              <a:t>테이핑 규칙은 </a:t>
            </a:r>
            <a:r>
              <a:rPr lang="en-US" altLang="ko-KR"/>
              <a:t>ESHPTP34, </a:t>
            </a:r>
            <a:r>
              <a:rPr lang="ko-KR" altLang="en-US"/>
              <a:t>박스 규격은 </a:t>
            </a:r>
            <a:r>
              <a:rPr lang="en-US" altLang="ko-KR"/>
              <a:t>ESHPTP36</a:t>
            </a:r>
            <a:r>
              <a:rPr lang="ko-KR" altLang="en-US"/>
              <a:t>을 조회한다</a:t>
            </a:r>
            <a:r>
              <a:rPr lang="en-US" altLang="ko-KR"/>
              <a:t>. getBoxDimension</a:t>
            </a:r>
            <a:r>
              <a:rPr lang="ko-KR" altLang="en-US"/>
              <a:t>은 </a:t>
            </a:r>
            <a:r>
              <a:rPr lang="en-US" altLang="ko-KR"/>
              <a:t>BOX_QTY &gt;= </a:t>
            </a:r>
            <a:r>
              <a:rPr lang="ko-KR" altLang="en-US"/>
              <a:t>입력 수량 중 조건 정렬 후 첫 레코드를 선택하며 수량이 있으면 </a:t>
            </a:r>
            <a:r>
              <a:rPr lang="en-US" altLang="ko-KR"/>
              <a:t>BOX_QTY ASC</a:t>
            </a:r>
            <a:r>
              <a:rPr lang="ko-KR" altLang="en-US"/>
              <a:t>가 추가된다</a:t>
            </a:r>
            <a:r>
              <a:rPr lang="en-US" altLang="ko-KR"/>
              <a:t>. </a:t>
            </a:r>
            <a:r>
              <a:rPr lang="ko-KR" altLang="en-US"/>
              <a:t>박스 규격 값이 없으면 </a:t>
            </a:r>
            <a:r>
              <a:rPr lang="en-US" altLang="ko-KR"/>
              <a:t>NG. </a:t>
            </a:r>
            <a:r>
              <a:rPr lang="ko-KR" altLang="en-US"/>
              <a:t>마감 차수이면 일반 중량 등록 확인을 생략한다</a:t>
            </a:r>
            <a:r>
              <a:rPr lang="en-US" altLang="ko-KR"/>
              <a:t>. </a:t>
            </a:r>
            <a:r>
              <a:rPr lang="ko-KR" altLang="en-US"/>
              <a:t>문서상 타입 코드 범위에 대한 별도 검증은 확인되지 않아 완전한 범위 검증 실적으로 표현하지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en-US" altLang="ko-KR"/>
              <a:t>BoxScanCheckBiz.getTapingInfo | ScanRuleDAO.getBoxDimension · getOuterLabelPrintRule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0009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en-US" altLang="ko-KR"/>
              <a:t>getPrinterOutQ</a:t>
            </a:r>
            <a:r>
              <a:rPr lang="ko-KR" altLang="en-US"/>
              <a:t>는 공통 코드 테이블의 라인</a:t>
            </a:r>
            <a:r>
              <a:rPr lang="en-US" altLang="ko-KR"/>
              <a:t>/</a:t>
            </a:r>
            <a:r>
              <a:rPr lang="ko-KR" altLang="en-US"/>
              <a:t>프린터 매핑을 조회한다</a:t>
            </a:r>
            <a:r>
              <a:rPr lang="en-US" altLang="ko-KR"/>
              <a:t>. </a:t>
            </a:r>
            <a:r>
              <a:rPr lang="ko-KR" altLang="en-US"/>
              <a:t>현재 </a:t>
            </a:r>
            <a:r>
              <a:rPr lang="en-US" altLang="ko-KR"/>
              <a:t>LINE_02_03</a:t>
            </a:r>
            <a:r>
              <a:rPr lang="ko-KR" altLang="en-US"/>
              <a:t>은 </a:t>
            </a:r>
            <a:r>
              <a:rPr lang="en-US" altLang="ko-KR"/>
              <a:t>LABEL_1_PRINTER_NO</a:t>
            </a:r>
            <a:r>
              <a:rPr lang="ko-KR" altLang="en-US"/>
              <a:t>로만 </a:t>
            </a:r>
            <a:r>
              <a:rPr lang="en-US" altLang="ko-KR"/>
              <a:t>QueueOuterLabelPrint</a:t>
            </a:r>
            <a:r>
              <a:rPr lang="ko-KR" altLang="en-US"/>
              <a:t>를 호출하며 라벨 </a:t>
            </a:r>
            <a:r>
              <a:rPr lang="en-US" altLang="ko-KR"/>
              <a:t>2~6</a:t>
            </a:r>
            <a:r>
              <a:rPr lang="ko-KR" altLang="en-US"/>
              <a:t>별 출력 반복 호출은 없다</a:t>
            </a:r>
            <a:r>
              <a:rPr lang="en-US" altLang="ko-KR"/>
              <a:t>. Zebra ~HS </a:t>
            </a:r>
            <a:r>
              <a:rPr lang="ko-KR" altLang="en-US"/>
              <a:t>및 웹 취소 요청이 구현되어 있으나 스풀 확인 실패가 출력 차단을 항상 보장하지는 않는다</a:t>
            </a:r>
            <a:r>
              <a:rPr lang="en-US" altLang="ko-KR"/>
              <a:t>. LINE_02_03</a:t>
            </a:r>
            <a:r>
              <a:rPr lang="ko-KR" altLang="en-US"/>
              <a:t>의 백그라운드 처리 실패가 이미 반환된 </a:t>
            </a:r>
            <a:r>
              <a:rPr lang="en-US" altLang="ko-KR"/>
              <a:t>OUT_CODE</a:t>
            </a:r>
            <a:r>
              <a:rPr lang="ko-KR" altLang="en-US"/>
              <a:t>에 반영되지 않는다</a:t>
            </a:r>
            <a:r>
              <a:rPr lang="en-US" altLang="ko-KR"/>
              <a:t>. </a:t>
            </a:r>
            <a:r>
              <a:rPr lang="ko-KR" altLang="en-US"/>
              <a:t>영속 작업 큐나 완료 콜백은 확인되지 않았다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en-US" altLang="ko-KR"/>
              <a:t>BoxScanCheckBiz.getCheckingScanInfo0203 | OuterLabelPrintBiz | Service1.QueueOuterLabelPrint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3033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ko-KR" altLang="en-US"/>
              <a:t>주석에는 한 번 출력 시도라고 쓰여 있지만 코드에 출력 완료 플래그나 중복 차단 키가 없다</a:t>
            </a:r>
            <a:r>
              <a:rPr lang="en-US" altLang="ko-KR"/>
              <a:t>. PRINT_YN=Y</a:t>
            </a:r>
            <a:r>
              <a:rPr lang="ko-KR" altLang="en-US"/>
              <a:t>는 </a:t>
            </a:r>
            <a:r>
              <a:rPr lang="en-US" altLang="ko-KR"/>
              <a:t>QueuePackingListPrint </a:t>
            </a:r>
            <a:r>
              <a:rPr lang="ko-KR" altLang="en-US"/>
              <a:t>등록 성공을 뜻한다</a:t>
            </a:r>
            <a:r>
              <a:rPr lang="en-US" altLang="ko-KR"/>
              <a:t>. </a:t>
            </a:r>
            <a:r>
              <a:rPr lang="ko-KR" altLang="en-US"/>
              <a:t>내부 </a:t>
            </a:r>
            <a:r>
              <a:rPr lang="en-US" altLang="ko-KR"/>
              <a:t>printPackingList </a:t>
            </a:r>
            <a:r>
              <a:rPr lang="ko-KR" altLang="en-US"/>
              <a:t>결과가 실패여도 호출 시점 응답에는 반영되지 않을 수 있다</a:t>
            </a:r>
            <a:r>
              <a:rPr lang="en-US" altLang="ko-KR"/>
              <a:t>. convertPdftoImage</a:t>
            </a:r>
            <a:r>
              <a:rPr lang="ko-KR" altLang="en-US"/>
              <a:t>는 현재 비활성 본문이므로 이미지 변환 구현 성과로 기재하지 않는다</a:t>
            </a:r>
            <a:r>
              <a:rPr lang="en-US" altLang="ko-KR"/>
              <a:t>. ReportExecutionService.cs</a:t>
            </a:r>
            <a:r>
              <a:rPr lang="ko-KR" altLang="en-US"/>
              <a:t>는 자동 생성 프록시이다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en-US" altLang="ko-KR"/>
              <a:t>Service1.PrintPackingListByCarton | PackingListPrintBiz.cs | ScanRuleDAO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7621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ko-KR" altLang="en-US"/>
              <a:t>경로는 </a:t>
            </a:r>
            <a:r>
              <a:rPr lang="en-US" altLang="ko-KR"/>
              <a:t>Service1.asmx/PrintPickingSlip</a:t>
            </a:r>
            <a:r>
              <a:rPr lang="ko-KR" altLang="en-US"/>
              <a:t>이며 </a:t>
            </a:r>
            <a:r>
              <a:rPr lang="en-US" altLang="ko-KR"/>
              <a:t>outbound </a:t>
            </a:r>
            <a:r>
              <a:rPr lang="ko-KR" altLang="en-US"/>
              <a:t>라우트에 등록된 메서드가 아니다</a:t>
            </a:r>
            <a:r>
              <a:rPr lang="en-US" altLang="ko-KR"/>
              <a:t>. </a:t>
            </a:r>
            <a:r>
              <a:rPr lang="ko-KR" altLang="en-US"/>
              <a:t>테스트 페이지는 </a:t>
            </a:r>
            <a:r>
              <a:rPr lang="en-US" altLang="ko-KR"/>
              <a:t>jsonRequest </a:t>
            </a:r>
            <a:r>
              <a:rPr lang="ko-KR" altLang="en-US"/>
              <a:t>래퍼를 보내고 </a:t>
            </a:r>
            <a:r>
              <a:rPr lang="en-US" altLang="ko-KR"/>
              <a:t>ASMX</a:t>
            </a:r>
            <a:r>
              <a:rPr lang="ko-KR" altLang="en-US"/>
              <a:t>의 </a:t>
            </a:r>
            <a:r>
              <a:rPr lang="en-US" altLang="ko-KR"/>
              <a:t>d </a:t>
            </a:r>
            <a:r>
              <a:rPr lang="ko-KR" altLang="en-US"/>
              <a:t>속성에 담긴 </a:t>
            </a:r>
            <a:r>
              <a:rPr lang="en-US" altLang="ko-KR"/>
              <a:t>JSON </a:t>
            </a:r>
            <a:r>
              <a:rPr lang="ko-KR" altLang="en-US"/>
              <a:t>문자열을 다시 파싱한다</a:t>
            </a:r>
            <a:r>
              <a:rPr lang="en-US" altLang="ko-KR"/>
              <a:t>. UploadLabel</a:t>
            </a:r>
            <a:r>
              <a:rPr lang="ko-KR" altLang="en-US"/>
              <a:t>은 두 서버의 도달 여부를 확인하며 순차 전송을 시도한다</a:t>
            </a:r>
            <a:r>
              <a:rPr lang="en-US" altLang="ko-KR"/>
              <a:t>. </a:t>
            </a:r>
            <a:r>
              <a:rPr lang="ko-KR" altLang="en-US"/>
              <a:t>현 구현 성공은 파일 전송 시도의 반환 결과이며 실제 출력과 서버 처리 완료를 보장하지 않는다</a:t>
            </a:r>
            <a:r>
              <a:rPr lang="en-US" altLang="ko-KR"/>
              <a:t>. </a:t>
            </a:r>
            <a:r>
              <a:rPr lang="ko-KR" altLang="en-US"/>
              <a:t>신규 </a:t>
            </a:r>
            <a:r>
              <a:rPr lang="en-US" altLang="ko-KR"/>
              <a:t>XML</a:t>
            </a:r>
            <a:r>
              <a:rPr lang="ko-KR" altLang="en-US"/>
              <a:t>은 공개 예시 데이터만 사용하며 실제 고객 정보는 자료에 포함하지 않았다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en-US" altLang="ko-KR"/>
              <a:t>Service1.PrintPickingSlip | PickingSlipPrintBiz.MakeLabelInfoCommon | FTPUtil.UploadLabel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9743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en-US" altLang="ko-KR"/>
              <a:t>DB </a:t>
            </a:r>
            <a:r>
              <a:rPr lang="ko-KR" altLang="en-US"/>
              <a:t>로그는 현재 </a:t>
            </a:r>
            <a:r>
              <a:rPr lang="en-US" altLang="ko-KR"/>
              <a:t>upsertOrderLog</a:t>
            </a:r>
            <a:r>
              <a:rPr lang="ko-KR" altLang="en-US"/>
              <a:t>라는 이름과 달리 </a:t>
            </a:r>
            <a:r>
              <a:rPr lang="en-US" altLang="ko-KR"/>
              <a:t>insertOrderLog</a:t>
            </a:r>
            <a:r>
              <a:rPr lang="ko-KR" altLang="en-US"/>
              <a:t>만 호출한다</a:t>
            </a:r>
            <a:r>
              <a:rPr lang="en-US" altLang="ko-KR"/>
              <a:t>. </a:t>
            </a:r>
            <a:r>
              <a:rPr lang="ko-KR" altLang="en-US"/>
              <a:t>완전한 감사 이력 체계나 로그 수집 대시보드가 있다고 주장하지 않는다</a:t>
            </a:r>
            <a:r>
              <a:rPr lang="en-US" altLang="ko-KR"/>
              <a:t>. CommonBiz</a:t>
            </a:r>
            <a:r>
              <a:rPr lang="ko-KR" altLang="en-US"/>
              <a:t>는 자신이 생성한 </a:t>
            </a:r>
            <a:r>
              <a:rPr lang="en-US" altLang="ko-KR"/>
              <a:t>DB2 </a:t>
            </a:r>
            <a:r>
              <a:rPr lang="ko-KR" altLang="en-US"/>
              <a:t>연결만 해제한다</a:t>
            </a:r>
            <a:r>
              <a:rPr lang="en-US" altLang="ko-KR"/>
              <a:t>. </a:t>
            </a:r>
            <a:r>
              <a:rPr lang="ko-KR" altLang="en-US"/>
              <a:t>일부 기존 코드는 예외를 삼키거나 리소스 정리가 불완전하다</a:t>
            </a:r>
            <a:r>
              <a:rPr lang="en-US" altLang="ko-KR"/>
              <a:t>. </a:t>
            </a:r>
            <a:r>
              <a:rPr lang="ko-KR" altLang="en-US"/>
              <a:t>이 슬라이드는 활성 경로에 존재하는 공통 처리의 역할을 설명한다</a:t>
            </a:r>
            <a:r>
              <a:rPr lang="en-US" altLang="ko-KR"/>
              <a:t>. </a:t>
            </a:r>
            <a:r>
              <a:rPr lang="ko-KR" altLang="en-US"/>
              <a:t>중량 갱신</a:t>
            </a:r>
            <a:r>
              <a:rPr lang="en-US" altLang="ko-KR"/>
              <a:t>, </a:t>
            </a:r>
            <a:r>
              <a:rPr lang="ko-KR" altLang="en-US"/>
              <a:t>출력</a:t>
            </a:r>
            <a:r>
              <a:rPr lang="en-US" altLang="ko-KR"/>
              <a:t>, DB </a:t>
            </a:r>
            <a:r>
              <a:rPr lang="ko-KR" altLang="en-US"/>
              <a:t>로그를 하나의 원자적 트랜잭션으로 보장하는 구조는 아니다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en-US" altLang="ko-KR"/>
              <a:t>COMMON/OrderError.cs | Service1.WriteOrderResultLog | CommonBiz | OrderLogDAO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2907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en-US" altLang="ko-KR"/>
              <a:t>PPT</a:t>
            </a:r>
            <a:r>
              <a:rPr lang="ko-KR" altLang="en-US"/>
              <a:t>의 콘솔은 합성 도식이며 실행 성공을 나타내는 실제 캡처가 아니다</a:t>
            </a:r>
            <a:r>
              <a:rPr lang="en-US" altLang="ko-KR"/>
              <a:t>. </a:t>
            </a:r>
            <a:r>
              <a:rPr lang="ko-KR" altLang="en-US"/>
              <a:t>현재 테스트 스크립트는 </a:t>
            </a:r>
            <a:r>
              <a:rPr lang="en-US" altLang="ko-KR"/>
              <a:t>87</a:t>
            </a:r>
            <a:r>
              <a:rPr lang="ko-KR" altLang="en-US"/>
              <a:t>줄이고 입력</a:t>
            </a:r>
            <a:r>
              <a:rPr lang="en-US" altLang="ko-KR"/>
              <a:t>/LOT/</a:t>
            </a:r>
            <a:r>
              <a:rPr lang="ko-KR" altLang="en-US"/>
              <a:t>메시지 검증 중심이다</a:t>
            </a:r>
            <a:r>
              <a:rPr lang="en-US" altLang="ko-KR"/>
              <a:t>. </a:t>
            </a:r>
            <a:r>
              <a:rPr lang="ko-KR" altLang="en-US"/>
              <a:t>기존 </a:t>
            </a:r>
            <a:r>
              <a:rPr lang="en-US" altLang="ko-KR"/>
              <a:t>docs</a:t>
            </a:r>
            <a:r>
              <a:rPr lang="ko-KR" altLang="en-US"/>
              <a:t>의 모든 </a:t>
            </a:r>
            <a:r>
              <a:rPr lang="en-US" altLang="ko-KR"/>
              <a:t>ORDER·</a:t>
            </a:r>
            <a:r>
              <a:rPr lang="ko-KR" altLang="en-US"/>
              <a:t>라우팅</a:t>
            </a:r>
            <a:r>
              <a:rPr lang="en-US" altLang="ko-KR"/>
              <a:t>·HTTP </a:t>
            </a:r>
            <a:r>
              <a:rPr lang="ko-KR" altLang="en-US"/>
              <a:t>코드 회귀 검증 주장은 이 스크립트로 확인되지 않는다</a:t>
            </a:r>
            <a:r>
              <a:rPr lang="en-US" altLang="ko-KR"/>
              <a:t>. </a:t>
            </a:r>
            <a:r>
              <a:rPr lang="ko-KR" altLang="en-US"/>
              <a:t>테스트 실행 결과는 함께 제공하는 검증 기록을 확인한다</a:t>
            </a:r>
            <a:r>
              <a:rPr lang="en-US" altLang="ko-KR"/>
              <a:t>. X-Environment</a:t>
            </a:r>
            <a:r>
              <a:rPr lang="ko-KR" altLang="en-US"/>
              <a:t>는 연결 선택 기능이며 인증</a:t>
            </a:r>
            <a:r>
              <a:rPr lang="en-US" altLang="ko-KR"/>
              <a:t>·</a:t>
            </a:r>
            <a:r>
              <a:rPr lang="ko-KR" altLang="en-US"/>
              <a:t>권한 또는 완전한 테스트 격리를 의미하지 않는다</a:t>
            </a:r>
            <a:r>
              <a:rPr lang="en-US" altLang="ko-KR"/>
              <a:t>. </a:t>
            </a:r>
            <a:r>
              <a:rPr lang="ko-KR" altLang="en-US"/>
              <a:t>백그라운드 작업은 요청 </a:t>
            </a:r>
            <a:r>
              <a:rPr lang="en-US" altLang="ko-KR"/>
              <a:t>HttpContext</a:t>
            </a:r>
            <a:r>
              <a:rPr lang="ko-KR" altLang="en-US"/>
              <a:t>에 의존하는 환경 선택이 유지되는지 추가 확인이 필요하다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en-US" altLang="ko-KR"/>
              <a:t>ApiTestPage.html | tests/OrderError.Tests.ps1 | ServerEnvironment.cs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6220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ko-KR" altLang="en-US"/>
              <a:t>역량은 프로젝트 구현을 근거로 설명한다</a:t>
            </a:r>
            <a:r>
              <a:rPr lang="en-US" altLang="ko-KR"/>
              <a:t>. </a:t>
            </a:r>
            <a:r>
              <a:rPr lang="ko-KR" altLang="en-US"/>
              <a:t>개별 파일의 개인 저작 여부나 설계 의사결정 과정은 별도 확인 대상이다</a:t>
            </a:r>
            <a:r>
              <a:rPr lang="en-US" altLang="ko-KR"/>
              <a:t>. </a:t>
            </a:r>
            <a:r>
              <a:rPr lang="ko-KR" altLang="en-US"/>
              <a:t>새 프레임워크 도입</a:t>
            </a:r>
            <a:r>
              <a:rPr lang="en-US" altLang="ko-KR"/>
              <a:t>, </a:t>
            </a:r>
            <a:r>
              <a:rPr lang="ko-KR" altLang="en-US"/>
              <a:t>클라우드 전환</a:t>
            </a:r>
            <a:r>
              <a:rPr lang="en-US" altLang="ko-KR"/>
              <a:t>, AI </a:t>
            </a:r>
            <a:r>
              <a:rPr lang="ko-KR" altLang="en-US"/>
              <a:t>모델 구현 등 확인되지 않은 경력은 포함하지 않았다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ko-KR" altLang="en-US"/>
              <a:t>사용자 제공 역할 </a:t>
            </a:r>
            <a:r>
              <a:rPr lang="en-US" altLang="ko-KR"/>
              <a:t>| Service1 / BIZ / DAO / COMMON / VO </a:t>
            </a:r>
            <a:r>
              <a:rPr lang="ko-KR" altLang="en-US"/>
              <a:t>검토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7528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ko-KR" altLang="en-US"/>
              <a:t>이 자료는 성능 측정이나 운영 로그 통계 분석을 수행한 결과가 아니다</a:t>
            </a:r>
            <a:r>
              <a:rPr lang="en-US" altLang="ko-KR"/>
              <a:t>. </a:t>
            </a:r>
            <a:r>
              <a:rPr lang="ko-KR" altLang="en-US"/>
              <a:t>수치를 임의 생성하지 않는다</a:t>
            </a:r>
            <a:r>
              <a:rPr lang="en-US" altLang="ko-KR"/>
              <a:t>. </a:t>
            </a:r>
            <a:r>
              <a:rPr lang="ko-KR" altLang="en-US"/>
              <a:t>프로젝트 운영 기간</a:t>
            </a:r>
            <a:r>
              <a:rPr lang="en-US" altLang="ko-KR"/>
              <a:t>, </a:t>
            </a:r>
            <a:r>
              <a:rPr lang="ko-KR" altLang="en-US"/>
              <a:t>처리 박스 수</a:t>
            </a:r>
            <a:r>
              <a:rPr lang="en-US" altLang="ko-KR"/>
              <a:t>, </a:t>
            </a:r>
            <a:r>
              <a:rPr lang="ko-KR" altLang="en-US"/>
              <a:t>응답시간</a:t>
            </a:r>
            <a:r>
              <a:rPr lang="en-US" altLang="ko-KR"/>
              <a:t>, </a:t>
            </a:r>
            <a:r>
              <a:rPr lang="ko-KR" altLang="en-US"/>
              <a:t>개인 기여율 등을 추후 승인된 자료로 추가할 수 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ko-KR" altLang="en-US"/>
              <a:t>현재 구현의 기능적 효과 </a:t>
            </a:r>
            <a:r>
              <a:rPr lang="en-US" altLang="ko-KR"/>
              <a:t>| </a:t>
            </a:r>
            <a:r>
              <a:rPr lang="ko-KR" altLang="en-US"/>
              <a:t>정량 지표는 후속 측정 제안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6559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ko-KR" altLang="en-US"/>
              <a:t>운영 소스에 인증정보 하드코딩</a:t>
            </a:r>
            <a:r>
              <a:rPr lang="en-US" altLang="ko-KR"/>
              <a:t>, </a:t>
            </a:r>
            <a:r>
              <a:rPr lang="ko-KR" altLang="en-US"/>
              <a:t>문자열 조립 </a:t>
            </a:r>
            <a:r>
              <a:rPr lang="en-US" altLang="ko-KR"/>
              <a:t>SQL, HTTP/FTP </a:t>
            </a:r>
            <a:r>
              <a:rPr lang="ko-KR" altLang="en-US"/>
              <a:t>경로 등이 존재하지만 값은 자료에 포함하지 않았다</a:t>
            </a:r>
            <a:r>
              <a:rPr lang="en-US" altLang="ko-KR"/>
              <a:t>. </a:t>
            </a:r>
            <a:r>
              <a:rPr lang="ko-KR" altLang="en-US"/>
              <a:t>개선의 필요성을 요약한 것이며 보안 문제를 수정하거나 운영 배포를 수행한 것은 아니다</a:t>
            </a:r>
            <a:r>
              <a:rPr lang="en-US" altLang="ko-KR"/>
              <a:t>. Line 1 </a:t>
            </a:r>
            <a:r>
              <a:rPr lang="ko-KR" altLang="en-US"/>
              <a:t>라벨 출력의 중량 </a:t>
            </a:r>
            <a:r>
              <a:rPr lang="en-US" altLang="ko-KR"/>
              <a:t>OK </a:t>
            </a:r>
            <a:r>
              <a:rPr lang="ko-KR" altLang="en-US"/>
              <a:t>선행조건</a:t>
            </a:r>
            <a:r>
              <a:rPr lang="en-US" altLang="ko-KR"/>
              <a:t>, </a:t>
            </a:r>
            <a:r>
              <a:rPr lang="ko-KR" altLang="en-US"/>
              <a:t>스풀 상태 확인 실패 처리</a:t>
            </a:r>
            <a:r>
              <a:rPr lang="en-US" altLang="ko-KR"/>
              <a:t>, </a:t>
            </a:r>
            <a:r>
              <a:rPr lang="ko-KR" altLang="en-US"/>
              <a:t>응답 이후 실패 전파 방식도 후속 검증 대상이다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ko-KR" altLang="en-US"/>
              <a:t>현재 구현과 정의서 대조 결과 </a:t>
            </a:r>
            <a:r>
              <a:rPr lang="en-US" altLang="ko-KR"/>
              <a:t>| </a:t>
            </a:r>
            <a:r>
              <a:rPr lang="ko-KR" altLang="en-US"/>
              <a:t>상세 근거는 </a:t>
            </a:r>
            <a:r>
              <a:rPr lang="en-US" altLang="ko-KR"/>
              <a:t>research-notes.md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5394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ko-KR" altLang="en-US"/>
              <a:t>문서 </a:t>
            </a:r>
            <a:r>
              <a:rPr lang="en-US" altLang="ko-KR"/>
              <a:t>p.4</a:t>
            </a:r>
            <a:r>
              <a:rPr lang="ko-KR" altLang="en-US"/>
              <a:t>와 </a:t>
            </a:r>
            <a:r>
              <a:rPr lang="en-US" altLang="ko-KR"/>
              <a:t>p.5</a:t>
            </a:r>
            <a:r>
              <a:rPr lang="ko-KR" altLang="en-US"/>
              <a:t>의 </a:t>
            </a:r>
            <a:r>
              <a:rPr lang="en-US" altLang="ko-KR"/>
              <a:t>API ID</a:t>
            </a:r>
            <a:r>
              <a:rPr lang="ko-KR" altLang="en-US"/>
              <a:t>는 분리됐지만 예제 </a:t>
            </a:r>
            <a:r>
              <a:rPr lang="en-US" altLang="ko-KR"/>
              <a:t>URL</a:t>
            </a:r>
            <a:r>
              <a:rPr lang="ko-KR" altLang="en-US"/>
              <a:t>은 </a:t>
            </a:r>
            <a:r>
              <a:rPr lang="en-US" altLang="ko-KR"/>
              <a:t>LINE_02_01_ORDER</a:t>
            </a:r>
            <a:r>
              <a:rPr lang="ko-KR" altLang="en-US"/>
              <a:t>로 남아 있다</a:t>
            </a:r>
            <a:r>
              <a:rPr lang="en-US" altLang="ko-KR"/>
              <a:t>. p.7 </a:t>
            </a:r>
            <a:r>
              <a:rPr lang="ko-KR" altLang="en-US"/>
              <a:t>요청 표는 </a:t>
            </a:r>
            <a:r>
              <a:rPr lang="en-US" altLang="ko-KR"/>
              <a:t>PC_02_02, </a:t>
            </a:r>
            <a:r>
              <a:rPr lang="ko-KR" altLang="en-US"/>
              <a:t>예제는 </a:t>
            </a:r>
            <a:r>
              <a:rPr lang="en-US" altLang="ko-KR"/>
              <a:t>PC_02_03</a:t>
            </a:r>
            <a:r>
              <a:rPr lang="ko-KR" altLang="en-US"/>
              <a:t>이다</a:t>
            </a:r>
            <a:r>
              <a:rPr lang="en-US" altLang="ko-KR"/>
              <a:t>. p.6 </a:t>
            </a:r>
            <a:r>
              <a:rPr lang="ko-KR" altLang="en-US"/>
              <a:t>박스 타입 설명은 </a:t>
            </a:r>
            <a:r>
              <a:rPr lang="en-US" altLang="ko-KR"/>
              <a:t>0~999, </a:t>
            </a:r>
            <a:r>
              <a:rPr lang="ko-KR" altLang="en-US"/>
              <a:t>응답 표는 </a:t>
            </a:r>
            <a:r>
              <a:rPr lang="en-US" altLang="ko-KR"/>
              <a:t>1~999</a:t>
            </a:r>
            <a:r>
              <a:rPr lang="ko-KR" altLang="en-US"/>
              <a:t>이다</a:t>
            </a:r>
            <a:r>
              <a:rPr lang="en-US" altLang="ko-KR"/>
              <a:t>. PRINT_YN</a:t>
            </a:r>
            <a:r>
              <a:rPr lang="ko-KR" altLang="en-US"/>
              <a:t>은 문서 </a:t>
            </a:r>
            <a:r>
              <a:rPr lang="en-US" altLang="ko-KR"/>
              <a:t>p.5</a:t>
            </a:r>
            <a:r>
              <a:rPr lang="ko-KR" altLang="en-US"/>
              <a:t>에 없고 현재 응답 </a:t>
            </a:r>
            <a:r>
              <a:rPr lang="en-US" altLang="ko-KR"/>
              <a:t>VO</a:t>
            </a:r>
            <a:r>
              <a:rPr lang="ko-KR" altLang="en-US"/>
              <a:t>에 추가되어 있다</a:t>
            </a:r>
            <a:r>
              <a:rPr lang="en-US" altLang="ko-KR"/>
              <a:t>. p.3 Draft </a:t>
            </a:r>
            <a:r>
              <a:rPr lang="ko-KR" altLang="en-US"/>
              <a:t>미완료 시 </a:t>
            </a:r>
            <a:r>
              <a:rPr lang="en-US" altLang="ko-KR"/>
              <a:t>PACKING_END_YN </a:t>
            </a:r>
            <a:r>
              <a:rPr lang="ko-KR" altLang="en-US"/>
              <a:t>기본 빈값 등 실패 응답 세부값도 계약 확인 대상이다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ko-KR" altLang="en-US"/>
              <a:t>정의서 </a:t>
            </a:r>
            <a:r>
              <a:rPr lang="en-US" altLang="ko-KR"/>
              <a:t>p.3–7 | CommonBiz | WeightCheckBiz | Service1 | ApiResponseVO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3343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발표 설명 및 구현 근거</a:t>
            </a:r>
            <a:r>
              <a:rPr lang="en-US" altLang="ko-KR"/>
              <a:t>]</a:t>
            </a:r>
          </a:p>
          <a:p>
            <a:r>
              <a:rPr lang="ko-KR" altLang="en-US"/>
              <a:t>디스크 </a:t>
            </a:r>
            <a:r>
              <a:rPr lang="en-US" altLang="ko-KR"/>
              <a:t>C# </a:t>
            </a:r>
            <a:r>
              <a:rPr lang="ko-KR" altLang="en-US"/>
              <a:t>파일 </a:t>
            </a:r>
            <a:r>
              <a:rPr lang="en-US" altLang="ko-KR"/>
              <a:t>44</a:t>
            </a:r>
            <a:r>
              <a:rPr lang="ko-KR" altLang="en-US"/>
              <a:t>개 중 컴파일 포함 자체 소스 </a:t>
            </a:r>
            <a:r>
              <a:rPr lang="en-US" altLang="ko-KR"/>
              <a:t>41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컴파일 제외 레거시 소스 </a:t>
            </a:r>
            <a:r>
              <a:rPr lang="en-US" altLang="ko-KR"/>
              <a:t>1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자동 생성 파일 </a:t>
            </a:r>
            <a:r>
              <a:rPr lang="en-US" altLang="ko-KR"/>
              <a:t>2</a:t>
            </a:r>
            <a:r>
              <a:rPr lang="ko-KR" altLang="en-US"/>
              <a:t>개를 분류했다</a:t>
            </a:r>
            <a:r>
              <a:rPr lang="en-US" altLang="ko-KR"/>
              <a:t>. </a:t>
            </a:r>
            <a:r>
              <a:rPr lang="ko-KR" altLang="en-US"/>
              <a:t>자체 소스와 테스트</a:t>
            </a:r>
            <a:r>
              <a:rPr lang="en-US" altLang="ko-KR"/>
              <a:t>·</a:t>
            </a:r>
            <a:r>
              <a:rPr lang="ko-KR" altLang="en-US"/>
              <a:t>설정은 내용을 검토했고</a:t>
            </a:r>
            <a:r>
              <a:rPr lang="en-US" altLang="ko-KR"/>
              <a:t>, </a:t>
            </a:r>
            <a:r>
              <a:rPr lang="ko-KR" altLang="en-US"/>
              <a:t>자동 생성 프록시</a:t>
            </a:r>
            <a:r>
              <a:rPr lang="en-US" altLang="ko-KR"/>
              <a:t>/Connected Services</a:t>
            </a:r>
            <a:r>
              <a:rPr lang="ko-KR" altLang="en-US"/>
              <a:t>는 헤더</a:t>
            </a:r>
            <a:r>
              <a:rPr lang="en-US" altLang="ko-KR"/>
              <a:t>·</a:t>
            </a:r>
            <a:r>
              <a:rPr lang="ko-KR" altLang="en-US"/>
              <a:t>참조</a:t>
            </a:r>
            <a:r>
              <a:rPr lang="en-US" altLang="ko-KR"/>
              <a:t>·</a:t>
            </a:r>
            <a:r>
              <a:rPr lang="ko-KR" altLang="en-US"/>
              <a:t>계약 구조와 호출 연계를 확인했다</a:t>
            </a:r>
            <a:r>
              <a:rPr lang="en-US" altLang="ko-KR"/>
              <a:t>. </a:t>
            </a:r>
            <a:r>
              <a:rPr lang="ko-KR" altLang="en-US"/>
              <a:t>외부 </a:t>
            </a:r>
            <a:r>
              <a:rPr lang="en-US" altLang="ko-KR"/>
              <a:t>DLL</a:t>
            </a:r>
            <a:r>
              <a:rPr lang="ko-KR" altLang="en-US"/>
              <a:t>과 패키지 내부 코드를 전부 읽거나 역공학하지 않았다</a:t>
            </a:r>
            <a:r>
              <a:rPr lang="en-US" altLang="ko-KR"/>
              <a:t>. weight_data.csv</a:t>
            </a:r>
            <a:r>
              <a:rPr lang="ko-KR" altLang="en-US"/>
              <a:t>는 헤더 구조만 확인했으며 고객 행 데이터를 </a:t>
            </a:r>
            <a:r>
              <a:rPr lang="en-US" altLang="ko-KR"/>
              <a:t>PPT</a:t>
            </a:r>
            <a:r>
              <a:rPr lang="ko-KR" altLang="en-US"/>
              <a:t>에 반영하지 않았다</a:t>
            </a:r>
            <a:r>
              <a:rPr lang="en-US" altLang="ko-KR"/>
              <a:t>. Microsoft.ML </a:t>
            </a:r>
            <a:r>
              <a:rPr lang="ko-KR" altLang="en-US"/>
              <a:t>참조와 </a:t>
            </a:r>
            <a:r>
              <a:rPr lang="en-US" altLang="ko-KR"/>
              <a:t>CSV</a:t>
            </a:r>
            <a:r>
              <a:rPr lang="ko-KR" altLang="en-US"/>
              <a:t>만으로 </a:t>
            </a:r>
            <a:r>
              <a:rPr lang="en-US" altLang="ko-KR"/>
              <a:t>AI </a:t>
            </a:r>
            <a:r>
              <a:rPr lang="ko-KR" altLang="en-US"/>
              <a:t>예측 기능 구현을 주장하지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</a:t>
            </a:r>
          </a:p>
          <a:p>
            <a:r>
              <a:rPr lang="en-US" altLang="ko-KR"/>
              <a:t>[AKA04-30601] </a:t>
            </a:r>
            <a:r>
              <a:rPr lang="ko-KR" altLang="en-US"/>
              <a:t>인터페이스 정의서 </a:t>
            </a:r>
            <a:r>
              <a:rPr lang="en-US" altLang="ko-KR"/>
              <a:t>Ver 0.7 (2026.09.18) | </a:t>
            </a:r>
            <a:r>
              <a:rPr lang="ko-KR" altLang="en-US"/>
              <a:t>현재 소스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E3E46-69F7-4A54-8B2F-1E8DE481EE4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104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E73DA2-4434-4F33-E4D7-A29FFD760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185929-D8C1-2E18-1626-3B9B43CC8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914F61-6D4D-FAFB-B70F-C3EAEDFE1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9D4C-4C49-433D-94F1-4150F3B02F26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BD5DFE-08A3-97BE-CA3E-92909B3B8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0419DE-5EA3-719E-097F-14A961293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0BC3-F338-4F5C-B8C3-5432D5D7FF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394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677634-BE37-79DA-33D8-0C8AE589E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3FB8BA-5068-A551-9E06-05BF41532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55FED6-4267-1E64-4D43-664915085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9D4C-4C49-433D-94F1-4150F3B02F26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852920-1AE0-7614-A536-BB22B6697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3E0685-6BCD-82CC-F973-380BA8DC2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0BC3-F338-4F5C-B8C3-5432D5D7FF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56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7C5A85-FF20-D2D3-4FA6-D0376255A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93C56C-F14B-D55F-7EF8-8A9FD0B4A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629503-1B4F-D7F8-BF6C-378BFBF16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9D4C-4C49-433D-94F1-4150F3B02F26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972EC2-42A6-A7E0-A22F-2710976AE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8BE00D-26D2-B41C-DBC1-089965979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0BC3-F338-4F5C-B8C3-5432D5D7FF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628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35E5BD-13A6-6283-FCF4-124C19456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80E758-D892-FD41-48F5-555AA8F17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A2D578-AFAD-BDB6-1F85-8B94A9E1F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930774-F0EF-333A-4505-8889A352D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9D4C-4C49-433D-94F1-4150F3B02F26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C0E8A9-36DC-5C9B-4586-81CC95265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F206A6-4BAC-6745-4614-51943695A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0BC3-F338-4F5C-B8C3-5432D5D7FF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161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DC0EF-A62A-CE80-887D-654FD4E0C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1D4929-703C-39C6-AE7E-2A5894581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7B83BC-B367-CC93-11AA-5209AF1AC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480D7C-1B71-D238-2A1C-C3277B8E29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B95164-9A72-C268-C959-1BA0E1529C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FD994C0-E25F-6583-199E-FC865C9B8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9D4C-4C49-433D-94F1-4150F3B02F26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930FDC-BBBB-18A3-9615-4A49A4FCD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F5E36DA-E535-12EE-E234-5BEBFDED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0BC3-F338-4F5C-B8C3-5432D5D7FF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912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AA7212-2CD2-A87B-A312-AB8705C13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CAEBB4C-BBDF-9FA3-6851-9A4BE8DCA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9D4C-4C49-433D-94F1-4150F3B02F26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C480DF-9E9E-3E33-5C28-C129063FD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ECAF85-7BB2-91C2-0207-6DB995317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0BC3-F338-4F5C-B8C3-5432D5D7FF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95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295FA99-8854-354D-E267-6B65FC717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9D4C-4C49-433D-94F1-4150F3B02F26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2ECD188-69F9-2E53-F5E2-ACC6B5F96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740206-8BAC-4564-8069-9BEE5FF4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0BC3-F338-4F5C-B8C3-5432D5D7FF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382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97E774-9182-C5BD-4935-0476E61BB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BBBD07-746A-774B-CC73-28E3BE092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9FD1CE-FA51-9C56-D410-F987F2558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5256F9-D184-3C73-CD01-CAEFCED4B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9D4C-4C49-433D-94F1-4150F3B02F26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44D0B7-2B8E-9545-FF86-B5F1E0E97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A965B0-F385-DF93-0DC0-F5ADBE548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0BC3-F338-4F5C-B8C3-5432D5D7FF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491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B83C4-5A73-70AA-6669-EC6683F44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9D5DA36-4F15-93E1-D398-490D2D892A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396FC4-D05C-56F5-5A75-126775F01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B849AD-BF02-777C-8433-3CC5F6E2E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9D4C-4C49-433D-94F1-4150F3B02F26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957CBA-80E5-6BE2-8FB3-3995F785F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0C8779-84AF-3211-2525-CEE307AA5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0BC3-F338-4F5C-B8C3-5432D5D7FF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214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7D341F-0F15-04AE-8F08-B0D715B2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F98115-7A70-BDFA-8AB4-F49DF9ADF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34BD6-349D-22A5-13C8-DD6056C80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9D4C-4C49-433D-94F1-4150F3B02F26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389C6-25D1-6D71-864D-BD72A54E0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7EE0FD-6EE3-E87B-91FE-F40365BF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0BC3-F338-4F5C-B8C3-5432D5D7FF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517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2442B4-7BC1-F025-85F5-7B8F2A073E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7634FD-AB0A-6940-ADC2-24A4C8D93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11271E-9D69-F05A-7ABB-822666967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9D4C-4C49-433D-94F1-4150F3B02F26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CE15BF-64F5-B4C6-AE05-1D1FBF21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47CC2A-1D86-5BAE-8071-D11C24BA4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0BC3-F338-4F5C-B8C3-5432D5D7FF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370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58FABAF-EFB4-678A-6C06-6298A126F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8FA798-0199-4883-F07A-B59352BA8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818CC8-74BF-5B45-0E7B-C4E63434A6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6E9D4C-4C49-433D-94F1-4150F3B02F26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AA215F-289E-8F6C-3F0C-0D5A7A1F0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E77CC1-0383-4DB4-8CDE-E3F738894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900BC3-F338-4F5C-B8C3-5432D5D7FF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035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FD3AFC6-4D4A-8214-0667-CD49A360768A}"/>
              </a:ext>
            </a:extLst>
          </p:cNvPr>
          <p:cNvSpPr/>
          <p:nvPr/>
        </p:nvSpPr>
        <p:spPr>
          <a:xfrm>
            <a:off x="0" y="0"/>
            <a:ext cx="203200" cy="9144000"/>
          </a:xfrm>
          <a:prstGeom prst="rect">
            <a:avLst/>
          </a:prstGeom>
          <a:solidFill>
            <a:srgbClr val="65E0C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A6262-294E-9672-E5B1-3FA6BCE2808B}"/>
              </a:ext>
            </a:extLst>
          </p:cNvPr>
          <p:cNvSpPr txBox="1"/>
          <p:nvPr/>
        </p:nvSpPr>
        <p:spPr>
          <a:xfrm>
            <a:off x="914400" y="685799"/>
            <a:ext cx="14427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500" b="1">
                <a:solidFill>
                  <a:srgbClr val="65E0C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PROJECT PORTFOLIO</a:t>
            </a:r>
            <a:endParaRPr lang="ko-KR" altLang="en-US" sz="1500" b="1">
              <a:solidFill>
                <a:srgbClr val="65E0C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F9915-B6FB-A7BA-9D94-BAC314C4741D}"/>
              </a:ext>
            </a:extLst>
          </p:cNvPr>
          <p:cNvSpPr txBox="1"/>
          <p:nvPr/>
        </p:nvSpPr>
        <p:spPr>
          <a:xfrm>
            <a:off x="914400" y="1435099"/>
            <a:ext cx="144272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5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K5 </a:t>
            </a:r>
            <a:r>
              <a:rPr lang="ko-KR" altLang="en-US" sz="5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선적자동화 시스템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C6872B-3DEE-3AEC-EF89-9BEC890F5B88}"/>
              </a:ext>
            </a:extLst>
          </p:cNvPr>
          <p:cNvSpPr txBox="1"/>
          <p:nvPr/>
        </p:nvSpPr>
        <p:spPr>
          <a:xfrm>
            <a:off x="939800" y="2679699"/>
            <a:ext cx="143764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</a:t>
            </a:r>
            <a:r>
              <a:rPr lang="en-US" altLang="ko-KR" sz="2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Packing · MES </a:t>
            </a:r>
            <a:r>
              <a:rPr lang="ko-KR" altLang="en-US" sz="2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 </a:t>
            </a:r>
            <a:r>
              <a:rPr lang="en-US" altLang="ko-KR" sz="2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2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61B0B5-841D-1AAE-E3B3-B57E776F5836}"/>
              </a:ext>
            </a:extLst>
          </p:cNvPr>
          <p:cNvSpPr txBox="1"/>
          <p:nvPr/>
        </p:nvSpPr>
        <p:spPr>
          <a:xfrm>
            <a:off x="939800" y="3759199"/>
            <a:ext cx="143764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65E0C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박스의 식별부터 공정 지시와 출력 연동까지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9C59F9-074F-B5AF-7ACE-4B1F49DB431D}"/>
              </a:ext>
            </a:extLst>
          </p:cNvPr>
          <p:cNvSpPr/>
          <p:nvPr/>
        </p:nvSpPr>
        <p:spPr>
          <a:xfrm>
            <a:off x="939800" y="4953000"/>
            <a:ext cx="4483100" cy="2019300"/>
          </a:xfrm>
          <a:prstGeom prst="rect">
            <a:avLst/>
          </a:prstGeom>
          <a:solidFill>
            <a:srgbClr val="1B31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A56D0B-8DFA-A5FF-D187-C641D7CAB8DC}"/>
              </a:ext>
            </a:extLst>
          </p:cNvPr>
          <p:cNvSpPr txBox="1"/>
          <p:nvPr/>
        </p:nvSpPr>
        <p:spPr>
          <a:xfrm>
            <a:off x="1244600" y="5143499"/>
            <a:ext cx="38735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5300" b="1">
                <a:solidFill>
                  <a:srgbClr val="65E0C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5300" b="1">
              <a:solidFill>
                <a:srgbClr val="65E0C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990117-0F81-831A-176B-28F5122A0C7A}"/>
              </a:ext>
            </a:extLst>
          </p:cNvPr>
          <p:cNvSpPr txBox="1"/>
          <p:nvPr/>
        </p:nvSpPr>
        <p:spPr>
          <a:xfrm>
            <a:off x="1244600" y="6235699"/>
            <a:ext cx="38735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활성 공정 </a:t>
            </a:r>
            <a:r>
              <a:rPr lang="en-US" altLang="ko-KR" sz="20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ORDER API</a:t>
            </a:r>
            <a:endParaRPr lang="ko-KR" altLang="en-US" sz="200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D10783E-29DB-21CE-A921-F83121988CFD}"/>
              </a:ext>
            </a:extLst>
          </p:cNvPr>
          <p:cNvSpPr/>
          <p:nvPr/>
        </p:nvSpPr>
        <p:spPr>
          <a:xfrm>
            <a:off x="5803900" y="4953000"/>
            <a:ext cx="4483100" cy="2019300"/>
          </a:xfrm>
          <a:prstGeom prst="rect">
            <a:avLst/>
          </a:prstGeom>
          <a:solidFill>
            <a:srgbClr val="1B31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8BC07A-5B51-A033-D3EA-9AA13D1CE5D6}"/>
              </a:ext>
            </a:extLst>
          </p:cNvPr>
          <p:cNvSpPr txBox="1"/>
          <p:nvPr/>
        </p:nvSpPr>
        <p:spPr>
          <a:xfrm>
            <a:off x="6108700" y="5143499"/>
            <a:ext cx="38735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5300" b="1">
                <a:solidFill>
                  <a:srgbClr val="65E0C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5300" b="1">
              <a:solidFill>
                <a:srgbClr val="65E0C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449953-5EC8-1AE0-4A7E-2E7E61BA5031}"/>
              </a:ext>
            </a:extLst>
          </p:cNvPr>
          <p:cNvSpPr txBox="1"/>
          <p:nvPr/>
        </p:nvSpPr>
        <p:spPr>
          <a:xfrm>
            <a:off x="6108700" y="6235699"/>
            <a:ext cx="38735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라인 연계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482E761-57B6-3DCC-243F-1FE771D2CA64}"/>
              </a:ext>
            </a:extLst>
          </p:cNvPr>
          <p:cNvSpPr/>
          <p:nvPr/>
        </p:nvSpPr>
        <p:spPr>
          <a:xfrm>
            <a:off x="10668000" y="4953000"/>
            <a:ext cx="4483100" cy="2019300"/>
          </a:xfrm>
          <a:prstGeom prst="rect">
            <a:avLst/>
          </a:prstGeom>
          <a:solidFill>
            <a:srgbClr val="1B31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389753-ACA2-5807-E289-D455709CE6F7}"/>
              </a:ext>
            </a:extLst>
          </p:cNvPr>
          <p:cNvSpPr txBox="1"/>
          <p:nvPr/>
        </p:nvSpPr>
        <p:spPr>
          <a:xfrm>
            <a:off x="10972800" y="5143499"/>
            <a:ext cx="38735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5300" b="1">
                <a:solidFill>
                  <a:srgbClr val="65E0C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5300" b="1">
              <a:solidFill>
                <a:srgbClr val="65E0C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143C5D-45AF-217D-465B-E4BFC0F790AF}"/>
              </a:ext>
            </a:extLst>
          </p:cNvPr>
          <p:cNvSpPr txBox="1"/>
          <p:nvPr/>
        </p:nvSpPr>
        <p:spPr>
          <a:xfrm>
            <a:off x="10972800" y="6235699"/>
            <a:ext cx="38735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흐름 연동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ACC098-17A6-D271-A552-CA4E0DE1B40B}"/>
              </a:ext>
            </a:extLst>
          </p:cNvPr>
          <p:cNvSpPr txBox="1"/>
          <p:nvPr/>
        </p:nvSpPr>
        <p:spPr>
          <a:xfrm>
            <a:off x="939800" y="7556499"/>
            <a:ext cx="143764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 역할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패킹 운영 프로그램에 제공하는 서버 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FBF0D3-CC6D-D8F2-0383-D31B6B12D5D9}"/>
              </a:ext>
            </a:extLst>
          </p:cNvPr>
          <p:cNvSpPr txBox="1"/>
          <p:nvPr/>
        </p:nvSpPr>
        <p:spPr>
          <a:xfrm>
            <a:off x="939800" y="8572499"/>
            <a:ext cx="13589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300">
                <a:solidFill>
                  <a:srgbClr val="65E0C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 정의서 </a:t>
            </a:r>
            <a:r>
              <a:rPr lang="en-US" altLang="ko-KR" sz="1300">
                <a:solidFill>
                  <a:srgbClr val="65E0C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 0.7 · </a:t>
            </a:r>
            <a:r>
              <a:rPr lang="ko-KR" altLang="en-US" sz="1300">
                <a:solidFill>
                  <a:srgbClr val="65E0C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워크스페이스 소스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C92496-79EF-6CA6-8F40-ED30EA169064}"/>
              </a:ext>
            </a:extLst>
          </p:cNvPr>
          <p:cNvSpPr txBox="1"/>
          <p:nvPr/>
        </p:nvSpPr>
        <p:spPr>
          <a:xfrm>
            <a:off x="14528800" y="8572499"/>
            <a:ext cx="1016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65E0C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/ 22</a:t>
            </a:r>
            <a:endParaRPr lang="ko-KR" altLang="en-US" sz="1200">
              <a:solidFill>
                <a:srgbClr val="65E0C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5590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4909C8B-EB03-20F2-9B48-912340983894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F0DB2-E211-3209-56D1-2BCA94C7A0E7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/ OVERVIEW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A683E7-FC9E-B5C3-1DA0-3F5C7FA73557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프로젝트가 해주는 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D8FC9-F926-CCD8-96C8-3C65D2201FC5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 이벤트를 출하 데이터와 연결해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박스별 처리에 필요한 정보를 반환한다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186194-352A-654B-7AFF-3D849ED0ACFF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8E69ED-1A32-3135-AB85-C0F615639B5C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0A28D-EA2D-82B2-1A24-57C70DB97263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공정 판단과 시스템 연동을 맡고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이송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테이핑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로봇 동작은 설비가 수행한다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0E94BE-143A-52DE-39FE-57B926C2F693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정의서 </a:t>
            </a: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p.2–7 | Service1.asmx.cs | BIZ/</a:t>
            </a:r>
            <a:endParaRPr lang="ko-KR" altLang="en-US" sz="11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6F63CF-FE05-6EAE-BA4B-118970019194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C25B8D-E0D2-FB3D-72CD-D0DD977FAA92}"/>
              </a:ext>
            </a:extLst>
          </p:cNvPr>
          <p:cNvSpPr/>
          <p:nvPr/>
        </p:nvSpPr>
        <p:spPr>
          <a:xfrm>
            <a:off x="711200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F156CB-5879-F17B-3DF7-6CF476029450}"/>
              </a:ext>
            </a:extLst>
          </p:cNvPr>
          <p:cNvSpPr/>
          <p:nvPr/>
        </p:nvSpPr>
        <p:spPr>
          <a:xfrm>
            <a:off x="711200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F41C9B-C44F-DD6E-426F-1DA4E44C1B47}"/>
              </a:ext>
            </a:extLst>
          </p:cNvPr>
          <p:cNvSpPr txBox="1"/>
          <p:nvPr/>
        </p:nvSpPr>
        <p:spPr>
          <a:xfrm>
            <a:off x="1003300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69B29-3AC6-721C-819B-8E077544BA1A}"/>
              </a:ext>
            </a:extLst>
          </p:cNvPr>
          <p:cNvSpPr txBox="1"/>
          <p:nvPr/>
        </p:nvSpPr>
        <p:spPr>
          <a:xfrm>
            <a:off x="1003300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</a:t>
            </a:r>
            <a:r>
              <a:rPr lang="en-US" altLang="ko-KR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 이벤트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D4FD6B-7262-3F34-0118-0A79009CFA06}"/>
              </a:ext>
            </a:extLst>
          </p:cNvPr>
          <p:cNvSpPr txBox="1"/>
          <p:nvPr/>
        </p:nvSpPr>
        <p:spPr>
          <a:xfrm>
            <a:off x="1003300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장비 코드와 박스 바코드 수신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 보고 시 측정값 추가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공정별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 JSON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 처리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F3745E5-A775-FC67-68AE-613ECBD43BB9}"/>
              </a:ext>
            </a:extLst>
          </p:cNvPr>
          <p:cNvSpPr/>
          <p:nvPr/>
        </p:nvSpPr>
        <p:spPr>
          <a:xfrm>
            <a:off x="5757333" y="2768600"/>
            <a:ext cx="4741334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042BB3C-3E84-1768-CE22-00C5830E84DF}"/>
              </a:ext>
            </a:extLst>
          </p:cNvPr>
          <p:cNvSpPr/>
          <p:nvPr/>
        </p:nvSpPr>
        <p:spPr>
          <a:xfrm>
            <a:off x="5757333" y="2768600"/>
            <a:ext cx="4741334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14DD94-5E07-75BA-97B7-1FC6D3EC9E86}"/>
              </a:ext>
            </a:extLst>
          </p:cNvPr>
          <p:cNvSpPr txBox="1"/>
          <p:nvPr/>
        </p:nvSpPr>
        <p:spPr>
          <a:xfrm>
            <a:off x="6049433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22464D-1960-5A9A-63E7-A85115F4A9C6}"/>
              </a:ext>
            </a:extLst>
          </p:cNvPr>
          <p:cNvSpPr txBox="1"/>
          <p:nvPr/>
        </p:nvSpPr>
        <p:spPr>
          <a:xfrm>
            <a:off x="6049433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판단 </a:t>
            </a:r>
            <a:r>
              <a:rPr lang="en-US" altLang="ko-KR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MES </a:t>
            </a: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규칙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2A890A-DB04-729F-55A1-DBA87B97A884}"/>
              </a:ext>
            </a:extLst>
          </p:cNvPr>
          <p:cNvSpPr txBox="1"/>
          <p:nvPr/>
        </p:nvSpPr>
        <p:spPr>
          <a:xfrm>
            <a:off x="6049433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출하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LOT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Draft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 조회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라인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라벨 규칙 적용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 반영 및 출력 조건 확인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BD41158-6248-712A-E307-399C4C25B8F9}"/>
              </a:ext>
            </a:extLst>
          </p:cNvPr>
          <p:cNvSpPr/>
          <p:nvPr/>
        </p:nvSpPr>
        <p:spPr>
          <a:xfrm>
            <a:off x="10803467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361EBAF-6C1A-5901-D785-2D08198485F0}"/>
              </a:ext>
            </a:extLst>
          </p:cNvPr>
          <p:cNvSpPr/>
          <p:nvPr/>
        </p:nvSpPr>
        <p:spPr>
          <a:xfrm>
            <a:off x="10803467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13F5F5-0C67-3E99-C430-7FF98DA80464}"/>
              </a:ext>
            </a:extLst>
          </p:cNvPr>
          <p:cNvSpPr txBox="1"/>
          <p:nvPr/>
        </p:nvSpPr>
        <p:spPr>
          <a:xfrm>
            <a:off x="11095567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D910D6-1C27-9928-DEAF-A4EBE889EADD}"/>
              </a:ext>
            </a:extLst>
          </p:cNvPr>
          <p:cNvSpPr txBox="1"/>
          <p:nvPr/>
        </p:nvSpPr>
        <p:spPr>
          <a:xfrm>
            <a:off x="11095567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</a:t>
            </a:r>
            <a:r>
              <a:rPr lang="en-US" altLang="ko-KR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가능한 정보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6181C3-A278-1282-DDB7-D87FF18F0F79}"/>
              </a:ext>
            </a:extLst>
          </p:cNvPr>
          <p:cNvSpPr txBox="1"/>
          <p:nvPr/>
        </p:nvSpPr>
        <p:spPr>
          <a:xfrm>
            <a:off x="11095567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OK / NG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처리 메시지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라인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테이핑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라벨링 지시정보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관련 출력 서비스 호출</a:t>
            </a:r>
          </a:p>
        </p:txBody>
      </p:sp>
    </p:spTree>
    <p:extLst>
      <p:ext uri="{BB962C8B-B14F-4D97-AF65-F5344CB8AC3E}">
        <p14:creationId xmlns:p14="http://schemas.microsoft.com/office/powerpoint/2010/main" val="3611565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2E91CE1-390D-BECE-CCB3-91D4434476BA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89190-B9FD-DCA4-A02B-3873C5A2746A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/ CONTEXT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714520-66DA-9137-194F-4F891A1BAA35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포장에 필요한 것은 공정 간 데이터 연결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1CB480-94B7-04E7-85AB-A4D2479F417D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 박스라도 출하 상태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조건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라인에 따라 다음 작업이 달라진다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32385F-BBA7-6132-D36F-286134723F61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387EC7-F322-8D89-1293-59A66BBDB2EB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455303-D2FD-AA86-FA05-56CC7F622DF6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규칙을 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응답으로 제공해 설비 운영 프로그램이 공정별로 활용하게 한다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41FB9A-4F1D-0C2B-584B-DB67EF335163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BoxScanCheckBiz.cs | ScanRuleDAO.cs | WeightCheckBiz.cs | </a:t>
            </a: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</a:t>
            </a: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BIZ</a:t>
            </a:r>
            <a:endParaRPr lang="ko-KR" altLang="en-US" sz="11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A52AED-FA25-1611-BB3D-5E370FF0D510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98620C-011C-99DB-9364-6D458F24502D}"/>
              </a:ext>
            </a:extLst>
          </p:cNvPr>
          <p:cNvSpPr/>
          <p:nvPr/>
        </p:nvSpPr>
        <p:spPr>
          <a:xfrm>
            <a:off x="711200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1544671-FDD3-A34E-8D7F-56BA75E276B6}"/>
              </a:ext>
            </a:extLst>
          </p:cNvPr>
          <p:cNvSpPr/>
          <p:nvPr/>
        </p:nvSpPr>
        <p:spPr>
          <a:xfrm>
            <a:off x="711200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7FE8D5-8727-A90E-128E-56D8739B92AB}"/>
              </a:ext>
            </a:extLst>
          </p:cNvPr>
          <p:cNvSpPr txBox="1"/>
          <p:nvPr/>
        </p:nvSpPr>
        <p:spPr>
          <a:xfrm>
            <a:off x="1003300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753AAD-8DC7-F106-5EC8-97207ACE5901}"/>
              </a:ext>
            </a:extLst>
          </p:cNvPr>
          <p:cNvSpPr txBox="1"/>
          <p:nvPr/>
        </p:nvSpPr>
        <p:spPr>
          <a:xfrm>
            <a:off x="1003300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 순서 확인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307765-D5AB-19D7-AA5A-9390E24A4A36}"/>
              </a:ext>
            </a:extLst>
          </p:cNvPr>
          <p:cNvSpPr txBox="1"/>
          <p:nvPr/>
        </p:nvSpPr>
        <p:spPr>
          <a:xfrm>
            <a:off x="1003300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포장 선행 검사와 중량 상태를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확인하지 않고 다음 작업으로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넘어가지 않도록 정보 제공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14210A-B5A5-DDD6-4779-7276702E6421}"/>
              </a:ext>
            </a:extLst>
          </p:cNvPr>
          <p:cNvSpPr/>
          <p:nvPr/>
        </p:nvSpPr>
        <p:spPr>
          <a:xfrm>
            <a:off x="5757333" y="2768600"/>
            <a:ext cx="4741334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DCEE0FD-F517-BE84-E60E-AF1C2DE482A6}"/>
              </a:ext>
            </a:extLst>
          </p:cNvPr>
          <p:cNvSpPr/>
          <p:nvPr/>
        </p:nvSpPr>
        <p:spPr>
          <a:xfrm>
            <a:off x="5757333" y="2768600"/>
            <a:ext cx="4741334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BD93DE-15BC-9AC8-C9F6-9A025EAAD5A8}"/>
              </a:ext>
            </a:extLst>
          </p:cNvPr>
          <p:cNvSpPr txBox="1"/>
          <p:nvPr/>
        </p:nvSpPr>
        <p:spPr>
          <a:xfrm>
            <a:off x="6049433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7CC69A-E490-49EF-CACF-E0652C7C8793}"/>
              </a:ext>
            </a:extLst>
          </p:cNvPr>
          <p:cNvSpPr txBox="1"/>
          <p:nvPr/>
        </p:nvSpPr>
        <p:spPr>
          <a:xfrm>
            <a:off x="6049433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박스별 조건 대응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762B19-D04A-0A55-2D9F-61C868BE2898}"/>
              </a:ext>
            </a:extLst>
          </p:cNvPr>
          <p:cNvSpPr txBox="1"/>
          <p:nvPr/>
        </p:nvSpPr>
        <p:spPr>
          <a:xfrm>
            <a:off x="6049433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포장 조건별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라인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규격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테이핑 방식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라벨 위치 및 프린터 매핑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CD8B407-6F50-9CA4-0118-0BD28046E5D5}"/>
              </a:ext>
            </a:extLst>
          </p:cNvPr>
          <p:cNvSpPr/>
          <p:nvPr/>
        </p:nvSpPr>
        <p:spPr>
          <a:xfrm>
            <a:off x="10803467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001FAD4-B013-A9AC-29B6-52D8048689B7}"/>
              </a:ext>
            </a:extLst>
          </p:cNvPr>
          <p:cNvSpPr/>
          <p:nvPr/>
        </p:nvSpPr>
        <p:spPr>
          <a:xfrm>
            <a:off x="10803467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4409FB-3CFE-4B38-2423-500DB1134AB5}"/>
              </a:ext>
            </a:extLst>
          </p:cNvPr>
          <p:cNvSpPr txBox="1"/>
          <p:nvPr/>
        </p:nvSpPr>
        <p:spPr>
          <a:xfrm>
            <a:off x="11095567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640764-E3A4-5A8D-87C1-AFAC208324B8}"/>
              </a:ext>
            </a:extLst>
          </p:cNvPr>
          <p:cNvSpPr txBox="1"/>
          <p:nvPr/>
        </p:nvSpPr>
        <p:spPr>
          <a:xfrm>
            <a:off x="11095567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이기종 시스템 연결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C0F556-DDB2-2F8C-CDA0-C5B0956A1BAC}"/>
              </a:ext>
            </a:extLst>
          </p:cNvPr>
          <p:cNvSpPr txBox="1"/>
          <p:nvPr/>
        </p:nvSpPr>
        <p:spPr>
          <a:xfrm>
            <a:off x="11095567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JSON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요청을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DB2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 프로시저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SSRS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보고서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eMES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XML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출력과 연결</a:t>
            </a:r>
          </a:p>
        </p:txBody>
      </p:sp>
    </p:spTree>
    <p:extLst>
      <p:ext uri="{BB962C8B-B14F-4D97-AF65-F5344CB8AC3E}">
        <p14:creationId xmlns:p14="http://schemas.microsoft.com/office/powerpoint/2010/main" val="2246276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DD2A866-4BD0-95CC-4BAA-581721F5B9AA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A2098C-C055-335E-762A-47BC916F0B8F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 / RESPONSIBILITY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7F273A-73AA-292E-4E77-4FAA411E5850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 범위</a:t>
            </a: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설비와 </a:t>
            </a: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 </a:t>
            </a: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사이의 서버 </a:t>
            </a: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</a:t>
            </a:r>
            <a:endParaRPr lang="ko-KR" altLang="en-US" sz="3500" b="1">
              <a:solidFill>
                <a:srgbClr val="0F1F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0A2C44-BCCC-0AA0-21F4-B3FCB2F354F4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자동화 시스템과 이 저장소의 개발 범위를 구분한다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B51665E-67DD-2E51-0DAD-19C71F07C913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9047530-D292-4A62-92EE-A52233D92896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CA932F-AF88-83BA-B737-6095491DD9F1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포트폴리오의 중심은 서버 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구현이며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 제어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·MES 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개발 실적으로 확대하지 않는다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C3A513-37BD-CC9B-4A70-9A8E76BA7FAF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제공 담당 역할 </a:t>
            </a: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정의서 </a:t>
            </a: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p.2 | </a:t>
            </a: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소스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ACAC57-81E1-C622-8899-10547807C78E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57F233C-768E-4FAA-A2C3-BEA59D52AC17}"/>
              </a:ext>
            </a:extLst>
          </p:cNvPr>
          <p:cNvSpPr/>
          <p:nvPr/>
        </p:nvSpPr>
        <p:spPr>
          <a:xfrm>
            <a:off x="711200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49E9562-86E8-0B11-D6EE-3E7BDDF8CB98}"/>
              </a:ext>
            </a:extLst>
          </p:cNvPr>
          <p:cNvSpPr/>
          <p:nvPr/>
        </p:nvSpPr>
        <p:spPr>
          <a:xfrm>
            <a:off x="711200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B13119-8306-DD1C-C111-F4344F53FCAB}"/>
              </a:ext>
            </a:extLst>
          </p:cNvPr>
          <p:cNvSpPr txBox="1"/>
          <p:nvPr/>
        </p:nvSpPr>
        <p:spPr>
          <a:xfrm>
            <a:off x="1003300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4B33D2-288E-ED75-FACE-CC75286A4E0E}"/>
              </a:ext>
            </a:extLst>
          </p:cNvPr>
          <p:cNvSpPr txBox="1"/>
          <p:nvPr/>
        </p:nvSpPr>
        <p:spPr>
          <a:xfrm>
            <a:off x="1003300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 운영 프로그램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C46754-7422-1750-943F-26515FF5FDF3}"/>
              </a:ext>
            </a:extLst>
          </p:cNvPr>
          <p:cNvSpPr txBox="1"/>
          <p:nvPr/>
        </p:nvSpPr>
        <p:spPr>
          <a:xfrm>
            <a:off x="1003300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바코드 스캔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 측정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호출과 결과 해석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분기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테이핑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로봇 동작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 정지 및 운영자 안내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15DB41-1527-3AA5-3336-EC9A9559F401}"/>
              </a:ext>
            </a:extLst>
          </p:cNvPr>
          <p:cNvSpPr/>
          <p:nvPr/>
        </p:nvSpPr>
        <p:spPr>
          <a:xfrm>
            <a:off x="5757333" y="2768600"/>
            <a:ext cx="4741334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E4A976-6CC5-EC4B-2D35-BB178763BBD6}"/>
              </a:ext>
            </a:extLst>
          </p:cNvPr>
          <p:cNvSpPr/>
          <p:nvPr/>
        </p:nvSpPr>
        <p:spPr>
          <a:xfrm>
            <a:off x="5757333" y="2768600"/>
            <a:ext cx="4741334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DE6C14-9085-E347-A7B2-0439BE77E844}"/>
              </a:ext>
            </a:extLst>
          </p:cNvPr>
          <p:cNvSpPr txBox="1"/>
          <p:nvPr/>
        </p:nvSpPr>
        <p:spPr>
          <a:xfrm>
            <a:off x="6049433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BAB653-F0CC-0A4B-EEC4-406623E761F4}"/>
              </a:ext>
            </a:extLst>
          </p:cNvPr>
          <p:cNvSpPr txBox="1"/>
          <p:nvPr/>
        </p:nvSpPr>
        <p:spPr>
          <a:xfrm>
            <a:off x="6049433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프로젝트 </a:t>
            </a:r>
            <a:r>
              <a:rPr lang="en-US" altLang="ko-KR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API </a:t>
            </a: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113190-87F9-C7E3-9D14-9A11A7B91DCF}"/>
              </a:ext>
            </a:extLst>
          </p:cNvPr>
          <p:cNvSpPr txBox="1"/>
          <p:nvPr/>
        </p:nvSpPr>
        <p:spPr>
          <a:xfrm>
            <a:off x="6049433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공정별 요청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 처리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출하정보와 선행조건 검증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규칙 조회 및 중량 연동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호출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오류 안내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848D449-7CD2-76F4-98D7-894105ABBD5F}"/>
              </a:ext>
            </a:extLst>
          </p:cNvPr>
          <p:cNvSpPr/>
          <p:nvPr/>
        </p:nvSpPr>
        <p:spPr>
          <a:xfrm>
            <a:off x="10803467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9A7298D-B3D8-911B-8359-60EB3F29B9DA}"/>
              </a:ext>
            </a:extLst>
          </p:cNvPr>
          <p:cNvSpPr/>
          <p:nvPr/>
        </p:nvSpPr>
        <p:spPr>
          <a:xfrm>
            <a:off x="10803467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8B33AB-2938-72D4-9913-3F7A9D0BD573}"/>
              </a:ext>
            </a:extLst>
          </p:cNvPr>
          <p:cNvSpPr txBox="1"/>
          <p:nvPr/>
        </p:nvSpPr>
        <p:spPr>
          <a:xfrm>
            <a:off x="11095567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5ACA9F-DE77-EFAC-41AE-4FF154B422F6}"/>
              </a:ext>
            </a:extLst>
          </p:cNvPr>
          <p:cNvSpPr txBox="1"/>
          <p:nvPr/>
        </p:nvSpPr>
        <p:spPr>
          <a:xfrm>
            <a:off x="11095567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업무</a:t>
            </a:r>
            <a:r>
              <a:rPr lang="en-US" altLang="ko-KR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시스템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DF712F-4B37-7D22-7091-B5B70CDC2A2D}"/>
              </a:ext>
            </a:extLst>
          </p:cNvPr>
          <p:cNvSpPr txBox="1"/>
          <p:nvPr/>
        </p:nvSpPr>
        <p:spPr>
          <a:xfrm>
            <a:off x="11095567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출하 및 기준정보 저장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DB2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 프로시저 처리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SSRS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보고서와 라벨 생성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 및 라벨 서버 출력</a:t>
            </a:r>
          </a:p>
        </p:txBody>
      </p:sp>
    </p:spTree>
    <p:extLst>
      <p:ext uri="{BB962C8B-B14F-4D97-AF65-F5344CB8AC3E}">
        <p14:creationId xmlns:p14="http://schemas.microsoft.com/office/powerpoint/2010/main" val="744277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B34EFB4-5E08-8682-6554-1F4ED9FEE57F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57B793-4EF3-7300-77E7-76C26303FDE5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 / ARCHITECTURE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088F19-1C75-72A2-5D35-3F303E2FBCE1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</a:t>
            </a: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활용하는 계층형 연동 구조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578574-15C8-D8F6-BC0A-05291161B0E1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C# 7.3 · .NET Framework 4.8 · ASP.NET ASMX / System.Web · IIS</a:t>
            </a:r>
            <a:endParaRPr lang="ko-KR" altLang="en-US" sz="20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57F7B3-B7D6-9E29-5F7F-7BBACD5C066D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D97632B-53E1-C0A1-EA0D-F84CFC231122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76F6D8-3045-D471-7EF1-E047378EBDCA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단일 웹 애플리케이션 내부에서 진입점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로직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접근 역할을 분리한다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66583-FD0C-79A0-88F5-39A8FF8343E4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Service1.asmx.cs | Properties/AssemblyInfo.cs | BIZ/ · DAO/ · COMMON/ · VO/</a:t>
            </a:r>
            <a:endParaRPr lang="ko-KR" altLang="en-US" sz="11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C526A2-B0FC-2434-5541-B5B9A4D289DB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865AAC7-AAB5-0DA9-EBE9-B99129C1F796}"/>
              </a:ext>
            </a:extLst>
          </p:cNvPr>
          <p:cNvSpPr/>
          <p:nvPr/>
        </p:nvSpPr>
        <p:spPr>
          <a:xfrm>
            <a:off x="711200" y="3098800"/>
            <a:ext cx="3365500" cy="38354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E498ED4-378E-5B51-F25A-E0B6ABEA76F4}"/>
              </a:ext>
            </a:extLst>
          </p:cNvPr>
          <p:cNvSpPr/>
          <p:nvPr/>
        </p:nvSpPr>
        <p:spPr>
          <a:xfrm>
            <a:off x="711200" y="3098800"/>
            <a:ext cx="3365500" cy="889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D25D6B-2612-607C-C212-CB44A85CAC0E}"/>
              </a:ext>
            </a:extLst>
          </p:cNvPr>
          <p:cNvSpPr txBox="1"/>
          <p:nvPr/>
        </p:nvSpPr>
        <p:spPr>
          <a:xfrm>
            <a:off x="952500" y="3555999"/>
            <a:ext cx="28829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 </a:t>
            </a:r>
            <a:r>
              <a:rPr lang="en-US" altLang="ko-KR" sz="2400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2400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테스트 콘솔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8ADA8B-B418-17F4-90BB-E3652BB7CF39}"/>
              </a:ext>
            </a:extLst>
          </p:cNvPr>
          <p:cNvSpPr txBox="1"/>
          <p:nvPr/>
        </p:nvSpPr>
        <p:spPr>
          <a:xfrm>
            <a:off x="952500" y="4660899"/>
            <a:ext cx="2882900" cy="198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 JSON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DEVICE_CD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BOX_BARCODE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WEIGHT</a:t>
            </a:r>
            <a:endParaRPr lang="ko-KR" altLang="en-US" sz="1900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6D2253E-7DC6-A9C7-D858-188E47A9573A}"/>
              </a:ext>
            </a:extLst>
          </p:cNvPr>
          <p:cNvCxnSpPr/>
          <p:nvPr/>
        </p:nvCxnSpPr>
        <p:spPr>
          <a:xfrm>
            <a:off x="4140200" y="4978400"/>
            <a:ext cx="304800" cy="0"/>
          </a:xfrm>
          <a:prstGeom prst="line">
            <a:avLst/>
          </a:prstGeom>
          <a:ln w="31750">
            <a:solidFill>
              <a:srgbClr val="007F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EFBEFCA-4E89-19CD-1A94-C3C0523833DF}"/>
              </a:ext>
            </a:extLst>
          </p:cNvPr>
          <p:cNvSpPr/>
          <p:nvPr/>
        </p:nvSpPr>
        <p:spPr>
          <a:xfrm>
            <a:off x="4533900" y="3098800"/>
            <a:ext cx="3365500" cy="38354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8DB790A-2B13-51F2-D92B-BE488088C532}"/>
              </a:ext>
            </a:extLst>
          </p:cNvPr>
          <p:cNvSpPr/>
          <p:nvPr/>
        </p:nvSpPr>
        <p:spPr>
          <a:xfrm>
            <a:off x="4533900" y="3098800"/>
            <a:ext cx="3365500" cy="889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7DF399-344C-F5A6-6147-314D39A3FCD3}"/>
              </a:ext>
            </a:extLst>
          </p:cNvPr>
          <p:cNvSpPr txBox="1"/>
          <p:nvPr/>
        </p:nvSpPr>
        <p:spPr>
          <a:xfrm>
            <a:off x="4775200" y="3555999"/>
            <a:ext cx="28829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진입 계층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239E66-186B-472F-67C1-B34D5FBF54D8}"/>
              </a:ext>
            </a:extLst>
          </p:cNvPr>
          <p:cNvSpPr txBox="1"/>
          <p:nvPr/>
        </p:nvSpPr>
        <p:spPr>
          <a:xfrm>
            <a:off x="4775200" y="4660899"/>
            <a:ext cx="2882900" cy="198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api/outbound/{action}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OutboundApiHandler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Service1</a:t>
            </a:r>
          </a:p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 파싱 </a:t>
            </a:r>
            <a:r>
              <a:rPr lang="en-US" altLang="ko-KR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 직렬화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8B4A028-DFAF-957C-1175-C76E74EC31DE}"/>
              </a:ext>
            </a:extLst>
          </p:cNvPr>
          <p:cNvCxnSpPr/>
          <p:nvPr/>
        </p:nvCxnSpPr>
        <p:spPr>
          <a:xfrm>
            <a:off x="7962900" y="4978400"/>
            <a:ext cx="304800" cy="0"/>
          </a:xfrm>
          <a:prstGeom prst="line">
            <a:avLst/>
          </a:prstGeom>
          <a:ln w="31750">
            <a:solidFill>
              <a:srgbClr val="007F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8CF7298-7799-2FBF-D326-ADD748765BBB}"/>
              </a:ext>
            </a:extLst>
          </p:cNvPr>
          <p:cNvSpPr/>
          <p:nvPr/>
        </p:nvSpPr>
        <p:spPr>
          <a:xfrm>
            <a:off x="8356600" y="3098800"/>
            <a:ext cx="3365500" cy="38354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711E6DA-890B-13E9-7367-DAFA30B4EF7F}"/>
              </a:ext>
            </a:extLst>
          </p:cNvPr>
          <p:cNvSpPr/>
          <p:nvPr/>
        </p:nvSpPr>
        <p:spPr>
          <a:xfrm>
            <a:off x="8356600" y="3098800"/>
            <a:ext cx="3365500" cy="889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306D72-7B13-34DC-299F-EB74D021C588}"/>
              </a:ext>
            </a:extLst>
          </p:cNvPr>
          <p:cNvSpPr txBox="1"/>
          <p:nvPr/>
        </p:nvSpPr>
        <p:spPr>
          <a:xfrm>
            <a:off x="8597900" y="3555999"/>
            <a:ext cx="28829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계층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23932B-D504-F274-FB72-22153CEBDE8D}"/>
              </a:ext>
            </a:extLst>
          </p:cNvPr>
          <p:cNvSpPr txBox="1"/>
          <p:nvPr/>
        </p:nvSpPr>
        <p:spPr>
          <a:xfrm>
            <a:off x="8597900" y="4660899"/>
            <a:ext cx="2882900" cy="198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BIZ: </a:t>
            </a:r>
            <a:r>
              <a:rPr lang="ko-KR" altLang="en-US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 판단 및 출력</a:t>
            </a:r>
          </a:p>
          <a:p>
            <a:pPr>
              <a:spcAft>
                <a:spcPts val="800"/>
              </a:spcAft>
            </a:pPr>
            <a:r>
              <a:rPr lang="en-US" altLang="ko-KR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DAO: </a:t>
            </a:r>
            <a:r>
              <a:rPr lang="ko-KR" altLang="en-US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r>
              <a:rPr lang="en-US" altLang="ko-KR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갱신</a:t>
            </a:r>
            <a:r>
              <a:rPr lang="en-US" altLang="ko-KR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프로시저</a:t>
            </a:r>
          </a:p>
          <a:p>
            <a:pPr>
              <a:spcAft>
                <a:spcPts val="800"/>
              </a:spcAft>
            </a:pPr>
            <a:r>
              <a:rPr lang="en-US" altLang="ko-KR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VO: </a:t>
            </a:r>
            <a:r>
              <a:rPr lang="ko-KR" altLang="en-US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</a:t>
            </a:r>
            <a:r>
              <a:rPr lang="en-US" altLang="ko-KR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</a:t>
            </a:r>
            <a:r>
              <a:rPr lang="en-US" altLang="ko-KR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데이터</a:t>
            </a:r>
          </a:p>
          <a:p>
            <a:pPr>
              <a:spcAft>
                <a:spcPts val="800"/>
              </a:spcAft>
            </a:pPr>
            <a:r>
              <a:rPr lang="en-US" altLang="ko-KR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COMMON: </a:t>
            </a:r>
            <a:r>
              <a:rPr lang="ko-KR" altLang="en-US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</a:t>
            </a:r>
            <a:r>
              <a:rPr lang="en-US" altLang="ko-KR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오류</a:t>
            </a:r>
            <a:r>
              <a:rPr lang="en-US" altLang="ko-KR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85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통신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7FC9075-90C3-809B-8C21-5D51D408F6CA}"/>
              </a:ext>
            </a:extLst>
          </p:cNvPr>
          <p:cNvCxnSpPr/>
          <p:nvPr/>
        </p:nvCxnSpPr>
        <p:spPr>
          <a:xfrm>
            <a:off x="11785600" y="4978400"/>
            <a:ext cx="304800" cy="0"/>
          </a:xfrm>
          <a:prstGeom prst="line">
            <a:avLst/>
          </a:prstGeom>
          <a:ln w="31750">
            <a:solidFill>
              <a:srgbClr val="007F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E5B70E2-236F-A78B-81BB-304EA2487AAD}"/>
              </a:ext>
            </a:extLst>
          </p:cNvPr>
          <p:cNvSpPr/>
          <p:nvPr/>
        </p:nvSpPr>
        <p:spPr>
          <a:xfrm>
            <a:off x="12179300" y="3098800"/>
            <a:ext cx="3365500" cy="38354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35C2397-FEB8-9922-C27A-B4E673D104E4}"/>
              </a:ext>
            </a:extLst>
          </p:cNvPr>
          <p:cNvSpPr/>
          <p:nvPr/>
        </p:nvSpPr>
        <p:spPr>
          <a:xfrm>
            <a:off x="12179300" y="3098800"/>
            <a:ext cx="3365500" cy="889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1493AE-B799-31A0-5063-618DD6B3D24F}"/>
              </a:ext>
            </a:extLst>
          </p:cNvPr>
          <p:cNvSpPr txBox="1"/>
          <p:nvPr/>
        </p:nvSpPr>
        <p:spPr>
          <a:xfrm>
            <a:off x="12420600" y="3555999"/>
            <a:ext cx="28829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 대상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23665E-A606-12E3-5E85-A9AAC33706ED}"/>
              </a:ext>
            </a:extLst>
          </p:cNvPr>
          <p:cNvSpPr txBox="1"/>
          <p:nvPr/>
        </p:nvSpPr>
        <p:spPr>
          <a:xfrm>
            <a:off x="12420600" y="4660899"/>
            <a:ext cx="2882900" cy="198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IBM i DB2 / MES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eMES </a:t>
            </a:r>
            <a:r>
              <a:rPr lang="ko-KR" altLang="en-US" sz="19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라벨 서비스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SSRS → PDF → </a:t>
            </a:r>
            <a:r>
              <a:rPr lang="ko-KR" altLang="en-US" sz="19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XML → FTP </a:t>
            </a:r>
            <a:r>
              <a:rPr lang="ko-KR" altLang="en-US" sz="19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라벨 서버</a:t>
            </a:r>
          </a:p>
        </p:txBody>
      </p:sp>
    </p:spTree>
    <p:extLst>
      <p:ext uri="{BB962C8B-B14F-4D97-AF65-F5344CB8AC3E}">
        <p14:creationId xmlns:p14="http://schemas.microsoft.com/office/powerpoint/2010/main" val="2836317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93F6AFF-7CB3-5C2F-75E4-CF3184D1ED05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ECC2F5-519D-3075-FBF8-035FF28AC827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/ PROCESS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2A394A-6964-7964-7819-3143DEDFF340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하나가 통과하는 </a:t>
            </a: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1AB169-6BD0-E470-71CE-344C2228E2CE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 2 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 개념 흐름 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단계에서 바코드를 다시 전달한다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68EDCD-DCA0-C6CA-04E5-704E79307404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7F9157-F6B7-8ADC-8C68-CF99A97F468F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AFB073-9712-770F-B3C0-8EEDAF99AB67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 1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 분기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 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공유하며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장비 코드에 따라 라인 검증과 출력 경로가 달라진다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017F83-27BD-FD98-0CDF-61DFE8B3AD04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정의서 </a:t>
            </a: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p.2–7 | Service1.asmx.cs</a:t>
            </a: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활성 </a:t>
            </a: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ORDER </a:t>
            </a: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메서드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3B67F2-FD62-665D-A16D-E6864828BEDE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1842D4-FAF8-1C22-7B8C-15CEF2459155}"/>
              </a:ext>
            </a:extLst>
          </p:cNvPr>
          <p:cNvSpPr txBox="1"/>
          <p:nvPr/>
        </p:nvSpPr>
        <p:spPr>
          <a:xfrm>
            <a:off x="711200" y="2793999"/>
            <a:ext cx="262128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01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EAA717-A5F7-1119-2B2F-A6F71E36A667}"/>
              </a:ext>
            </a:extLst>
          </p:cNvPr>
          <p:cNvSpPr/>
          <p:nvPr/>
        </p:nvSpPr>
        <p:spPr>
          <a:xfrm>
            <a:off x="711200" y="3403600"/>
            <a:ext cx="262128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A5EB542-3CF4-A9E1-3D9F-6939381F430A}"/>
              </a:ext>
            </a:extLst>
          </p:cNvPr>
          <p:cNvSpPr/>
          <p:nvPr/>
        </p:nvSpPr>
        <p:spPr>
          <a:xfrm>
            <a:off x="711200" y="3403600"/>
            <a:ext cx="262128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7F0E2E-88FD-38B7-2BB5-430FFD0E082E}"/>
              </a:ext>
            </a:extLst>
          </p:cNvPr>
          <p:cNvSpPr txBox="1"/>
          <p:nvPr/>
        </p:nvSpPr>
        <p:spPr>
          <a:xfrm>
            <a:off x="901700" y="3619499"/>
            <a:ext cx="224028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포장 검사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3CBFB1-7311-920A-65B4-2F9DD0BDBAD0}"/>
              </a:ext>
            </a:extLst>
          </p:cNvPr>
          <p:cNvSpPr txBox="1"/>
          <p:nvPr/>
        </p:nvSpPr>
        <p:spPr>
          <a:xfrm>
            <a:off x="901700" y="4673599"/>
            <a:ext cx="224028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LINE_01_01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Draft 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라인 반환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DA7791B-31B4-F6E8-EE16-43E877519AAB}"/>
              </a:ext>
            </a:extLst>
          </p:cNvPr>
          <p:cNvCxnSpPr/>
          <p:nvPr/>
        </p:nvCxnSpPr>
        <p:spPr>
          <a:xfrm>
            <a:off x="3395980" y="5080000"/>
            <a:ext cx="279400" cy="0"/>
          </a:xfrm>
          <a:prstGeom prst="line">
            <a:avLst/>
          </a:prstGeom>
          <a:ln w="31750">
            <a:solidFill>
              <a:srgbClr val="007F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FD7B764-16CA-5132-C703-A1E822B6F3C7}"/>
              </a:ext>
            </a:extLst>
          </p:cNvPr>
          <p:cNvSpPr txBox="1"/>
          <p:nvPr/>
        </p:nvSpPr>
        <p:spPr>
          <a:xfrm>
            <a:off x="3764280" y="2793999"/>
            <a:ext cx="262128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02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27D61C1-2B2F-4CC5-D201-AD997C87A9E6}"/>
              </a:ext>
            </a:extLst>
          </p:cNvPr>
          <p:cNvSpPr/>
          <p:nvPr/>
        </p:nvSpPr>
        <p:spPr>
          <a:xfrm>
            <a:off x="3764280" y="3403600"/>
            <a:ext cx="262128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958DC15-16E7-8EF0-F80E-F53B2E3D6055}"/>
              </a:ext>
            </a:extLst>
          </p:cNvPr>
          <p:cNvSpPr/>
          <p:nvPr/>
        </p:nvSpPr>
        <p:spPr>
          <a:xfrm>
            <a:off x="3764280" y="3403600"/>
            <a:ext cx="262128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D639F9-FCEF-4748-EAA4-95EFEAB4A208}"/>
              </a:ext>
            </a:extLst>
          </p:cNvPr>
          <p:cNvSpPr txBox="1"/>
          <p:nvPr/>
        </p:nvSpPr>
        <p:spPr>
          <a:xfrm>
            <a:off x="3954780" y="3619499"/>
            <a:ext cx="224028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분기 판단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133BA2-6E90-B8D2-DBF7-CF23E952F3F2}"/>
              </a:ext>
            </a:extLst>
          </p:cNvPr>
          <p:cNvSpPr txBox="1"/>
          <p:nvPr/>
        </p:nvSpPr>
        <p:spPr>
          <a:xfrm>
            <a:off x="3954780" y="4673599"/>
            <a:ext cx="224028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LINE_02_01_01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라인 검증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첫 카톤 여부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6E4B4A6-810B-A974-E942-444458AC1615}"/>
              </a:ext>
            </a:extLst>
          </p:cNvPr>
          <p:cNvCxnSpPr/>
          <p:nvPr/>
        </p:nvCxnSpPr>
        <p:spPr>
          <a:xfrm>
            <a:off x="6449060" y="5080000"/>
            <a:ext cx="279400" cy="0"/>
          </a:xfrm>
          <a:prstGeom prst="line">
            <a:avLst/>
          </a:prstGeom>
          <a:ln w="31750">
            <a:solidFill>
              <a:srgbClr val="007F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FB70E87-0AEA-D1E9-E767-8F537C6877DC}"/>
              </a:ext>
            </a:extLst>
          </p:cNvPr>
          <p:cNvSpPr txBox="1"/>
          <p:nvPr/>
        </p:nvSpPr>
        <p:spPr>
          <a:xfrm>
            <a:off x="6817360" y="2793999"/>
            <a:ext cx="262128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03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242D77F-5CD4-6B4E-C20A-6B71BCB674B6}"/>
              </a:ext>
            </a:extLst>
          </p:cNvPr>
          <p:cNvSpPr/>
          <p:nvPr/>
        </p:nvSpPr>
        <p:spPr>
          <a:xfrm>
            <a:off x="6817360" y="3403600"/>
            <a:ext cx="2621279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46FB3E3-63DD-604F-15B1-CE4A2403ACDB}"/>
              </a:ext>
            </a:extLst>
          </p:cNvPr>
          <p:cNvSpPr/>
          <p:nvPr/>
        </p:nvSpPr>
        <p:spPr>
          <a:xfrm>
            <a:off x="6817360" y="3403600"/>
            <a:ext cx="2621279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92AABB-EFE3-AB35-AADF-60909D3FF890}"/>
              </a:ext>
            </a:extLst>
          </p:cNvPr>
          <p:cNvSpPr txBox="1"/>
          <p:nvPr/>
        </p:nvSpPr>
        <p:spPr>
          <a:xfrm>
            <a:off x="7007860" y="3619499"/>
            <a:ext cx="224028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 보고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445287-01F4-3B46-AC79-1A9D12337020}"/>
              </a:ext>
            </a:extLst>
          </p:cNvPr>
          <p:cNvSpPr txBox="1"/>
          <p:nvPr/>
        </p:nvSpPr>
        <p:spPr>
          <a:xfrm>
            <a:off x="7007860" y="4673599"/>
            <a:ext cx="224028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LINE_02_01_02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 반영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조건 확인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7577A4D-AFBD-65A6-5ADE-035E63948D14}"/>
              </a:ext>
            </a:extLst>
          </p:cNvPr>
          <p:cNvCxnSpPr/>
          <p:nvPr/>
        </p:nvCxnSpPr>
        <p:spPr>
          <a:xfrm>
            <a:off x="9502140" y="5080000"/>
            <a:ext cx="279400" cy="0"/>
          </a:xfrm>
          <a:prstGeom prst="line">
            <a:avLst/>
          </a:prstGeom>
          <a:ln w="31750">
            <a:solidFill>
              <a:srgbClr val="007F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A5AF8AF-B89E-8793-C9D2-374A4E7C31C1}"/>
              </a:ext>
            </a:extLst>
          </p:cNvPr>
          <p:cNvSpPr txBox="1"/>
          <p:nvPr/>
        </p:nvSpPr>
        <p:spPr>
          <a:xfrm>
            <a:off x="9870440" y="2793999"/>
            <a:ext cx="262128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04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528783F-558C-8A19-7D41-B76212885C38}"/>
              </a:ext>
            </a:extLst>
          </p:cNvPr>
          <p:cNvSpPr/>
          <p:nvPr/>
        </p:nvSpPr>
        <p:spPr>
          <a:xfrm>
            <a:off x="9870440" y="3403600"/>
            <a:ext cx="262128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4500143-4101-5053-8A5B-7F8FF1A930EF}"/>
              </a:ext>
            </a:extLst>
          </p:cNvPr>
          <p:cNvSpPr/>
          <p:nvPr/>
        </p:nvSpPr>
        <p:spPr>
          <a:xfrm>
            <a:off x="9870440" y="3403600"/>
            <a:ext cx="262128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C030D8-AC4C-E381-04E0-15E3DF667274}"/>
              </a:ext>
            </a:extLst>
          </p:cNvPr>
          <p:cNvSpPr txBox="1"/>
          <p:nvPr/>
        </p:nvSpPr>
        <p:spPr>
          <a:xfrm>
            <a:off x="10060940" y="3619499"/>
            <a:ext cx="224028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테이핑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EF2FDA-7C7C-AACA-1B4D-4F755ED567DC}"/>
              </a:ext>
            </a:extLst>
          </p:cNvPr>
          <p:cNvSpPr txBox="1"/>
          <p:nvPr/>
        </p:nvSpPr>
        <p:spPr>
          <a:xfrm>
            <a:off x="10060940" y="4673599"/>
            <a:ext cx="224028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LINE_02_02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타입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 / TURN / H</a:t>
            </a:r>
            <a:endParaRPr lang="ko-KR" altLang="en-US" sz="2000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3E9AAC93-C7AC-370E-B394-B14038E23D54}"/>
              </a:ext>
            </a:extLst>
          </p:cNvPr>
          <p:cNvCxnSpPr/>
          <p:nvPr/>
        </p:nvCxnSpPr>
        <p:spPr>
          <a:xfrm>
            <a:off x="12555220" y="5080000"/>
            <a:ext cx="279400" cy="0"/>
          </a:xfrm>
          <a:prstGeom prst="line">
            <a:avLst/>
          </a:prstGeom>
          <a:ln w="31750">
            <a:solidFill>
              <a:srgbClr val="007F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F441032-01EC-2930-E4BF-998A84571B11}"/>
              </a:ext>
            </a:extLst>
          </p:cNvPr>
          <p:cNvSpPr txBox="1"/>
          <p:nvPr/>
        </p:nvSpPr>
        <p:spPr>
          <a:xfrm>
            <a:off x="12923520" y="2793999"/>
            <a:ext cx="262128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05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7B67A20-A22F-0B5B-4A66-EF7F7A65456E}"/>
              </a:ext>
            </a:extLst>
          </p:cNvPr>
          <p:cNvSpPr/>
          <p:nvPr/>
        </p:nvSpPr>
        <p:spPr>
          <a:xfrm>
            <a:off x="12923520" y="3403600"/>
            <a:ext cx="262128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09FE1EE-3468-70AA-B65B-B962357B0D79}"/>
              </a:ext>
            </a:extLst>
          </p:cNvPr>
          <p:cNvSpPr/>
          <p:nvPr/>
        </p:nvSpPr>
        <p:spPr>
          <a:xfrm>
            <a:off x="12923520" y="3403600"/>
            <a:ext cx="262128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B42BBA-BC37-D47F-AC97-6FB1EACF9CDC}"/>
              </a:ext>
            </a:extLst>
          </p:cNvPr>
          <p:cNvSpPr txBox="1"/>
          <p:nvPr/>
        </p:nvSpPr>
        <p:spPr>
          <a:xfrm>
            <a:off x="13114020" y="3619499"/>
            <a:ext cx="224028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로봇 라벨링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DC7069-F76A-EEEE-AADE-2CD8AEBB4181}"/>
              </a:ext>
            </a:extLst>
          </p:cNvPr>
          <p:cNvSpPr txBox="1"/>
          <p:nvPr/>
        </p:nvSpPr>
        <p:spPr>
          <a:xfrm>
            <a:off x="13114020" y="4673599"/>
            <a:ext cx="224028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LINE_02_03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라벨 수</a:t>
            </a: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인쇄 요청</a:t>
            </a:r>
          </a:p>
        </p:txBody>
      </p:sp>
    </p:spTree>
    <p:extLst>
      <p:ext uri="{BB962C8B-B14F-4D97-AF65-F5344CB8AC3E}">
        <p14:creationId xmlns:p14="http://schemas.microsoft.com/office/powerpoint/2010/main" val="485620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A3E7DA1-2A51-7779-3821-055EE26C1985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5BF112-3DA2-8DD3-7807-3A8B53BB5423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/ API CATALOG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015634-6503-8E4D-72EF-070DD3534972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공정별 </a:t>
            </a: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계약과 핵심 응답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435CF-19AB-6018-6A95-AE97A0702260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 입력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DEVICE_CD + BOX_BARCODE / 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 응답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OUT_CODE + OUT_MSG</a:t>
            </a:r>
            <a:endParaRPr lang="ko-KR" altLang="en-US" sz="20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22C3C2-D4E4-EE0E-7918-D1C3658305C7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765814D-7265-8A52-2EF0-4A904838CC73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E8C4E-507B-A053-3977-F2EF3E64304A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PRINT_YN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현재 코드의 추가 필드다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PrintPickingSlip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별도 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ASMX 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기능이다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33A072-4A53-0863-009A-EF8C218A880A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정의서 </a:t>
            </a: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p.3–7 | VO/ApiRequestVO.cs · ApiResponseVO.cs | OutboundApiHandler</a:t>
            </a:r>
            <a:endParaRPr lang="ko-KR" altLang="en-US" sz="11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D7DFA1-72ED-2610-4B5B-8F9588F0CF00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F3CAEA2-EA91-498C-13B9-394AD80BCEE6}"/>
              </a:ext>
            </a:extLst>
          </p:cNvPr>
          <p:cNvSpPr/>
          <p:nvPr/>
        </p:nvSpPr>
        <p:spPr>
          <a:xfrm>
            <a:off x="711200" y="2679700"/>
            <a:ext cx="4445000" cy="635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73B65B-BF96-C5A9-4394-614DCDBB259E}"/>
              </a:ext>
            </a:extLst>
          </p:cNvPr>
          <p:cNvSpPr txBox="1"/>
          <p:nvPr/>
        </p:nvSpPr>
        <p:spPr>
          <a:xfrm>
            <a:off x="889000" y="2832099"/>
            <a:ext cx="40894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활성 </a:t>
            </a:r>
            <a:r>
              <a:rPr lang="en-US" altLang="ko-KR" sz="2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</a:t>
            </a:r>
            <a:endParaRPr lang="ko-KR" altLang="en-US" sz="2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A7EE486-971A-9828-38B6-4EFA20D2B98D}"/>
              </a:ext>
            </a:extLst>
          </p:cNvPr>
          <p:cNvSpPr/>
          <p:nvPr/>
        </p:nvSpPr>
        <p:spPr>
          <a:xfrm>
            <a:off x="5156200" y="2679700"/>
            <a:ext cx="4610100" cy="635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06FFAE-92EE-440D-5339-E0AB4277161A}"/>
              </a:ext>
            </a:extLst>
          </p:cNvPr>
          <p:cNvSpPr txBox="1"/>
          <p:nvPr/>
        </p:nvSpPr>
        <p:spPr>
          <a:xfrm>
            <a:off x="5334000" y="2832099"/>
            <a:ext cx="42545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역할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C579FD-86DD-7ABE-2B34-C72F065FB5B2}"/>
              </a:ext>
            </a:extLst>
          </p:cNvPr>
          <p:cNvSpPr/>
          <p:nvPr/>
        </p:nvSpPr>
        <p:spPr>
          <a:xfrm>
            <a:off x="9766300" y="2679700"/>
            <a:ext cx="5778500" cy="635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2D2055-CC74-BE5A-B321-93C5DB3EEFE9}"/>
              </a:ext>
            </a:extLst>
          </p:cNvPr>
          <p:cNvSpPr txBox="1"/>
          <p:nvPr/>
        </p:nvSpPr>
        <p:spPr>
          <a:xfrm>
            <a:off x="9944100" y="2832099"/>
            <a:ext cx="54229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응답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A40426C-3362-68A0-8CC4-9DB95C338919}"/>
              </a:ext>
            </a:extLst>
          </p:cNvPr>
          <p:cNvSpPr/>
          <p:nvPr/>
        </p:nvSpPr>
        <p:spPr>
          <a:xfrm>
            <a:off x="711200" y="3314700"/>
            <a:ext cx="4445000" cy="774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C3EC67-2625-CB85-F59E-6617CF23D79A}"/>
              </a:ext>
            </a:extLst>
          </p:cNvPr>
          <p:cNvSpPr txBox="1"/>
          <p:nvPr/>
        </p:nvSpPr>
        <p:spPr>
          <a:xfrm>
            <a:off x="889000" y="3441699"/>
            <a:ext cx="4089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LINE_01_01_ORDER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E77C70D-6589-7459-C2E8-6FE46A4FF94C}"/>
              </a:ext>
            </a:extLst>
          </p:cNvPr>
          <p:cNvSpPr/>
          <p:nvPr/>
        </p:nvSpPr>
        <p:spPr>
          <a:xfrm>
            <a:off x="5156200" y="3314700"/>
            <a:ext cx="4610100" cy="774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EC15A6-EE6C-3EF2-F25B-ADCC7D6AD0D0}"/>
              </a:ext>
            </a:extLst>
          </p:cNvPr>
          <p:cNvSpPr txBox="1"/>
          <p:nvPr/>
        </p:nvSpPr>
        <p:spPr>
          <a:xfrm>
            <a:off x="5334000" y="3441699"/>
            <a:ext cx="4254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포장완료 검사</a:t>
            </a: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라인 조회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40EB47-0372-67E1-19DD-B498581F8A47}"/>
              </a:ext>
            </a:extLst>
          </p:cNvPr>
          <p:cNvSpPr/>
          <p:nvPr/>
        </p:nvSpPr>
        <p:spPr>
          <a:xfrm>
            <a:off x="9766300" y="3314700"/>
            <a:ext cx="5778500" cy="774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38385D-EF94-5BB9-7147-6FE00CD7614E}"/>
              </a:ext>
            </a:extLst>
          </p:cNvPr>
          <p:cNvSpPr txBox="1"/>
          <p:nvPr/>
        </p:nvSpPr>
        <p:spPr>
          <a:xfrm>
            <a:off x="9944100" y="3441699"/>
            <a:ext cx="54229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PACKING_END_YN / WORK_LINE_NO</a:t>
            </a:r>
            <a:endParaRPr lang="ko-KR" altLang="en-US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4C70E84-2C77-3865-E4B8-61B7C9684C54}"/>
              </a:ext>
            </a:extLst>
          </p:cNvPr>
          <p:cNvSpPr/>
          <p:nvPr/>
        </p:nvSpPr>
        <p:spPr>
          <a:xfrm>
            <a:off x="711200" y="4102100"/>
            <a:ext cx="4445000" cy="774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DAB758-985C-EC09-DA78-A7F34101311A}"/>
              </a:ext>
            </a:extLst>
          </p:cNvPr>
          <p:cNvSpPr txBox="1"/>
          <p:nvPr/>
        </p:nvSpPr>
        <p:spPr>
          <a:xfrm>
            <a:off x="889000" y="4229099"/>
            <a:ext cx="4089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LINE_02_01_01_ORDER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0E18F88-4932-F03C-0E9E-80929A7822A8}"/>
              </a:ext>
            </a:extLst>
          </p:cNvPr>
          <p:cNvSpPr/>
          <p:nvPr/>
        </p:nvSpPr>
        <p:spPr>
          <a:xfrm>
            <a:off x="5156200" y="4102100"/>
            <a:ext cx="4610100" cy="774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6CB7FF-965C-C19F-45EE-2EFAFA30655F}"/>
              </a:ext>
            </a:extLst>
          </p:cNvPr>
          <p:cNvSpPr txBox="1"/>
          <p:nvPr/>
        </p:nvSpPr>
        <p:spPr>
          <a:xfrm>
            <a:off x="5334000" y="4229099"/>
            <a:ext cx="4254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패킹리스트 분기 판단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74F626C-2242-A667-4801-89484444B028}"/>
              </a:ext>
            </a:extLst>
          </p:cNvPr>
          <p:cNvSpPr/>
          <p:nvPr/>
        </p:nvSpPr>
        <p:spPr>
          <a:xfrm>
            <a:off x="9766300" y="4102100"/>
            <a:ext cx="5778500" cy="774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0FBEC5-9169-6358-8137-26F3F6B374FF}"/>
              </a:ext>
            </a:extLst>
          </p:cNvPr>
          <p:cNvSpPr txBox="1"/>
          <p:nvPr/>
        </p:nvSpPr>
        <p:spPr>
          <a:xfrm>
            <a:off x="9944100" y="4229099"/>
            <a:ext cx="54229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PACKING_LIST_PRINT_YN</a:t>
            </a:r>
            <a:endParaRPr lang="ko-KR" altLang="en-US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B381C7E-5E9D-6033-8804-2EEFC98C3837}"/>
              </a:ext>
            </a:extLst>
          </p:cNvPr>
          <p:cNvSpPr/>
          <p:nvPr/>
        </p:nvSpPr>
        <p:spPr>
          <a:xfrm>
            <a:off x="711200" y="4889500"/>
            <a:ext cx="4445000" cy="774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A9F53B-2573-BC3C-4BD5-C93C0FDDD316}"/>
              </a:ext>
            </a:extLst>
          </p:cNvPr>
          <p:cNvSpPr txBox="1"/>
          <p:nvPr/>
        </p:nvSpPr>
        <p:spPr>
          <a:xfrm>
            <a:off x="889000" y="5016499"/>
            <a:ext cx="4089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LINE_02_01_02_ORDER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133B493-6FD9-DF2D-1C5D-D43BE6232C4B}"/>
              </a:ext>
            </a:extLst>
          </p:cNvPr>
          <p:cNvSpPr/>
          <p:nvPr/>
        </p:nvSpPr>
        <p:spPr>
          <a:xfrm>
            <a:off x="5156200" y="4889500"/>
            <a:ext cx="4610100" cy="774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62B30A-B3D4-9AC2-AC0E-62740762E9AE}"/>
              </a:ext>
            </a:extLst>
          </p:cNvPr>
          <p:cNvSpPr txBox="1"/>
          <p:nvPr/>
        </p:nvSpPr>
        <p:spPr>
          <a:xfrm>
            <a:off x="5334000" y="5016499"/>
            <a:ext cx="4254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 실적 반영 </a:t>
            </a: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WEIGHT 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입력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2D05179-3C31-159D-D7B7-B5787BE9BB4A}"/>
              </a:ext>
            </a:extLst>
          </p:cNvPr>
          <p:cNvSpPr/>
          <p:nvPr/>
        </p:nvSpPr>
        <p:spPr>
          <a:xfrm>
            <a:off x="9766300" y="4889500"/>
            <a:ext cx="5778500" cy="774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49EA91-B897-3CA7-B9CC-05E51753E17D}"/>
              </a:ext>
            </a:extLst>
          </p:cNvPr>
          <p:cNvSpPr txBox="1"/>
          <p:nvPr/>
        </p:nvSpPr>
        <p:spPr>
          <a:xfrm>
            <a:off x="9944100" y="5016499"/>
            <a:ext cx="54229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WEIGHT_YN / PRINT_YN*</a:t>
            </a:r>
            <a:endParaRPr lang="ko-KR" altLang="en-US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EC5DB41-213B-56EF-0C45-669BECF6F734}"/>
              </a:ext>
            </a:extLst>
          </p:cNvPr>
          <p:cNvSpPr/>
          <p:nvPr/>
        </p:nvSpPr>
        <p:spPr>
          <a:xfrm>
            <a:off x="711200" y="5676900"/>
            <a:ext cx="4445000" cy="774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09AEE6-ABE3-A640-C676-BC6DFE9A3CAB}"/>
              </a:ext>
            </a:extLst>
          </p:cNvPr>
          <p:cNvSpPr txBox="1"/>
          <p:nvPr/>
        </p:nvSpPr>
        <p:spPr>
          <a:xfrm>
            <a:off x="889000" y="5803899"/>
            <a:ext cx="4089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LINE_02_02_ORDER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5D8187A-72F8-C966-8429-49C58E994974}"/>
              </a:ext>
            </a:extLst>
          </p:cNvPr>
          <p:cNvSpPr/>
          <p:nvPr/>
        </p:nvSpPr>
        <p:spPr>
          <a:xfrm>
            <a:off x="5156200" y="5676900"/>
            <a:ext cx="4610100" cy="774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35CFFE-80B4-8C86-DF2C-57B08D4CE0A9}"/>
              </a:ext>
            </a:extLst>
          </p:cNvPr>
          <p:cNvSpPr txBox="1"/>
          <p:nvPr/>
        </p:nvSpPr>
        <p:spPr>
          <a:xfrm>
            <a:off x="5334000" y="5803899"/>
            <a:ext cx="4254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</a:t>
            </a: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테이핑 지시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AA7DF6A-3D77-6DE9-964B-7422E9F88EB7}"/>
              </a:ext>
            </a:extLst>
          </p:cNvPr>
          <p:cNvSpPr/>
          <p:nvPr/>
        </p:nvSpPr>
        <p:spPr>
          <a:xfrm>
            <a:off x="9766300" y="5676900"/>
            <a:ext cx="5778500" cy="774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3A4006-E410-D9C2-031A-BD5B534AD6BA}"/>
              </a:ext>
            </a:extLst>
          </p:cNvPr>
          <p:cNvSpPr txBox="1"/>
          <p:nvPr/>
        </p:nvSpPr>
        <p:spPr>
          <a:xfrm>
            <a:off x="9944100" y="5803899"/>
            <a:ext cx="54229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BOX_TYPE_CD / I·TURN·H 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타입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EFB50FB-EAC5-07F7-43A3-EBD293204D6E}"/>
              </a:ext>
            </a:extLst>
          </p:cNvPr>
          <p:cNvSpPr/>
          <p:nvPr/>
        </p:nvSpPr>
        <p:spPr>
          <a:xfrm>
            <a:off x="711200" y="6464300"/>
            <a:ext cx="4445000" cy="774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7DFABE-0F8D-AFAC-25CD-9741814B7E06}"/>
              </a:ext>
            </a:extLst>
          </p:cNvPr>
          <p:cNvSpPr txBox="1"/>
          <p:nvPr/>
        </p:nvSpPr>
        <p:spPr>
          <a:xfrm>
            <a:off x="889000" y="6591299"/>
            <a:ext cx="4089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LINE_02_03_ORDER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0D1C9BD-0C82-A2A0-DB1C-937B0913AEAD}"/>
              </a:ext>
            </a:extLst>
          </p:cNvPr>
          <p:cNvSpPr/>
          <p:nvPr/>
        </p:nvSpPr>
        <p:spPr>
          <a:xfrm>
            <a:off x="5156200" y="6464300"/>
            <a:ext cx="4610100" cy="774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5346C2-354B-121D-861D-36959507EE1E}"/>
              </a:ext>
            </a:extLst>
          </p:cNvPr>
          <p:cNvSpPr txBox="1"/>
          <p:nvPr/>
        </p:nvSpPr>
        <p:spPr>
          <a:xfrm>
            <a:off x="5334000" y="6591299"/>
            <a:ext cx="4254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라벨링 지시</a:t>
            </a: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인쇄 요청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EC5C921-E518-54FB-7C09-23870A9D73C6}"/>
              </a:ext>
            </a:extLst>
          </p:cNvPr>
          <p:cNvSpPr/>
          <p:nvPr/>
        </p:nvSpPr>
        <p:spPr>
          <a:xfrm>
            <a:off x="9766300" y="6464300"/>
            <a:ext cx="5778500" cy="774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E05FE6-0BA3-2E61-07C9-3A96B7AEFCA3}"/>
              </a:ext>
            </a:extLst>
          </p:cNvPr>
          <p:cNvSpPr txBox="1"/>
          <p:nvPr/>
        </p:nvSpPr>
        <p:spPr>
          <a:xfrm>
            <a:off x="9944100" y="6591299"/>
            <a:ext cx="54229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LABEL_CNT / LABEL_1~6 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</a:t>
            </a: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</a:t>
            </a:r>
          </a:p>
        </p:txBody>
      </p:sp>
    </p:spTree>
    <p:extLst>
      <p:ext uri="{BB962C8B-B14F-4D97-AF65-F5344CB8AC3E}">
        <p14:creationId xmlns:p14="http://schemas.microsoft.com/office/powerpoint/2010/main" val="1318578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1ED633B-1CC9-4C52-C8F6-09055A7ADBB1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0BE20-4AB5-9D37-D0F2-601C2B53F1C9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 / IMPLEMENTATION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ED8B6A-A8A9-A6EE-24FD-57C5E835F7D2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요청을 업무 데이터로 바꾸는 공통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80882-A724-6BB5-9795-874ADE5C7C07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전에 요청 형식과 필수 값을 확인한다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667E637-99FC-5F6F-725F-356758814AFD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89C353-019C-8F3E-AD66-3E786B45FE7D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D638CA-6088-3254-BACD-EAE34457E197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잘못된 입력과 출하정보 부족을 업무 처리 전에 구분해 원인에 맞는 메시지를 반환한다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FE352A-A456-0F08-F323-5923DE97D1FB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COMMON/OrderError.cs | Service1.ParseRequestBody | CommonBiz.getLotInfoByBarcode</a:t>
            </a:r>
            <a:endParaRPr lang="ko-KR" altLang="en-US" sz="11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F8CE91-3400-4746-C199-BE538C4BE785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FD4D632-E942-0EA9-9F7C-7A1CC57FDB94}"/>
              </a:ext>
            </a:extLst>
          </p:cNvPr>
          <p:cNvSpPr/>
          <p:nvPr/>
        </p:nvSpPr>
        <p:spPr>
          <a:xfrm>
            <a:off x="711200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E2B3C1-C616-6FE9-75A7-36DF2B07A817}"/>
              </a:ext>
            </a:extLst>
          </p:cNvPr>
          <p:cNvSpPr/>
          <p:nvPr/>
        </p:nvSpPr>
        <p:spPr>
          <a:xfrm>
            <a:off x="711200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8FFD90-8D17-D0BC-E276-074194AC669B}"/>
              </a:ext>
            </a:extLst>
          </p:cNvPr>
          <p:cNvSpPr txBox="1"/>
          <p:nvPr/>
        </p:nvSpPr>
        <p:spPr>
          <a:xfrm>
            <a:off x="1003300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F8EEEA-A70D-6D0F-E421-B68BBF6A06B0}"/>
              </a:ext>
            </a:extLst>
          </p:cNvPr>
          <p:cNvSpPr txBox="1"/>
          <p:nvPr/>
        </p:nvSpPr>
        <p:spPr>
          <a:xfrm>
            <a:off x="1003300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JSON </a:t>
            </a: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 검증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050E96-CD42-4498-1D25-C2393CFCC5BC}"/>
              </a:ext>
            </a:extLst>
          </p:cNvPr>
          <p:cNvSpPr txBox="1"/>
          <p:nvPr/>
        </p:nvSpPr>
        <p:spPr>
          <a:xfrm>
            <a:off x="1003300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JSON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객체 지원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jsonRequest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문자열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객체 래퍼 지원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빈 본문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배열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형식 오류 구분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C39317-8929-E39D-6364-2068902480ED}"/>
              </a:ext>
            </a:extLst>
          </p:cNvPr>
          <p:cNvSpPr/>
          <p:nvPr/>
        </p:nvSpPr>
        <p:spPr>
          <a:xfrm>
            <a:off x="5757333" y="2768600"/>
            <a:ext cx="4741334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8FB140-5BA0-5C83-B6AE-2CD6C988C8E9}"/>
              </a:ext>
            </a:extLst>
          </p:cNvPr>
          <p:cNvSpPr/>
          <p:nvPr/>
        </p:nvSpPr>
        <p:spPr>
          <a:xfrm>
            <a:off x="5757333" y="2768600"/>
            <a:ext cx="4741334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7A8D6A-F404-5063-1153-A0A3912E3789}"/>
              </a:ext>
            </a:extLst>
          </p:cNvPr>
          <p:cNvSpPr txBox="1"/>
          <p:nvPr/>
        </p:nvSpPr>
        <p:spPr>
          <a:xfrm>
            <a:off x="6049433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E8924C-B117-7540-7FDA-8312D47F6883}"/>
              </a:ext>
            </a:extLst>
          </p:cNvPr>
          <p:cNvSpPr txBox="1"/>
          <p:nvPr/>
        </p:nvSpPr>
        <p:spPr>
          <a:xfrm>
            <a:off x="6049433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PICK </a:t>
            </a: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바코드 검증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0C0B56-C3E1-6949-02B3-8A44CD2A5A39}"/>
              </a:ext>
            </a:extLst>
          </p:cNvPr>
          <p:cNvSpPr txBox="1"/>
          <p:nvPr/>
        </p:nvSpPr>
        <p:spPr>
          <a:xfrm>
            <a:off x="6049433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장비 코드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바코드 필수 확인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출하일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·Invoice·Carton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검사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공백 제거 및 대문자 정규화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18840C6-EC10-3BD9-432C-CA510FF11F76}"/>
              </a:ext>
            </a:extLst>
          </p:cNvPr>
          <p:cNvSpPr/>
          <p:nvPr/>
        </p:nvSpPr>
        <p:spPr>
          <a:xfrm>
            <a:off x="10803467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2B46AFB-351C-35B9-4387-12E57E13A21B}"/>
              </a:ext>
            </a:extLst>
          </p:cNvPr>
          <p:cNvSpPr/>
          <p:nvPr/>
        </p:nvSpPr>
        <p:spPr>
          <a:xfrm>
            <a:off x="10803467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C353A1-E6C5-F52E-19C2-A1EBB9E6CE7E}"/>
              </a:ext>
            </a:extLst>
          </p:cNvPr>
          <p:cNvSpPr txBox="1"/>
          <p:nvPr/>
        </p:nvSpPr>
        <p:spPr>
          <a:xfrm>
            <a:off x="11095567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3F5415-A62C-486F-83E9-7DBF14C597F5}"/>
              </a:ext>
            </a:extLst>
          </p:cNvPr>
          <p:cNvSpPr txBox="1"/>
          <p:nvPr/>
        </p:nvSpPr>
        <p:spPr>
          <a:xfrm>
            <a:off x="11095567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</a:t>
            </a:r>
            <a:r>
              <a:rPr lang="en-US" altLang="ko-KR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·LOT </a:t>
            </a: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A617A3-209F-D616-2D6C-CE285FA2E250}"/>
              </a:ext>
            </a:extLst>
          </p:cNvPr>
          <p:cNvSpPr txBox="1"/>
          <p:nvPr/>
        </p:nvSpPr>
        <p:spPr>
          <a:xfrm>
            <a:off x="11095567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중량은 유한한 양수 확인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출하 공장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카톤 유효성 확인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룰 키는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null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빈값 구분</a:t>
            </a:r>
          </a:p>
        </p:txBody>
      </p:sp>
    </p:spTree>
    <p:extLst>
      <p:ext uri="{BB962C8B-B14F-4D97-AF65-F5344CB8AC3E}">
        <p14:creationId xmlns:p14="http://schemas.microsoft.com/office/powerpoint/2010/main" val="3309478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3A93A55-A3DA-9862-3676-5DB2005695DE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4E4F6E-0B5F-6561-9C8D-6856CD99D032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 / IMPLEMENTATION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375C98-874A-B79C-9E1D-56016D546C19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포장 검사</a:t>
            </a: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 공정으로 보낼 수 있는가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A7260-331E-9D23-9E0C-9D47959084B4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LINE_01_01_ORDER · 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단순 바코드 전달이 아닌 선행조건 확인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E337B5-9D90-6425-91D9-40FE3F1C7FE9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CF9E627-02C5-49C0-A048-9DFC36D957CE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1B3E0A-4403-3674-7FEE-DE7DE422E2EF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선행 검사 결과와 작업 라인 규칙을 결합해 설비의 분기 판단을 지원한다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C38838-2886-053A-78E3-B9B08975C1CA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Service1.LINE_01_01_ORDER | BoxScanCheckBiz | SchWipShipMasterDAO | ScanRuleDAO</a:t>
            </a:r>
            <a:endParaRPr lang="ko-KR" altLang="en-US" sz="11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07C09E-5780-19F9-08BB-FCAC283B7E66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5E890A-5E0E-EAC9-B6C2-B5398578AE7A}"/>
              </a:ext>
            </a:extLst>
          </p:cNvPr>
          <p:cNvSpPr txBox="1"/>
          <p:nvPr/>
        </p:nvSpPr>
        <p:spPr>
          <a:xfrm>
            <a:off x="711200" y="2793999"/>
            <a:ext cx="338455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01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290691-8959-595E-1540-72DDCEB2F204}"/>
              </a:ext>
            </a:extLst>
          </p:cNvPr>
          <p:cNvSpPr/>
          <p:nvPr/>
        </p:nvSpPr>
        <p:spPr>
          <a:xfrm>
            <a:off x="711200" y="3403600"/>
            <a:ext cx="338455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936598-332B-5707-AD57-2D4BFC800849}"/>
              </a:ext>
            </a:extLst>
          </p:cNvPr>
          <p:cNvSpPr/>
          <p:nvPr/>
        </p:nvSpPr>
        <p:spPr>
          <a:xfrm>
            <a:off x="711200" y="3403600"/>
            <a:ext cx="338455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171456-9C4D-1119-045A-DA8903DEA9DA}"/>
              </a:ext>
            </a:extLst>
          </p:cNvPr>
          <p:cNvSpPr txBox="1"/>
          <p:nvPr/>
        </p:nvSpPr>
        <p:spPr>
          <a:xfrm>
            <a:off x="901700" y="3619499"/>
            <a:ext cx="300355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출하 </a:t>
            </a:r>
            <a:r>
              <a:rPr lang="en-US" altLang="ko-KR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LOT </a:t>
            </a: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DDD93C-CD3B-4D93-73AD-AA1ED2BFAAB2}"/>
              </a:ext>
            </a:extLst>
          </p:cNvPr>
          <p:cNvSpPr txBox="1"/>
          <p:nvPr/>
        </p:nvSpPr>
        <p:spPr>
          <a:xfrm>
            <a:off x="901700" y="4673599"/>
            <a:ext cx="300355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출하일 </a:t>
            </a: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Invoice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Carton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조회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 </a:t>
            </a: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LOT 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B7E2896-F099-D372-1210-3399C6CA2A18}"/>
              </a:ext>
            </a:extLst>
          </p:cNvPr>
          <p:cNvCxnSpPr/>
          <p:nvPr/>
        </p:nvCxnSpPr>
        <p:spPr>
          <a:xfrm>
            <a:off x="4159250" y="5080000"/>
            <a:ext cx="279400" cy="0"/>
          </a:xfrm>
          <a:prstGeom prst="line">
            <a:avLst/>
          </a:prstGeom>
          <a:ln w="31750">
            <a:solidFill>
              <a:srgbClr val="007F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416D4AA-2EF5-813A-3617-800D155225E2}"/>
              </a:ext>
            </a:extLst>
          </p:cNvPr>
          <p:cNvSpPr txBox="1"/>
          <p:nvPr/>
        </p:nvSpPr>
        <p:spPr>
          <a:xfrm>
            <a:off x="4527550" y="2793999"/>
            <a:ext cx="338455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02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5D0105C-EDDF-C88F-8833-84F1657CD043}"/>
              </a:ext>
            </a:extLst>
          </p:cNvPr>
          <p:cNvSpPr/>
          <p:nvPr/>
        </p:nvSpPr>
        <p:spPr>
          <a:xfrm>
            <a:off x="4527550" y="3403600"/>
            <a:ext cx="338455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3B57F4A-3488-CDB1-8019-B3F7FC694382}"/>
              </a:ext>
            </a:extLst>
          </p:cNvPr>
          <p:cNvSpPr/>
          <p:nvPr/>
        </p:nvSpPr>
        <p:spPr>
          <a:xfrm>
            <a:off x="4527550" y="3403600"/>
            <a:ext cx="338455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4F5109-F8B8-E4D5-1618-8513D7971EAC}"/>
              </a:ext>
            </a:extLst>
          </p:cNvPr>
          <p:cNvSpPr txBox="1"/>
          <p:nvPr/>
        </p:nvSpPr>
        <p:spPr>
          <a:xfrm>
            <a:off x="4718050" y="3619499"/>
            <a:ext cx="300355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Draft </a:t>
            </a: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806323-A0E7-7828-BB92-2110A78AB859}"/>
              </a:ext>
            </a:extLst>
          </p:cNvPr>
          <p:cNvSpPr txBox="1"/>
          <p:nvPr/>
        </p:nvSpPr>
        <p:spPr>
          <a:xfrm>
            <a:off x="4718050" y="4673599"/>
            <a:ext cx="300355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출하 </a:t>
            </a: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LOT 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유효성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선행 검사 이력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미완료 시 </a:t>
            </a: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</a:t>
            </a:r>
            <a:endParaRPr lang="ko-KR" altLang="en-US" sz="2000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39AF6932-6FD1-D7F4-5F39-67AC27A3488F}"/>
              </a:ext>
            </a:extLst>
          </p:cNvPr>
          <p:cNvCxnSpPr/>
          <p:nvPr/>
        </p:nvCxnSpPr>
        <p:spPr>
          <a:xfrm>
            <a:off x="7975600" y="5080000"/>
            <a:ext cx="279400" cy="0"/>
          </a:xfrm>
          <a:prstGeom prst="line">
            <a:avLst/>
          </a:prstGeom>
          <a:ln w="31750">
            <a:solidFill>
              <a:srgbClr val="007F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D912AA5-39DF-F9F7-B62F-7F39A33C30B7}"/>
              </a:ext>
            </a:extLst>
          </p:cNvPr>
          <p:cNvSpPr txBox="1"/>
          <p:nvPr/>
        </p:nvSpPr>
        <p:spPr>
          <a:xfrm>
            <a:off x="8343900" y="2793999"/>
            <a:ext cx="338455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03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8913EC1-BA3F-460D-130A-482B3F85D2C4}"/>
              </a:ext>
            </a:extLst>
          </p:cNvPr>
          <p:cNvSpPr/>
          <p:nvPr/>
        </p:nvSpPr>
        <p:spPr>
          <a:xfrm>
            <a:off x="8343900" y="3403600"/>
            <a:ext cx="338455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88E06C3-2BE4-0658-BEF2-DF022E1C9240}"/>
              </a:ext>
            </a:extLst>
          </p:cNvPr>
          <p:cNvSpPr/>
          <p:nvPr/>
        </p:nvSpPr>
        <p:spPr>
          <a:xfrm>
            <a:off x="8343900" y="3403600"/>
            <a:ext cx="338455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E8F8EF-A338-66B9-0641-3F3E1A5005F3}"/>
              </a:ext>
            </a:extLst>
          </p:cNvPr>
          <p:cNvSpPr txBox="1"/>
          <p:nvPr/>
        </p:nvSpPr>
        <p:spPr>
          <a:xfrm>
            <a:off x="8534400" y="3619499"/>
            <a:ext cx="300355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규칙 조회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B8FB1E-BE92-C2AD-766D-DBD37214DBF0}"/>
              </a:ext>
            </a:extLst>
          </p:cNvPr>
          <p:cNvSpPr txBox="1"/>
          <p:nvPr/>
        </p:nvSpPr>
        <p:spPr>
          <a:xfrm>
            <a:off x="8534400" y="4673599"/>
            <a:ext cx="300355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</a:t>
            </a: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</a:t>
            </a: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조건별 라인 선택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미등록 시 오류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EA0448A-49AB-1EF6-5140-B46C7FBEFC44}"/>
              </a:ext>
            </a:extLst>
          </p:cNvPr>
          <p:cNvCxnSpPr/>
          <p:nvPr/>
        </p:nvCxnSpPr>
        <p:spPr>
          <a:xfrm>
            <a:off x="11791950" y="5080000"/>
            <a:ext cx="279400" cy="0"/>
          </a:xfrm>
          <a:prstGeom prst="line">
            <a:avLst/>
          </a:prstGeom>
          <a:ln w="31750">
            <a:solidFill>
              <a:srgbClr val="007F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56C1539-15EE-A9A8-BC4D-F67348F04522}"/>
              </a:ext>
            </a:extLst>
          </p:cNvPr>
          <p:cNvSpPr txBox="1"/>
          <p:nvPr/>
        </p:nvSpPr>
        <p:spPr>
          <a:xfrm>
            <a:off x="12160250" y="2793999"/>
            <a:ext cx="338455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04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490CA4E-4BDF-3F89-16C4-BEE802E7FD34}"/>
              </a:ext>
            </a:extLst>
          </p:cNvPr>
          <p:cNvSpPr/>
          <p:nvPr/>
        </p:nvSpPr>
        <p:spPr>
          <a:xfrm>
            <a:off x="12160250" y="3403600"/>
            <a:ext cx="338455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839D7A6-7624-6116-86F5-5A3D25B48B7D}"/>
              </a:ext>
            </a:extLst>
          </p:cNvPr>
          <p:cNvSpPr/>
          <p:nvPr/>
        </p:nvSpPr>
        <p:spPr>
          <a:xfrm>
            <a:off x="12160250" y="3403600"/>
            <a:ext cx="338455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221F95-802D-5338-3E50-242A330B3BA4}"/>
              </a:ext>
            </a:extLst>
          </p:cNvPr>
          <p:cNvSpPr txBox="1"/>
          <p:nvPr/>
        </p:nvSpPr>
        <p:spPr>
          <a:xfrm>
            <a:off x="12350750" y="3619499"/>
            <a:ext cx="300355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전달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69E91F-4790-DA65-CA99-41D1F692A322}"/>
              </a:ext>
            </a:extLst>
          </p:cNvPr>
          <p:cNvSpPr txBox="1"/>
          <p:nvPr/>
        </p:nvSpPr>
        <p:spPr>
          <a:xfrm>
            <a:off x="12350750" y="4673599"/>
            <a:ext cx="300355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PACKING_END_YN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WORK_LINE_NO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OUT_CODE / OUT_MSG</a:t>
            </a:r>
            <a:endParaRPr lang="ko-KR" altLang="en-US" sz="2000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1484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4ED2CCB-767D-4E54-DF65-51762B8B1CDD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1E639D-E603-7980-5EE1-C96F6691B42E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 / IMPLEMENTATION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AF78F9-0236-87F3-9936-220B01650482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분기 판단과 중량 보고를 별도 </a:t>
            </a: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</a:t>
            </a: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분리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934CD-BA7F-EAEA-9DE9-12DEFB5D1E88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 0.7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공정 분리를 반영한 요청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 구조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623C33-8C7B-79F5-E52A-846849F42AAB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C0568D-C819-C922-49CC-3BEBE4A4F68E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7F63EF-33A9-35C5-93F0-8F2DC34D60FA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분기 플래그는 출력 완료가 아니다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출력 요청과 다른 단계의 의미를 갖는다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D35840-7B8B-DF08-C772-66856A95D911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정의서 </a:t>
            </a: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p.4–5 | Service1.LINE_02_01_01_ORDER · LINE_02_01_02_ORDER</a:t>
            </a:r>
            <a:endParaRPr lang="ko-KR" altLang="en-US" sz="11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59C66C-6C5A-3B95-E807-B56BC919CC2A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EE3CF8C-2D5B-F1A3-F3A6-20CE408F3DE5}"/>
              </a:ext>
            </a:extLst>
          </p:cNvPr>
          <p:cNvSpPr/>
          <p:nvPr/>
        </p:nvSpPr>
        <p:spPr>
          <a:xfrm>
            <a:off x="711200" y="2768600"/>
            <a:ext cx="7264400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C1BEA7A-E114-F03A-3385-D379CB9DD9F0}"/>
              </a:ext>
            </a:extLst>
          </p:cNvPr>
          <p:cNvSpPr/>
          <p:nvPr/>
        </p:nvSpPr>
        <p:spPr>
          <a:xfrm>
            <a:off x="711200" y="2768600"/>
            <a:ext cx="7264400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926431-40FE-DDEF-3FD6-BAED0FC41B96}"/>
              </a:ext>
            </a:extLst>
          </p:cNvPr>
          <p:cNvSpPr txBox="1"/>
          <p:nvPr/>
        </p:nvSpPr>
        <p:spPr>
          <a:xfrm>
            <a:off x="1003300" y="3047999"/>
            <a:ext cx="66802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133299-56F2-3CB7-8618-038072B5494C}"/>
              </a:ext>
            </a:extLst>
          </p:cNvPr>
          <p:cNvSpPr txBox="1"/>
          <p:nvPr/>
        </p:nvSpPr>
        <p:spPr>
          <a:xfrm>
            <a:off x="1003300" y="3632199"/>
            <a:ext cx="6680200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01_01 · </a:t>
            </a: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분기 지시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2B5C02-AA56-2912-0CF0-0264626F6D89}"/>
              </a:ext>
            </a:extLst>
          </p:cNvPr>
          <p:cNvSpPr txBox="1"/>
          <p:nvPr/>
        </p:nvSpPr>
        <p:spPr>
          <a:xfrm>
            <a:off x="1003300" y="4610099"/>
            <a:ext cx="6680200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바코드와 장비 코드만 수신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LOT·Draft·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라인 검증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Carton = 1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이면 분기 플래그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단계에서는 인쇄하지 않음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411D04C-5758-7DDF-75B8-4332427CE1A9}"/>
              </a:ext>
            </a:extLst>
          </p:cNvPr>
          <p:cNvSpPr/>
          <p:nvPr/>
        </p:nvSpPr>
        <p:spPr>
          <a:xfrm>
            <a:off x="8280400" y="2768600"/>
            <a:ext cx="7264400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88A5AB3-E408-BB78-E162-8C235B442194}"/>
              </a:ext>
            </a:extLst>
          </p:cNvPr>
          <p:cNvSpPr/>
          <p:nvPr/>
        </p:nvSpPr>
        <p:spPr>
          <a:xfrm>
            <a:off x="8280400" y="2768600"/>
            <a:ext cx="7264400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DBA9B4-ED39-B22D-BEF1-5645BDA95AC5}"/>
              </a:ext>
            </a:extLst>
          </p:cNvPr>
          <p:cNvSpPr txBox="1"/>
          <p:nvPr/>
        </p:nvSpPr>
        <p:spPr>
          <a:xfrm>
            <a:off x="8572500" y="3047999"/>
            <a:ext cx="66802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06D895-1949-1990-1966-0C777AF1758C}"/>
              </a:ext>
            </a:extLst>
          </p:cNvPr>
          <p:cNvSpPr txBox="1"/>
          <p:nvPr/>
        </p:nvSpPr>
        <p:spPr>
          <a:xfrm>
            <a:off x="8572500" y="3632199"/>
            <a:ext cx="6680200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01_02 · </a:t>
            </a: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 실적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91A0FB-E17E-9490-0171-8471EDEBA61B}"/>
              </a:ext>
            </a:extLst>
          </p:cNvPr>
          <p:cNvSpPr txBox="1"/>
          <p:nvPr/>
        </p:nvSpPr>
        <p:spPr>
          <a:xfrm>
            <a:off x="8572500" y="4610099"/>
            <a:ext cx="6680200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 요청에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WEIGHT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 갱신 후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WEIGHT_YN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반환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카톤 처리 시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Packing List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코드는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PRINT_YN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 반환</a:t>
            </a:r>
          </a:p>
        </p:txBody>
      </p:sp>
    </p:spTree>
    <p:extLst>
      <p:ext uri="{BB962C8B-B14F-4D97-AF65-F5344CB8AC3E}">
        <p14:creationId xmlns:p14="http://schemas.microsoft.com/office/powerpoint/2010/main" val="1052610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9D3DC3D-B530-9170-1043-902AF1318E89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0496D-C50A-E509-A3A4-1B35CDB8B544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 / IMPLEMENTATION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97A59C-FFC5-111B-633F-F21ADF467AFE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 처리</a:t>
            </a: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</a:t>
            </a: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 </a:t>
            </a: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갱신 경로와 연결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F7C890-BD95-3AF3-E5B8-2AC74D15CF97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측정값의 유효성을 검사하고 출하 차수 상태에 따라 처리한다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48252A-42AA-868C-F466-7D1D9C20F989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07EE4E-D590-DCDA-F8A4-2725DBAF62B7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7FB7A6-C629-15D2-6E0E-58D9D57DA3A1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C#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에서는 독립적인 중량 상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하한 비교가 아니라 유효성 검사와 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 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갱신을 수행한다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8F0C0E-7FAF-BC98-2ECF-F917A0FCA20A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WeightCheckBiz.cs | StoredProcedule.weightChange | SchWipShipMasterDAO.IsWeightSequenceClosed</a:t>
            </a:r>
            <a:endParaRPr lang="ko-KR" altLang="en-US" sz="11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C40032-46DC-DC83-A123-17F77D1D95BB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5D5517-38F0-88A4-BE77-258DB3452C84}"/>
              </a:ext>
            </a:extLst>
          </p:cNvPr>
          <p:cNvSpPr txBox="1"/>
          <p:nvPr/>
        </p:nvSpPr>
        <p:spPr>
          <a:xfrm>
            <a:off x="711200" y="2793999"/>
            <a:ext cx="338455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01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6F4160-A211-03A5-373F-39581726BB84}"/>
              </a:ext>
            </a:extLst>
          </p:cNvPr>
          <p:cNvSpPr/>
          <p:nvPr/>
        </p:nvSpPr>
        <p:spPr>
          <a:xfrm>
            <a:off x="711200" y="3403600"/>
            <a:ext cx="338455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2851D88-CD23-862D-DCD0-88677A3A55DC}"/>
              </a:ext>
            </a:extLst>
          </p:cNvPr>
          <p:cNvSpPr/>
          <p:nvPr/>
        </p:nvSpPr>
        <p:spPr>
          <a:xfrm>
            <a:off x="711200" y="3403600"/>
            <a:ext cx="338455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690DB5-6C20-E00A-27C3-5997571EDD78}"/>
              </a:ext>
            </a:extLst>
          </p:cNvPr>
          <p:cNvSpPr txBox="1"/>
          <p:nvPr/>
        </p:nvSpPr>
        <p:spPr>
          <a:xfrm>
            <a:off x="901700" y="3619499"/>
            <a:ext cx="300355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검사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565023-C4F1-6837-8555-80A40809CB9C}"/>
              </a:ext>
            </a:extLst>
          </p:cNvPr>
          <p:cNvSpPr txBox="1"/>
          <p:nvPr/>
        </p:nvSpPr>
        <p:spPr>
          <a:xfrm>
            <a:off x="901700" y="4673599"/>
            <a:ext cx="300355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양수</a:t>
            </a: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숫자 검증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LOT 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과거 출하일 제한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78C977D-6BD9-38B4-1C24-2C2E6E4369E9}"/>
              </a:ext>
            </a:extLst>
          </p:cNvPr>
          <p:cNvCxnSpPr/>
          <p:nvPr/>
        </p:nvCxnSpPr>
        <p:spPr>
          <a:xfrm>
            <a:off x="4159250" y="5080000"/>
            <a:ext cx="279400" cy="0"/>
          </a:xfrm>
          <a:prstGeom prst="line">
            <a:avLst/>
          </a:prstGeom>
          <a:ln w="31750">
            <a:solidFill>
              <a:srgbClr val="007F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1F4BB94-EEFD-F882-839B-8A57E951F034}"/>
              </a:ext>
            </a:extLst>
          </p:cNvPr>
          <p:cNvSpPr txBox="1"/>
          <p:nvPr/>
        </p:nvSpPr>
        <p:spPr>
          <a:xfrm>
            <a:off x="4527550" y="2793999"/>
            <a:ext cx="338455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02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7904CC-B34F-A71B-AC8D-0D5FAE2BE2D1}"/>
              </a:ext>
            </a:extLst>
          </p:cNvPr>
          <p:cNvSpPr/>
          <p:nvPr/>
        </p:nvSpPr>
        <p:spPr>
          <a:xfrm>
            <a:off x="4527550" y="3403600"/>
            <a:ext cx="338455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02848D5-D5C9-81FF-7703-1DBB4DE78FA9}"/>
              </a:ext>
            </a:extLst>
          </p:cNvPr>
          <p:cNvSpPr/>
          <p:nvPr/>
        </p:nvSpPr>
        <p:spPr>
          <a:xfrm>
            <a:off x="4527550" y="3403600"/>
            <a:ext cx="338455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37AF64-1922-7CF5-9631-47B05D81AF2D}"/>
              </a:ext>
            </a:extLst>
          </p:cNvPr>
          <p:cNvSpPr txBox="1"/>
          <p:nvPr/>
        </p:nvSpPr>
        <p:spPr>
          <a:xfrm>
            <a:off x="4718050" y="3619499"/>
            <a:ext cx="300355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차수 마감 확인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9BFD91-ECA2-4763-CBBE-4E372D6618CE}"/>
              </a:ext>
            </a:extLst>
          </p:cNvPr>
          <p:cNvSpPr txBox="1"/>
          <p:nvPr/>
        </p:nvSpPr>
        <p:spPr>
          <a:xfrm>
            <a:off x="4718050" y="4673599"/>
            <a:ext cx="300355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출하일</a:t>
            </a: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공장</a:t>
            </a: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차수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마감 이력 조회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마감이면 갱신 생략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36CAF5CC-100F-A315-8D56-504751F0F324}"/>
              </a:ext>
            </a:extLst>
          </p:cNvPr>
          <p:cNvCxnSpPr/>
          <p:nvPr/>
        </p:nvCxnSpPr>
        <p:spPr>
          <a:xfrm>
            <a:off x="7975600" y="5080000"/>
            <a:ext cx="279400" cy="0"/>
          </a:xfrm>
          <a:prstGeom prst="line">
            <a:avLst/>
          </a:prstGeom>
          <a:ln w="31750">
            <a:solidFill>
              <a:srgbClr val="007F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F264F12-0D7F-69F8-80A8-3532B0C049B2}"/>
              </a:ext>
            </a:extLst>
          </p:cNvPr>
          <p:cNvSpPr txBox="1"/>
          <p:nvPr/>
        </p:nvSpPr>
        <p:spPr>
          <a:xfrm>
            <a:off x="8343900" y="2793999"/>
            <a:ext cx="338455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03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E4E3015-6D81-400F-2FA1-A51B31EA88AF}"/>
              </a:ext>
            </a:extLst>
          </p:cNvPr>
          <p:cNvSpPr/>
          <p:nvPr/>
        </p:nvSpPr>
        <p:spPr>
          <a:xfrm>
            <a:off x="8343900" y="3403600"/>
            <a:ext cx="338455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B1F995C-6C30-19BC-F9EF-A2EAD1B87D6E}"/>
              </a:ext>
            </a:extLst>
          </p:cNvPr>
          <p:cNvSpPr/>
          <p:nvPr/>
        </p:nvSpPr>
        <p:spPr>
          <a:xfrm>
            <a:off x="8343900" y="3403600"/>
            <a:ext cx="338455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E320DC-F950-4E24-2CBD-2F30E218A1E8}"/>
              </a:ext>
            </a:extLst>
          </p:cNvPr>
          <p:cNvSpPr txBox="1"/>
          <p:nvPr/>
        </p:nvSpPr>
        <p:spPr>
          <a:xfrm>
            <a:off x="8534400" y="3619499"/>
            <a:ext cx="300355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 </a:t>
            </a: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반영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721BB2-DE7B-2988-FD88-CE22A3B4790D}"/>
              </a:ext>
            </a:extLst>
          </p:cNvPr>
          <p:cNvSpPr txBox="1"/>
          <p:nvPr/>
        </p:nvSpPr>
        <p:spPr>
          <a:xfrm>
            <a:off x="8534400" y="4673599"/>
            <a:ext cx="300355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 포맷 변환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 프로시저 호출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일부 고객 보조값 저장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D4363A7-8D3F-2EBD-0B39-82D0CF63D8BC}"/>
              </a:ext>
            </a:extLst>
          </p:cNvPr>
          <p:cNvCxnSpPr/>
          <p:nvPr/>
        </p:nvCxnSpPr>
        <p:spPr>
          <a:xfrm>
            <a:off x="11791950" y="5080000"/>
            <a:ext cx="279400" cy="0"/>
          </a:xfrm>
          <a:prstGeom prst="line">
            <a:avLst/>
          </a:prstGeom>
          <a:ln w="31750">
            <a:solidFill>
              <a:srgbClr val="007F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9342B4B-EAD7-657D-CA5D-20BAFF8046B7}"/>
              </a:ext>
            </a:extLst>
          </p:cNvPr>
          <p:cNvSpPr txBox="1"/>
          <p:nvPr/>
        </p:nvSpPr>
        <p:spPr>
          <a:xfrm>
            <a:off x="12160250" y="2793999"/>
            <a:ext cx="338455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04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D9ED330-7C0F-DD02-57B7-14AFA113BA16}"/>
              </a:ext>
            </a:extLst>
          </p:cNvPr>
          <p:cNvSpPr/>
          <p:nvPr/>
        </p:nvSpPr>
        <p:spPr>
          <a:xfrm>
            <a:off x="12160250" y="3403600"/>
            <a:ext cx="338455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AB2C6C8-CED5-4D10-604E-E515B556ED23}"/>
              </a:ext>
            </a:extLst>
          </p:cNvPr>
          <p:cNvSpPr/>
          <p:nvPr/>
        </p:nvSpPr>
        <p:spPr>
          <a:xfrm>
            <a:off x="12160250" y="3403600"/>
            <a:ext cx="338455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F70F35-C6FF-2E75-C343-0D0189D60B7F}"/>
              </a:ext>
            </a:extLst>
          </p:cNvPr>
          <p:cNvSpPr txBox="1"/>
          <p:nvPr/>
        </p:nvSpPr>
        <p:spPr>
          <a:xfrm>
            <a:off x="12350750" y="3619499"/>
            <a:ext cx="300355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후속 판단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5F7D1F-175C-2F99-D7BB-FEC10F14B753}"/>
              </a:ext>
            </a:extLst>
          </p:cNvPr>
          <p:cNvSpPr txBox="1"/>
          <p:nvPr/>
        </p:nvSpPr>
        <p:spPr>
          <a:xfrm>
            <a:off x="12350750" y="4673599"/>
            <a:ext cx="300355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WEIGHT_YN 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반환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카톤 처리 확인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요청 분기</a:t>
            </a:r>
          </a:p>
        </p:txBody>
      </p:sp>
    </p:spTree>
    <p:extLst>
      <p:ext uri="{BB962C8B-B14F-4D97-AF65-F5344CB8AC3E}">
        <p14:creationId xmlns:p14="http://schemas.microsoft.com/office/powerpoint/2010/main" val="1548304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A06B604-D00D-D9D3-49F4-F8C6C8742108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009897-8F6A-9D51-1BD3-0025AE595587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 / IMPLEMENTATION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5B31AC-DDA4-CBFC-B5EA-9B4E4E13EE6C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테이핑</a:t>
            </a: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포장 조건을 설비 설정값으로 변환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0AB359-50D8-AE38-D1B6-CC80C2B1A516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LINE_02_02_ORDER · 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규격과 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 / TURN / H 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 지시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E7670F-5956-E1AE-9E66-8380117E46F1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0BDDDAE-2D77-5095-E162-9EA278DBB1E9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8E5F92-BD0C-F37C-1FE6-70E1C9D046C4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제품의 포장 조건을 설비가 사용할 수 있는 타입 코드로 제공한다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79AEAC-C5C5-EC74-1F2E-BF68C3A079FE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BoxScanCheckBiz.getTapingInfo | ScanRuleDAO.getBoxDimension · getOuterLabelPrintRule</a:t>
            </a:r>
            <a:endParaRPr lang="ko-KR" altLang="en-US" sz="11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727E66-33D6-5BDD-6A65-C7E2BF7698CF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AD323C-32B5-0DFE-0E21-0B7E6DB0200D}"/>
              </a:ext>
            </a:extLst>
          </p:cNvPr>
          <p:cNvSpPr/>
          <p:nvPr/>
        </p:nvSpPr>
        <p:spPr>
          <a:xfrm>
            <a:off x="711200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FD72D0C-353B-4667-5EBD-5B830073E0CF}"/>
              </a:ext>
            </a:extLst>
          </p:cNvPr>
          <p:cNvSpPr/>
          <p:nvPr/>
        </p:nvSpPr>
        <p:spPr>
          <a:xfrm>
            <a:off x="711200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50D24B-0509-F862-ED6E-336BEB8F64F0}"/>
              </a:ext>
            </a:extLst>
          </p:cNvPr>
          <p:cNvSpPr txBox="1"/>
          <p:nvPr/>
        </p:nvSpPr>
        <p:spPr>
          <a:xfrm>
            <a:off x="1003300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93BFD0-35ED-2085-05DC-C0A95D5E88C1}"/>
              </a:ext>
            </a:extLst>
          </p:cNvPr>
          <p:cNvSpPr txBox="1"/>
          <p:nvPr/>
        </p:nvSpPr>
        <p:spPr>
          <a:xfrm>
            <a:off x="1003300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출하</a:t>
            </a:r>
            <a:r>
              <a:rPr lang="en-US" altLang="ko-KR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포장 조건 수집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56FCC7-18D0-28C1-F3B4-299D27AA6CFF}"/>
              </a:ext>
            </a:extLst>
          </p:cNvPr>
          <p:cNvSpPr txBox="1"/>
          <p:nvPr/>
        </p:nvSpPr>
        <p:spPr>
          <a:xfrm>
            <a:off x="1003300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Draft·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라인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 상태 확인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원본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Device·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 옵션 조회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 박스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SID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수량 계산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17454D4-0132-6EC2-02E4-00AE76F86515}"/>
              </a:ext>
            </a:extLst>
          </p:cNvPr>
          <p:cNvSpPr/>
          <p:nvPr/>
        </p:nvSpPr>
        <p:spPr>
          <a:xfrm>
            <a:off x="5757333" y="2768600"/>
            <a:ext cx="4741334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64AC45C-42F7-FE69-5F4E-2D0C806E0E1F}"/>
              </a:ext>
            </a:extLst>
          </p:cNvPr>
          <p:cNvSpPr/>
          <p:nvPr/>
        </p:nvSpPr>
        <p:spPr>
          <a:xfrm>
            <a:off x="5757333" y="2768600"/>
            <a:ext cx="4741334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FE7B9E-2D34-E936-D472-7301ABF0E8F0}"/>
              </a:ext>
            </a:extLst>
          </p:cNvPr>
          <p:cNvSpPr txBox="1"/>
          <p:nvPr/>
        </p:nvSpPr>
        <p:spPr>
          <a:xfrm>
            <a:off x="6049433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A3155E-8585-ABC8-83C0-159E00C05423}"/>
              </a:ext>
            </a:extLst>
          </p:cNvPr>
          <p:cNvSpPr txBox="1"/>
          <p:nvPr/>
        </p:nvSpPr>
        <p:spPr>
          <a:xfrm>
            <a:off x="6049433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조건별 규칙 선택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EC101C-834C-FF42-187E-BA84052C7388}"/>
              </a:ext>
            </a:extLst>
          </p:cNvPr>
          <p:cNvSpPr txBox="1"/>
          <p:nvPr/>
        </p:nvSpPr>
        <p:spPr>
          <a:xfrm>
            <a:off x="6049433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국가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조건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구체 조건과 공통 규칙 매칭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수량을 수용하는 박스 규칙 조회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A7EDC44-9919-74FF-7642-BA3AEF14044B}"/>
              </a:ext>
            </a:extLst>
          </p:cNvPr>
          <p:cNvSpPr/>
          <p:nvPr/>
        </p:nvSpPr>
        <p:spPr>
          <a:xfrm>
            <a:off x="10803467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3361A41-DF13-2A6F-3DDE-9F195FC18B0E}"/>
              </a:ext>
            </a:extLst>
          </p:cNvPr>
          <p:cNvSpPr/>
          <p:nvPr/>
        </p:nvSpPr>
        <p:spPr>
          <a:xfrm>
            <a:off x="10803467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EF6920-760D-20FF-FFCC-071BAB9595BC}"/>
              </a:ext>
            </a:extLst>
          </p:cNvPr>
          <p:cNvSpPr txBox="1"/>
          <p:nvPr/>
        </p:nvSpPr>
        <p:spPr>
          <a:xfrm>
            <a:off x="11095567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E0D6A3-8A4B-AD72-C733-1AAD5E200755}"/>
              </a:ext>
            </a:extLst>
          </p:cNvPr>
          <p:cNvSpPr txBox="1"/>
          <p:nvPr/>
        </p:nvSpPr>
        <p:spPr>
          <a:xfrm>
            <a:off x="11095567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 지시 응답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71992D-3AE6-9CB7-9497-F5F6D98576B1}"/>
              </a:ext>
            </a:extLst>
          </p:cNvPr>
          <p:cNvSpPr txBox="1"/>
          <p:nvPr/>
        </p:nvSpPr>
        <p:spPr>
          <a:xfrm>
            <a:off x="11095567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BOX_TYPE_CD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I_TAPING_TYPE_CD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TURN_TYPE_CD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H_TAPING_TYPE_CD</a:t>
            </a:r>
            <a:endParaRPr lang="ko-KR" altLang="en-US" sz="2100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2145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F5A3581-036D-44AB-3FF3-D7DEAA5D94AA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A0DC26-50EB-59D9-3114-6A2C873FE8A4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 / IMPLEMENTATION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B84A91-618B-223A-6FDD-CD54E01FCF68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라벨링</a:t>
            </a: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 지시와 인쇄 요청을 함께 제공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1AD63C-7398-047B-728C-0A1F90A5789D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LINE_02_03_ORDER · 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로봇에 필요한 정보와 출력 시스템 연동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5E64B5F-14C1-311D-9B06-93DF686B061F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59A126-5469-07C3-01A5-ACB8B2748807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709C3B-8F3B-B235-E61D-E7DEBB804101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지시정보 반환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인쇄 호출 접수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인쇄 완료는 서로 다른 상태다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4CC136-DD1C-31EA-8F42-08DDD968A772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BoxScanCheckBiz.getCheckingScanInfo0203 | OuterLabelPrintBiz | Service1.QueueOuterLabelPrint</a:t>
            </a:r>
            <a:endParaRPr lang="ko-KR" altLang="en-US" sz="11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A6AA86-015B-4A3A-B02C-E3904506E132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4C9535A-3891-687F-D4B4-E134876661C7}"/>
              </a:ext>
            </a:extLst>
          </p:cNvPr>
          <p:cNvSpPr/>
          <p:nvPr/>
        </p:nvSpPr>
        <p:spPr>
          <a:xfrm>
            <a:off x="711200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F9280F-2234-6EF2-BA1C-1015B2E67C77}"/>
              </a:ext>
            </a:extLst>
          </p:cNvPr>
          <p:cNvSpPr/>
          <p:nvPr/>
        </p:nvSpPr>
        <p:spPr>
          <a:xfrm>
            <a:off x="711200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62D36D-1338-84EA-6F94-604F80EB2440}"/>
              </a:ext>
            </a:extLst>
          </p:cNvPr>
          <p:cNvSpPr txBox="1"/>
          <p:nvPr/>
        </p:nvSpPr>
        <p:spPr>
          <a:xfrm>
            <a:off x="1003300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FC3139-AE26-235D-982A-C7CCFA2FE6B9}"/>
              </a:ext>
            </a:extLst>
          </p:cNvPr>
          <p:cNvSpPr txBox="1"/>
          <p:nvPr/>
        </p:nvSpPr>
        <p:spPr>
          <a:xfrm>
            <a:off x="1003300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로봇 지시정보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57F16C-009B-997F-5DFA-56F3AC8DA5E6}"/>
              </a:ext>
            </a:extLst>
          </p:cNvPr>
          <p:cNvSpPr txBox="1"/>
          <p:nvPr/>
        </p:nvSpPr>
        <p:spPr>
          <a:xfrm>
            <a:off x="1003300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라벨 필드 구성</a:t>
            </a:r>
          </a:p>
          <a:p>
            <a:pPr>
              <a:spcAft>
                <a:spcPts val="800"/>
              </a:spcAft>
            </a:pPr>
            <a:r>
              <a:rPr lang="ko-KR" altLang="en-US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 번호</a:t>
            </a:r>
            <a:r>
              <a:rPr lang="en-US" altLang="ko-KR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부착 위치 반환</a:t>
            </a:r>
          </a:p>
          <a:p>
            <a:pPr>
              <a:spcAft>
                <a:spcPts val="800"/>
              </a:spcAft>
            </a:pPr>
            <a:r>
              <a:rPr lang="ko-KR" altLang="en-US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미사용 값 정규화</a:t>
            </a:r>
          </a:p>
          <a:p>
            <a:pPr>
              <a:spcAft>
                <a:spcPts val="800"/>
              </a:spcAft>
            </a:pPr>
            <a:r>
              <a:rPr lang="ko-KR" altLang="en-US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유효 프린터 수로 </a:t>
            </a:r>
            <a:r>
              <a:rPr lang="en-US" altLang="ko-KR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LABEL_CNT </a:t>
            </a:r>
            <a:r>
              <a:rPr lang="ko-KR" altLang="en-US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1FA3E4F-94E2-67BF-E091-EAA96E97C405}"/>
              </a:ext>
            </a:extLst>
          </p:cNvPr>
          <p:cNvSpPr/>
          <p:nvPr/>
        </p:nvSpPr>
        <p:spPr>
          <a:xfrm>
            <a:off x="5757333" y="2768600"/>
            <a:ext cx="4741334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8884C8B-F711-7B3E-69F0-111E3FD68199}"/>
              </a:ext>
            </a:extLst>
          </p:cNvPr>
          <p:cNvSpPr/>
          <p:nvPr/>
        </p:nvSpPr>
        <p:spPr>
          <a:xfrm>
            <a:off x="5757333" y="2768600"/>
            <a:ext cx="4741334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ED2C97-7E4C-0C18-5709-AF45649D4400}"/>
              </a:ext>
            </a:extLst>
          </p:cNvPr>
          <p:cNvSpPr txBox="1"/>
          <p:nvPr/>
        </p:nvSpPr>
        <p:spPr>
          <a:xfrm>
            <a:off x="6049433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87CB5B-1B74-0300-C079-317FF91CBCE0}"/>
              </a:ext>
            </a:extLst>
          </p:cNvPr>
          <p:cNvSpPr txBox="1"/>
          <p:nvPr/>
        </p:nvSpPr>
        <p:spPr>
          <a:xfrm>
            <a:off x="6049433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 연동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FCA5D4-3AF1-8D14-4742-8ADE4BE231A4}"/>
              </a:ext>
            </a:extLst>
          </p:cNvPr>
          <p:cNvSpPr txBox="1"/>
          <p:nvPr/>
        </p:nvSpPr>
        <p:spPr>
          <a:xfrm>
            <a:off x="6049433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라인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 번호 →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OUTQ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Zebra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잔여 작업 확인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시도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eMES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라벨 요청을 백그라운드 등록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고객별 라벨 형식 분기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3F7F349-8371-37A2-C942-74511F21E2A1}"/>
              </a:ext>
            </a:extLst>
          </p:cNvPr>
          <p:cNvSpPr/>
          <p:nvPr/>
        </p:nvSpPr>
        <p:spPr>
          <a:xfrm>
            <a:off x="10803467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64AAB5B-DE8B-BA3A-053A-CDEBE39D1FF8}"/>
              </a:ext>
            </a:extLst>
          </p:cNvPr>
          <p:cNvSpPr/>
          <p:nvPr/>
        </p:nvSpPr>
        <p:spPr>
          <a:xfrm>
            <a:off x="10803467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1632A8-A42D-0AB1-15A5-BFDEB3775037}"/>
              </a:ext>
            </a:extLst>
          </p:cNvPr>
          <p:cNvSpPr txBox="1"/>
          <p:nvPr/>
        </p:nvSpPr>
        <p:spPr>
          <a:xfrm>
            <a:off x="11095567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0CD6C8-D226-9936-8E9E-5B9E52B0B238}"/>
              </a:ext>
            </a:extLst>
          </p:cNvPr>
          <p:cNvSpPr txBox="1"/>
          <p:nvPr/>
        </p:nvSpPr>
        <p:spPr>
          <a:xfrm>
            <a:off x="11095567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완료 의미 구분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DDE87F-1B10-DB22-F1D6-748504779362}"/>
              </a:ext>
            </a:extLst>
          </p:cNvPr>
          <p:cNvSpPr txBox="1"/>
          <p:nvPr/>
        </p:nvSpPr>
        <p:spPr>
          <a:xfrm>
            <a:off x="11095567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응답은 물리적 출력 보장 아님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백그라운드 실패는 </a:t>
            </a: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Trace 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기록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호출은 </a:t>
            </a: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 라벨 프린터 기준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다중 프린터 실제 출력은 별도 확인</a:t>
            </a:r>
          </a:p>
        </p:txBody>
      </p:sp>
    </p:spTree>
    <p:extLst>
      <p:ext uri="{BB962C8B-B14F-4D97-AF65-F5344CB8AC3E}">
        <p14:creationId xmlns:p14="http://schemas.microsoft.com/office/powerpoint/2010/main" val="3490271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00F970D-15F7-BF92-00D7-23D801BC4B5A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39EFBB-06BE-B5F0-2A51-A82FD653CEF7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 / IMPLEMENTATION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969360-BE58-296C-EA17-0294ABC87AE8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Packing List: </a:t>
            </a: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출하 상태에 맞춘 보고서 출력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D67B19-184A-8CD1-D233-C9595C8868C2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Invoice 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중량 처리 상태와 고객별 보고서 규칙을 연계한다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899356-D97A-043C-1644-1D73E06761F6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2A29DE-E62C-6B4E-CB25-731601AE400E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008466-1EDC-D58A-DAFB-D59FCB86D796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 스캔 시 중복 출력 방지를 보장하는 영속 이력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멱등 키는 별도 보완 대상이다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C3D0D-9334-1AFD-B009-EDB264E8A450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Service1.PrintPackingListByCarton | PackingListPrintBiz.cs | ScanRuleDAO</a:t>
            </a:r>
            <a:endParaRPr lang="ko-KR" altLang="en-US" sz="11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B909BA-933E-1C9A-7AA1-0BE31CE1C011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F4F4BE-C620-62C0-30B1-D4074CC43DA3}"/>
              </a:ext>
            </a:extLst>
          </p:cNvPr>
          <p:cNvSpPr txBox="1"/>
          <p:nvPr/>
        </p:nvSpPr>
        <p:spPr>
          <a:xfrm>
            <a:off x="711200" y="2793999"/>
            <a:ext cx="338455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01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DE4755-E7F6-C9CE-4732-68C8D48DA342}"/>
              </a:ext>
            </a:extLst>
          </p:cNvPr>
          <p:cNvSpPr/>
          <p:nvPr/>
        </p:nvSpPr>
        <p:spPr>
          <a:xfrm>
            <a:off x="711200" y="3403600"/>
            <a:ext cx="338455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07DE3EF-0D7A-B956-5FB1-C3E14F0D3C97}"/>
              </a:ext>
            </a:extLst>
          </p:cNvPr>
          <p:cNvSpPr/>
          <p:nvPr/>
        </p:nvSpPr>
        <p:spPr>
          <a:xfrm>
            <a:off x="711200" y="3403600"/>
            <a:ext cx="338455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196E1A-1025-23A3-E016-3C3C606E62CE}"/>
              </a:ext>
            </a:extLst>
          </p:cNvPr>
          <p:cNvSpPr txBox="1"/>
          <p:nvPr/>
        </p:nvSpPr>
        <p:spPr>
          <a:xfrm>
            <a:off x="901700" y="3619499"/>
            <a:ext cx="300355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조건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DD6661-E6C5-0D64-A2A1-8DEC0975F4A4}"/>
              </a:ext>
            </a:extLst>
          </p:cNvPr>
          <p:cNvSpPr txBox="1"/>
          <p:nvPr/>
        </p:nvSpPr>
        <p:spPr>
          <a:xfrm>
            <a:off x="901700" y="4673599"/>
            <a:ext cx="300355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카톤 중량 처리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고객별 출력 제외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라인별 프린터 선택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6A4F2F1-899C-A589-12EB-791514614AF7}"/>
              </a:ext>
            </a:extLst>
          </p:cNvPr>
          <p:cNvCxnSpPr/>
          <p:nvPr/>
        </p:nvCxnSpPr>
        <p:spPr>
          <a:xfrm>
            <a:off x="4159250" y="5080000"/>
            <a:ext cx="279400" cy="0"/>
          </a:xfrm>
          <a:prstGeom prst="line">
            <a:avLst/>
          </a:prstGeom>
          <a:ln w="31750">
            <a:solidFill>
              <a:srgbClr val="007F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06687F2-2BDF-C5B3-C68D-9AA4DCDC9016}"/>
              </a:ext>
            </a:extLst>
          </p:cNvPr>
          <p:cNvSpPr txBox="1"/>
          <p:nvPr/>
        </p:nvSpPr>
        <p:spPr>
          <a:xfrm>
            <a:off x="4527550" y="2793999"/>
            <a:ext cx="338455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02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F16F4FA-D8D4-B111-73FB-4842AABA954A}"/>
              </a:ext>
            </a:extLst>
          </p:cNvPr>
          <p:cNvSpPr/>
          <p:nvPr/>
        </p:nvSpPr>
        <p:spPr>
          <a:xfrm>
            <a:off x="4527550" y="3403600"/>
            <a:ext cx="338455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1F2BD2C-8A85-2069-583D-A9D6851E89AC}"/>
              </a:ext>
            </a:extLst>
          </p:cNvPr>
          <p:cNvSpPr/>
          <p:nvPr/>
        </p:nvSpPr>
        <p:spPr>
          <a:xfrm>
            <a:off x="4527550" y="3403600"/>
            <a:ext cx="338455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ADF046-875C-8290-F237-21477FBF0FE1}"/>
              </a:ext>
            </a:extLst>
          </p:cNvPr>
          <p:cNvSpPr txBox="1"/>
          <p:nvPr/>
        </p:nvSpPr>
        <p:spPr>
          <a:xfrm>
            <a:off x="4718050" y="3619499"/>
            <a:ext cx="300355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보고서 선택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67BFDC-1B71-82FF-6234-E3F8DCBD4B03}"/>
              </a:ext>
            </a:extLst>
          </p:cNvPr>
          <p:cNvSpPr txBox="1"/>
          <p:nvPr/>
        </p:nvSpPr>
        <p:spPr>
          <a:xfrm>
            <a:off x="4718050" y="4673599"/>
            <a:ext cx="300355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출하 유형</a:t>
            </a: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</a:t>
            </a: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보고서 규칙 적용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특정 고객 별도 양식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3990442-B9F5-6B2C-6DB5-4CF480A3EF2D}"/>
              </a:ext>
            </a:extLst>
          </p:cNvPr>
          <p:cNvCxnSpPr/>
          <p:nvPr/>
        </p:nvCxnSpPr>
        <p:spPr>
          <a:xfrm>
            <a:off x="7975600" y="5080000"/>
            <a:ext cx="279400" cy="0"/>
          </a:xfrm>
          <a:prstGeom prst="line">
            <a:avLst/>
          </a:prstGeom>
          <a:ln w="31750">
            <a:solidFill>
              <a:srgbClr val="007F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63DD6B6-9679-E72C-C15B-6E7476BD2B5B}"/>
              </a:ext>
            </a:extLst>
          </p:cNvPr>
          <p:cNvSpPr txBox="1"/>
          <p:nvPr/>
        </p:nvSpPr>
        <p:spPr>
          <a:xfrm>
            <a:off x="8343900" y="2793999"/>
            <a:ext cx="338455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03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33C85CC-1FFB-5CEB-13BA-04456743CA14}"/>
              </a:ext>
            </a:extLst>
          </p:cNvPr>
          <p:cNvSpPr/>
          <p:nvPr/>
        </p:nvSpPr>
        <p:spPr>
          <a:xfrm>
            <a:off x="8343900" y="3403600"/>
            <a:ext cx="338455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E32276B-568F-C8AF-2C64-B1D2E43F2EE1}"/>
              </a:ext>
            </a:extLst>
          </p:cNvPr>
          <p:cNvSpPr/>
          <p:nvPr/>
        </p:nvSpPr>
        <p:spPr>
          <a:xfrm>
            <a:off x="8343900" y="3403600"/>
            <a:ext cx="338455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97A289-387A-4A33-A9CF-DCA7F9A9ED64}"/>
              </a:ext>
            </a:extLst>
          </p:cNvPr>
          <p:cNvSpPr txBox="1"/>
          <p:nvPr/>
        </p:nvSpPr>
        <p:spPr>
          <a:xfrm>
            <a:off x="8534400" y="3619499"/>
            <a:ext cx="300355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SSRS </a:t>
            </a: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렌더링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30B406-BB29-9CB6-1C6B-43CAEB4BE1DD}"/>
              </a:ext>
            </a:extLst>
          </p:cNvPr>
          <p:cNvSpPr txBox="1"/>
          <p:nvPr/>
        </p:nvSpPr>
        <p:spPr>
          <a:xfrm>
            <a:off x="8534400" y="4673599"/>
            <a:ext cx="300355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보고서 파라미터 전달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PDF 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 및 저장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보고서 서버 활용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5BA3E36C-D215-D257-131B-F111F4EF56CB}"/>
              </a:ext>
            </a:extLst>
          </p:cNvPr>
          <p:cNvCxnSpPr/>
          <p:nvPr/>
        </p:nvCxnSpPr>
        <p:spPr>
          <a:xfrm>
            <a:off x="11791950" y="5080000"/>
            <a:ext cx="279400" cy="0"/>
          </a:xfrm>
          <a:prstGeom prst="line">
            <a:avLst/>
          </a:prstGeom>
          <a:ln w="31750">
            <a:solidFill>
              <a:srgbClr val="007F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9E21A05-893C-4930-A6C0-6656DF090EC4}"/>
              </a:ext>
            </a:extLst>
          </p:cNvPr>
          <p:cNvSpPr txBox="1"/>
          <p:nvPr/>
        </p:nvSpPr>
        <p:spPr>
          <a:xfrm>
            <a:off x="12160250" y="2793999"/>
            <a:ext cx="338455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04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26CD10B-9D9E-7ADF-9E1C-6173C0861C77}"/>
              </a:ext>
            </a:extLst>
          </p:cNvPr>
          <p:cNvSpPr/>
          <p:nvPr/>
        </p:nvSpPr>
        <p:spPr>
          <a:xfrm>
            <a:off x="12160250" y="3403600"/>
            <a:ext cx="338455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EF521CF-5C59-8E16-6373-31C1E84BFED1}"/>
              </a:ext>
            </a:extLst>
          </p:cNvPr>
          <p:cNvSpPr/>
          <p:nvPr/>
        </p:nvSpPr>
        <p:spPr>
          <a:xfrm>
            <a:off x="12160250" y="3403600"/>
            <a:ext cx="338455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0885BE-5F8A-382D-A42D-3CC3AE0A59E2}"/>
              </a:ext>
            </a:extLst>
          </p:cNvPr>
          <p:cNvSpPr txBox="1"/>
          <p:nvPr/>
        </p:nvSpPr>
        <p:spPr>
          <a:xfrm>
            <a:off x="12350750" y="3619499"/>
            <a:ext cx="300355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Windows </a:t>
            </a: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7B4CE6-CDC3-F896-86B3-78608D622322}"/>
              </a:ext>
            </a:extLst>
          </p:cNvPr>
          <p:cNvSpPr txBox="1"/>
          <p:nvPr/>
        </p:nvSpPr>
        <p:spPr>
          <a:xfrm>
            <a:off x="12350750" y="4673599"/>
            <a:ext cx="300355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설치 프린터 확인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PDFium 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 인쇄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A4·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세로 방향 설정</a:t>
            </a:r>
          </a:p>
        </p:txBody>
      </p:sp>
    </p:spTree>
    <p:extLst>
      <p:ext uri="{BB962C8B-B14F-4D97-AF65-F5344CB8AC3E}">
        <p14:creationId xmlns:p14="http://schemas.microsoft.com/office/powerpoint/2010/main" val="2821074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8F93E4F-3700-A6A2-50AF-AC50449EF39F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02BD97-EFBC-B80A-EC12-76959FE840BF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 / IMPLEMENTATION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B907FC-895A-3B90-41AE-0BD0A33AE561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Picking Slip: </a:t>
            </a: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카톤별 </a:t>
            </a: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XML </a:t>
            </a: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라벨 데이터 생성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F94121-9C0B-551F-78F5-3FA38F485C12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 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ORDER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별도로 제공하는 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ASMX 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기능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82E133-9C6A-1618-831C-F7637CB00FA0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A01B3B-6088-535E-1489-FCF26DA16F1B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CBA426-B94F-338B-0617-9AD2B554FFE2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라벨 서버가 읽는 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XML 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구조를 생성해 출력 파일 전달까지 연결한다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2AD3AB-C294-2007-3CB1-129424317646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Service1.PrintPickingSlip | PickingSlipPrintBiz.MakeLabelInfoCommon | FTPUtil.UploadLabel</a:t>
            </a:r>
            <a:endParaRPr lang="ko-KR" altLang="en-US" sz="11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036371-4F41-91D2-950F-8EB20A4C085D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09EBA8-2BAB-A115-BA32-C68C3A98DC75}"/>
              </a:ext>
            </a:extLst>
          </p:cNvPr>
          <p:cNvSpPr txBox="1"/>
          <p:nvPr/>
        </p:nvSpPr>
        <p:spPr>
          <a:xfrm>
            <a:off x="711200" y="2793999"/>
            <a:ext cx="338455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01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0EB64E-0A66-6810-0813-3E6F5AB33C35}"/>
              </a:ext>
            </a:extLst>
          </p:cNvPr>
          <p:cNvSpPr/>
          <p:nvPr/>
        </p:nvSpPr>
        <p:spPr>
          <a:xfrm>
            <a:off x="711200" y="3403600"/>
            <a:ext cx="338455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A1F7CA4-D158-D833-1894-7A34C8362AF6}"/>
              </a:ext>
            </a:extLst>
          </p:cNvPr>
          <p:cNvSpPr/>
          <p:nvPr/>
        </p:nvSpPr>
        <p:spPr>
          <a:xfrm>
            <a:off x="711200" y="3403600"/>
            <a:ext cx="338455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BCFF2B-00FD-CB4C-A3F7-40422C0092D1}"/>
              </a:ext>
            </a:extLst>
          </p:cNvPr>
          <p:cNvSpPr txBox="1"/>
          <p:nvPr/>
        </p:nvSpPr>
        <p:spPr>
          <a:xfrm>
            <a:off x="901700" y="3619499"/>
            <a:ext cx="300355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출하 요청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F96E3F-C17B-420C-3EBB-2E5BE782E73D}"/>
              </a:ext>
            </a:extLst>
          </p:cNvPr>
          <p:cNvSpPr txBox="1"/>
          <p:nvPr/>
        </p:nvSpPr>
        <p:spPr>
          <a:xfrm>
            <a:off x="901700" y="4673599"/>
            <a:ext cx="300355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공장</a:t>
            </a: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출하일</a:t>
            </a: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·Invoice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</a:t>
            </a: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·Plant·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PrintPickingSlip 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호출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F7AD059-4919-C44C-9ACC-B7B6A87C4115}"/>
              </a:ext>
            </a:extLst>
          </p:cNvPr>
          <p:cNvCxnSpPr/>
          <p:nvPr/>
        </p:nvCxnSpPr>
        <p:spPr>
          <a:xfrm>
            <a:off x="4159250" y="5080000"/>
            <a:ext cx="279400" cy="0"/>
          </a:xfrm>
          <a:prstGeom prst="line">
            <a:avLst/>
          </a:prstGeom>
          <a:ln w="31750">
            <a:solidFill>
              <a:srgbClr val="007F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BDBAA3-AA9D-FD40-B488-75E65B33E26E}"/>
              </a:ext>
            </a:extLst>
          </p:cNvPr>
          <p:cNvSpPr txBox="1"/>
          <p:nvPr/>
        </p:nvSpPr>
        <p:spPr>
          <a:xfrm>
            <a:off x="4527550" y="2793999"/>
            <a:ext cx="338455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02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CBB616B-5B88-F916-F0BD-5D8E356C035D}"/>
              </a:ext>
            </a:extLst>
          </p:cNvPr>
          <p:cNvSpPr/>
          <p:nvPr/>
        </p:nvSpPr>
        <p:spPr>
          <a:xfrm>
            <a:off x="4527550" y="3403600"/>
            <a:ext cx="338455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FCF4DF-319D-4E8F-02AE-C49C054ED179}"/>
              </a:ext>
            </a:extLst>
          </p:cNvPr>
          <p:cNvSpPr/>
          <p:nvPr/>
        </p:nvSpPr>
        <p:spPr>
          <a:xfrm>
            <a:off x="4527550" y="3403600"/>
            <a:ext cx="338455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3A7D89-DA73-F262-AE8F-53A6801EF10C}"/>
              </a:ext>
            </a:extLst>
          </p:cNvPr>
          <p:cNvSpPr txBox="1"/>
          <p:nvPr/>
        </p:nvSpPr>
        <p:spPr>
          <a:xfrm>
            <a:off x="4718050" y="3619499"/>
            <a:ext cx="300355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구성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CE13B7-23EB-7862-45BE-2032063FA392}"/>
              </a:ext>
            </a:extLst>
          </p:cNvPr>
          <p:cNvSpPr txBox="1"/>
          <p:nvPr/>
        </p:nvSpPr>
        <p:spPr>
          <a:xfrm>
            <a:off x="4718050" y="4673599"/>
            <a:ext cx="300355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 카톤 수 조회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LOT·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선반 정보</a:t>
            </a:r>
          </a:p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카톤별 라벨 속성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ADE5872-D880-A2D9-48E1-C78C530A1183}"/>
              </a:ext>
            </a:extLst>
          </p:cNvPr>
          <p:cNvCxnSpPr/>
          <p:nvPr/>
        </p:nvCxnSpPr>
        <p:spPr>
          <a:xfrm>
            <a:off x="7975600" y="5080000"/>
            <a:ext cx="279400" cy="0"/>
          </a:xfrm>
          <a:prstGeom prst="line">
            <a:avLst/>
          </a:prstGeom>
          <a:ln w="31750">
            <a:solidFill>
              <a:srgbClr val="007F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133B05E-DE87-6A3A-4965-B57926F93398}"/>
              </a:ext>
            </a:extLst>
          </p:cNvPr>
          <p:cNvSpPr txBox="1"/>
          <p:nvPr/>
        </p:nvSpPr>
        <p:spPr>
          <a:xfrm>
            <a:off x="8343900" y="2793999"/>
            <a:ext cx="338455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03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8F3E2C3-4223-221D-5263-B719D19D785E}"/>
              </a:ext>
            </a:extLst>
          </p:cNvPr>
          <p:cNvSpPr/>
          <p:nvPr/>
        </p:nvSpPr>
        <p:spPr>
          <a:xfrm>
            <a:off x="8343900" y="3403600"/>
            <a:ext cx="338455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BEDEBAB-C368-2097-58F2-7DD24C3AB268}"/>
              </a:ext>
            </a:extLst>
          </p:cNvPr>
          <p:cNvSpPr/>
          <p:nvPr/>
        </p:nvSpPr>
        <p:spPr>
          <a:xfrm>
            <a:off x="8343900" y="3403600"/>
            <a:ext cx="338455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7F6098-27DC-0A29-9278-EB92AFA7F04B}"/>
              </a:ext>
            </a:extLst>
          </p:cNvPr>
          <p:cNvSpPr txBox="1"/>
          <p:nvPr/>
        </p:nvSpPr>
        <p:spPr>
          <a:xfrm>
            <a:off x="8534400" y="3619499"/>
            <a:ext cx="300355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XML </a:t>
            </a: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DF80EB-5BAA-E831-92BA-FFF8839C076C}"/>
              </a:ext>
            </a:extLst>
          </p:cNvPr>
          <p:cNvSpPr txBox="1"/>
          <p:nvPr/>
        </p:nvSpPr>
        <p:spPr>
          <a:xfrm>
            <a:off x="8534400" y="4673599"/>
            <a:ext cx="300355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Label / Label_Info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Label_Data 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FTP </a:t>
            </a:r>
            <a:r>
              <a:rPr lang="ko-KR" altLang="en-US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 순차 시도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2AB7242-DF66-55BA-80AB-DB119702587A}"/>
              </a:ext>
            </a:extLst>
          </p:cNvPr>
          <p:cNvCxnSpPr/>
          <p:nvPr/>
        </p:nvCxnSpPr>
        <p:spPr>
          <a:xfrm>
            <a:off x="11791950" y="5080000"/>
            <a:ext cx="279400" cy="0"/>
          </a:xfrm>
          <a:prstGeom prst="line">
            <a:avLst/>
          </a:prstGeom>
          <a:ln w="31750">
            <a:solidFill>
              <a:srgbClr val="007F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D7F3434-B60E-D81A-642E-4AC3BA8DB23B}"/>
              </a:ext>
            </a:extLst>
          </p:cNvPr>
          <p:cNvSpPr txBox="1"/>
          <p:nvPr/>
        </p:nvSpPr>
        <p:spPr>
          <a:xfrm>
            <a:off x="12160250" y="2793999"/>
            <a:ext cx="338455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04</a:t>
            </a:r>
            <a:endParaRPr lang="ko-KR" altLang="en-US" sz="16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B1AE547-1DA0-7A71-393F-7C88666797B6}"/>
              </a:ext>
            </a:extLst>
          </p:cNvPr>
          <p:cNvSpPr/>
          <p:nvPr/>
        </p:nvSpPr>
        <p:spPr>
          <a:xfrm>
            <a:off x="12160250" y="3403600"/>
            <a:ext cx="3384550" cy="3352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06C3DB3-CB44-F7FD-E552-C2833BDD878D}"/>
              </a:ext>
            </a:extLst>
          </p:cNvPr>
          <p:cNvSpPr/>
          <p:nvPr/>
        </p:nvSpPr>
        <p:spPr>
          <a:xfrm>
            <a:off x="12160250" y="3403600"/>
            <a:ext cx="3384550" cy="889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33C0F5-8A52-2286-F6C4-B881A1038E58}"/>
              </a:ext>
            </a:extLst>
          </p:cNvPr>
          <p:cNvSpPr txBox="1"/>
          <p:nvPr/>
        </p:nvSpPr>
        <p:spPr>
          <a:xfrm>
            <a:off x="12350750" y="3619499"/>
            <a:ext cx="300355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9432EF-A7B3-62D0-7CB7-5F55B2F24C25}"/>
              </a:ext>
            </a:extLst>
          </p:cNvPr>
          <p:cNvSpPr txBox="1"/>
          <p:nvPr/>
        </p:nvSpPr>
        <p:spPr>
          <a:xfrm>
            <a:off x="12350750" y="4673599"/>
            <a:ext cx="3003550" cy="181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XML_FILE_NAME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TOTAL_CARTON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INVOICE_NO</a:t>
            </a:r>
            <a:endParaRPr lang="ko-KR" altLang="en-US" sz="2000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9662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E2B5748-9E44-C828-37D2-6B2E6084127A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E1CF59-099D-A250-4792-1072DA8A6294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 / RELIABILITY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BE4DD1-5C8F-27E4-4029-308BE1AB3C7A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실패를 분류하고 현장 대응 정보를 남긴다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784A50-0AD2-B1C6-1FE1-654F6496F9D4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안내와 개발자 진단 정보의 역할을 나눈다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3BF9D92-F48C-6883-DE7E-7373DBC65F36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1F3529-3968-2121-84C0-C5A8B62AD95F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69ABE6-087E-0753-64FB-8DEB643C2D28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오류 구간을 추적할 수 있게 하되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 갱신 후 인쇄 실패 같은 부분 성공도 구분해야 한다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83C5A0-FBC9-681F-D19E-C6C270B60078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COMMON/OrderError.cs | Service1.WriteOrderResultLog | CommonBiz | OrderLogDAO</a:t>
            </a:r>
            <a:endParaRPr lang="ko-KR" altLang="en-US" sz="11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A5F8C8-8D30-3499-BEC7-447433D816ED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CEBD704-F0F9-0265-C48B-5385A198B39A}"/>
              </a:ext>
            </a:extLst>
          </p:cNvPr>
          <p:cNvSpPr/>
          <p:nvPr/>
        </p:nvSpPr>
        <p:spPr>
          <a:xfrm>
            <a:off x="711200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5FC202B-D537-29C3-4442-43CC86A21053}"/>
              </a:ext>
            </a:extLst>
          </p:cNvPr>
          <p:cNvSpPr/>
          <p:nvPr/>
        </p:nvSpPr>
        <p:spPr>
          <a:xfrm>
            <a:off x="711200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25C79B-494D-5592-0034-4DDC5EC63909}"/>
              </a:ext>
            </a:extLst>
          </p:cNvPr>
          <p:cNvSpPr txBox="1"/>
          <p:nvPr/>
        </p:nvSpPr>
        <p:spPr>
          <a:xfrm>
            <a:off x="1003300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F7DB8F-7588-13CF-44DF-DB571EEB5D52}"/>
              </a:ext>
            </a:extLst>
          </p:cNvPr>
          <p:cNvSpPr txBox="1"/>
          <p:nvPr/>
        </p:nvSpPr>
        <p:spPr>
          <a:xfrm>
            <a:off x="1003300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</a:t>
            </a:r>
            <a:r>
              <a:rPr lang="en-US" altLang="ko-KR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오류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0AE189-10CB-900A-E5D5-B1F6ABFDFF7A}"/>
              </a:ext>
            </a:extLst>
          </p:cNvPr>
          <p:cNvSpPr txBox="1"/>
          <p:nvPr/>
        </p:nvSpPr>
        <p:spPr>
          <a:xfrm>
            <a:off x="1003300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필수값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 형식 오류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LOT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없음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·Draft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미완료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라인 불일치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규격 없음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OUT_CODE=NG +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원인 안내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C59BC4B-BE07-AE96-5295-0DC72EB1960A}"/>
              </a:ext>
            </a:extLst>
          </p:cNvPr>
          <p:cNvSpPr/>
          <p:nvPr/>
        </p:nvSpPr>
        <p:spPr>
          <a:xfrm>
            <a:off x="5757333" y="2768600"/>
            <a:ext cx="4741334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7C09758-CC76-BC32-5020-93648844F738}"/>
              </a:ext>
            </a:extLst>
          </p:cNvPr>
          <p:cNvSpPr/>
          <p:nvPr/>
        </p:nvSpPr>
        <p:spPr>
          <a:xfrm>
            <a:off x="5757333" y="2768600"/>
            <a:ext cx="4741334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FE4C4F-62F4-EAF5-079B-802090AEC3BD}"/>
              </a:ext>
            </a:extLst>
          </p:cNvPr>
          <p:cNvSpPr txBox="1"/>
          <p:nvPr/>
        </p:nvSpPr>
        <p:spPr>
          <a:xfrm>
            <a:off x="6049433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565651-DF3E-3688-119D-CC58AAED4219}"/>
              </a:ext>
            </a:extLst>
          </p:cNvPr>
          <p:cNvSpPr txBox="1"/>
          <p:nvPr/>
        </p:nvSpPr>
        <p:spPr>
          <a:xfrm>
            <a:off x="6049433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</a:t>
            </a:r>
            <a:r>
              <a:rPr lang="en-US" altLang="ko-KR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오류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745206-1E0C-72EA-9619-92E445DCA2D1}"/>
              </a:ext>
            </a:extLst>
          </p:cNvPr>
          <p:cNvSpPr txBox="1"/>
          <p:nvPr/>
        </p:nvSpPr>
        <p:spPr>
          <a:xfrm>
            <a:off x="6049433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/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초과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통신 구분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 단계가 포함된 메시지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HTTP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오류는 상태 코드 안내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원시 예외 대신 사용자용 설명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85D76FF-7606-DB4F-BC98-8EB37983947A}"/>
              </a:ext>
            </a:extLst>
          </p:cNvPr>
          <p:cNvSpPr/>
          <p:nvPr/>
        </p:nvSpPr>
        <p:spPr>
          <a:xfrm>
            <a:off x="10803467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C81B597-DBA7-C36D-5B26-7BD03B501AFF}"/>
              </a:ext>
            </a:extLst>
          </p:cNvPr>
          <p:cNvSpPr/>
          <p:nvPr/>
        </p:nvSpPr>
        <p:spPr>
          <a:xfrm>
            <a:off x="10803467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CD881F-6D17-E9D3-B39F-D17A748D3CFD}"/>
              </a:ext>
            </a:extLst>
          </p:cNvPr>
          <p:cNvSpPr txBox="1"/>
          <p:nvPr/>
        </p:nvSpPr>
        <p:spPr>
          <a:xfrm>
            <a:off x="11095567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E5806A-72F7-5FD2-5DB3-66BEB158C81E}"/>
              </a:ext>
            </a:extLst>
          </p:cNvPr>
          <p:cNvSpPr txBox="1"/>
          <p:nvPr/>
        </p:nvSpPr>
        <p:spPr>
          <a:xfrm>
            <a:off x="11095567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 진단</a:t>
            </a:r>
            <a:r>
              <a:rPr lang="en-US" altLang="ko-KR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자원 관리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D66425-BD48-0CED-9D68-B5A145A9E994}"/>
              </a:ext>
            </a:extLst>
          </p:cNvPr>
          <p:cNvSpPr txBox="1"/>
          <p:nvPr/>
        </p:nvSpPr>
        <p:spPr>
          <a:xfrm>
            <a:off x="11095567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Trace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단계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예외 기록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LOT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 공정 결과 로그 기록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using / IDisposable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정리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 실패와 주 흐름 분리</a:t>
            </a:r>
          </a:p>
        </p:txBody>
      </p:sp>
    </p:spTree>
    <p:extLst>
      <p:ext uri="{BB962C8B-B14F-4D97-AF65-F5344CB8AC3E}">
        <p14:creationId xmlns:p14="http://schemas.microsoft.com/office/powerpoint/2010/main" val="3801612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27A6B4C-A2B2-6A42-2ABE-602D1AD83BB8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906372-6314-DA0E-4410-87D2643D2639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 / VERIFICATION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41E03A-4685-CA01-9421-7CE21B0319F5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 없이 요청</a:t>
            </a: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응답을 확인하는 테스트 콘솔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53FB00-C42F-2096-FD37-BD0F34562687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화면 캡처가 아닌 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ApiTestPage.html 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기능 재구성 도식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05A6D2-8051-1861-D168-1CC93A2F3814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095258-A954-84DB-F7BF-F0D89FE1EC65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180511-C6FE-450D-D06A-CEF53CACF66C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테스트 콘솔과 검증 스크립트가 존재하며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 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갱신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인쇄 완료는 통합 검증이 필요하다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73A56E-3270-BCCB-51EC-BD7D356FE13E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ApiTestPage.html | tests/OrderError.Tests.ps1 | ServerEnvironment.cs</a:t>
            </a:r>
            <a:endParaRPr lang="ko-KR" altLang="en-US" sz="11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F209EB-45E3-A05B-5C33-A82FC7E5F132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17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CB288F-03B2-5BD5-5091-FC3BD3581C7A}"/>
              </a:ext>
            </a:extLst>
          </p:cNvPr>
          <p:cNvSpPr/>
          <p:nvPr/>
        </p:nvSpPr>
        <p:spPr>
          <a:xfrm>
            <a:off x="711200" y="2717800"/>
            <a:ext cx="14833600" cy="5715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BFC679-4BAC-869F-E19E-A561D62C78E8}"/>
              </a:ext>
            </a:extLst>
          </p:cNvPr>
          <p:cNvSpPr txBox="1"/>
          <p:nvPr/>
        </p:nvSpPr>
        <p:spPr>
          <a:xfrm>
            <a:off x="952500" y="2844799"/>
            <a:ext cx="14287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TEST CONSOLE  /  </a:t>
            </a:r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재구성 </a:t>
            </a:r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요청 미실행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F6CEBCD-654E-01D1-DED6-4F37F9AB7F0A}"/>
              </a:ext>
            </a:extLst>
          </p:cNvPr>
          <p:cNvSpPr/>
          <p:nvPr/>
        </p:nvSpPr>
        <p:spPr>
          <a:xfrm>
            <a:off x="711200" y="3479800"/>
            <a:ext cx="4749800" cy="3733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B74CEF-89B4-BFCB-43BF-C5FE1390DA87}"/>
              </a:ext>
            </a:extLst>
          </p:cNvPr>
          <p:cNvSpPr txBox="1"/>
          <p:nvPr/>
        </p:nvSpPr>
        <p:spPr>
          <a:xfrm>
            <a:off x="990600" y="3809999"/>
            <a:ext cx="4191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2500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991605-3BC0-0220-4441-1BB41D887BF8}"/>
              </a:ext>
            </a:extLst>
          </p:cNvPr>
          <p:cNvSpPr txBox="1"/>
          <p:nvPr/>
        </p:nvSpPr>
        <p:spPr>
          <a:xfrm>
            <a:off x="990600" y="4686299"/>
            <a:ext cx="4191000" cy="208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라인별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DEVICE_CD / BOX_BARCODE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 보고 시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WEIGHT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74E991A-8360-3E75-335D-15D3C6A2483B}"/>
              </a:ext>
            </a:extLst>
          </p:cNvPr>
          <p:cNvSpPr/>
          <p:nvPr/>
        </p:nvSpPr>
        <p:spPr>
          <a:xfrm>
            <a:off x="5753100" y="3479800"/>
            <a:ext cx="4749800" cy="3733800"/>
          </a:xfrm>
          <a:prstGeom prst="rect">
            <a:avLst/>
          </a:prstGeom>
          <a:solidFill>
            <a:srgbClr val="1B31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ACBA95-9C67-B3E7-CCB9-C875494FBE2F}"/>
              </a:ext>
            </a:extLst>
          </p:cNvPr>
          <p:cNvSpPr txBox="1"/>
          <p:nvPr/>
        </p:nvSpPr>
        <p:spPr>
          <a:xfrm>
            <a:off x="6032500" y="3809999"/>
            <a:ext cx="4191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r>
              <a:rPr lang="en-US" altLang="ko-KR" sz="25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22CC1B-95F0-FC4B-E2BF-E2941E9AC5EE}"/>
              </a:ext>
            </a:extLst>
          </p:cNvPr>
          <p:cNvSpPr txBox="1"/>
          <p:nvPr/>
        </p:nvSpPr>
        <p:spPr>
          <a:xfrm>
            <a:off x="6032500" y="4686299"/>
            <a:ext cx="4191000" cy="208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PRD / TEST </a:t>
            </a:r>
            <a:r>
              <a:rPr lang="ko-KR" altLang="en-US" sz="21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X-Environment </a:t>
            </a:r>
            <a:r>
              <a:rPr lang="ko-KR" altLang="en-US" sz="21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헤더 전송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JSON </a:t>
            </a:r>
            <a:r>
              <a:rPr lang="ko-KR" altLang="en-US" sz="21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</a:t>
            </a:r>
            <a:r>
              <a:rPr lang="en-US" altLang="ko-KR" sz="21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 로그 표시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B76B29-3DC1-DD5B-4CE4-25A918C4D012}"/>
              </a:ext>
            </a:extLst>
          </p:cNvPr>
          <p:cNvSpPr/>
          <p:nvPr/>
        </p:nvSpPr>
        <p:spPr>
          <a:xfrm>
            <a:off x="10795000" y="3479800"/>
            <a:ext cx="4749800" cy="37338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20F613-FFD3-F380-CFDC-F9A458F6606F}"/>
              </a:ext>
            </a:extLst>
          </p:cNvPr>
          <p:cNvSpPr txBox="1"/>
          <p:nvPr/>
        </p:nvSpPr>
        <p:spPr>
          <a:xfrm>
            <a:off x="11074400" y="3809999"/>
            <a:ext cx="4191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로컬 회귀 검사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FB1FEC-6340-3EF6-3487-F9B0826ED1A9}"/>
              </a:ext>
            </a:extLst>
          </p:cNvPr>
          <p:cNvSpPr txBox="1"/>
          <p:nvPr/>
        </p:nvSpPr>
        <p:spPr>
          <a:xfrm>
            <a:off x="11074400" y="4686299"/>
            <a:ext cx="4191000" cy="208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·LOT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초과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통신 오류 메시지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 미호출 테스트</a:t>
            </a:r>
          </a:p>
        </p:txBody>
      </p:sp>
    </p:spTree>
    <p:extLst>
      <p:ext uri="{BB962C8B-B14F-4D97-AF65-F5344CB8AC3E}">
        <p14:creationId xmlns:p14="http://schemas.microsoft.com/office/powerpoint/2010/main" val="972489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CA9AEBF-18E6-D5F0-B8F6-8003D62F6614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3F6856-DADF-3AC4-B9A1-F6CCDD2A89CC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 / ENGINEERING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FE161-D2D6-60BD-C9FE-44DE01C6779A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프로젝트에서 보여줄 수 있는 개발 역량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A03D28-7031-1F0A-AB68-B943082572FF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단순 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CRUD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보다 공정 맥락과 연동 경계를 이해하는 구현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7F414C-D925-275D-E4FC-2851B65AC185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D8F13B-AD2C-0328-0467-5015EE399CE4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3FED25-BE09-0BB6-5487-35B92AF3E3EF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역량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현장 공정의 요구를 이해하고 기존 업무 시스템에 연결하는 서버 개발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914A2B-76B7-A1C2-76CD-E1F7065E3548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제공 역할 </a:t>
            </a: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Service1 / BIZ / DAO / COMMON / VO </a:t>
            </a: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630156-F55F-F585-32E7-59E87057D6E8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D13910-9C9B-EEE3-415F-E76362956040}"/>
              </a:ext>
            </a:extLst>
          </p:cNvPr>
          <p:cNvSpPr/>
          <p:nvPr/>
        </p:nvSpPr>
        <p:spPr>
          <a:xfrm>
            <a:off x="711200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5FBD59-9F62-F695-6A27-62C964156AB1}"/>
              </a:ext>
            </a:extLst>
          </p:cNvPr>
          <p:cNvSpPr/>
          <p:nvPr/>
        </p:nvSpPr>
        <p:spPr>
          <a:xfrm>
            <a:off x="711200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06696F-E981-86B5-C82D-B45103FC6C7A}"/>
              </a:ext>
            </a:extLst>
          </p:cNvPr>
          <p:cNvSpPr txBox="1"/>
          <p:nvPr/>
        </p:nvSpPr>
        <p:spPr>
          <a:xfrm>
            <a:off x="1003300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C87502-3827-1866-C37B-D5FD64A910D7}"/>
              </a:ext>
            </a:extLst>
          </p:cNvPr>
          <p:cNvSpPr txBox="1"/>
          <p:nvPr/>
        </p:nvSpPr>
        <p:spPr>
          <a:xfrm>
            <a:off x="1003300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업무를 </a:t>
            </a:r>
            <a:r>
              <a:rPr lang="en-US" altLang="ko-KR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</a:t>
            </a: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모델링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EEAC6F-E183-06C0-98FA-1F1EB7A48A68}"/>
              </a:ext>
            </a:extLst>
          </p:cNvPr>
          <p:cNvSpPr txBox="1"/>
          <p:nvPr/>
        </p:nvSpPr>
        <p:spPr>
          <a:xfrm>
            <a:off x="1003300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공정별 입력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구조 정의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Draft·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라인 선행조건 반영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문서와 구현의 차이를 추적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70636F3-E1D4-D6A5-B45D-AEB8D5117F9C}"/>
              </a:ext>
            </a:extLst>
          </p:cNvPr>
          <p:cNvSpPr/>
          <p:nvPr/>
        </p:nvSpPr>
        <p:spPr>
          <a:xfrm>
            <a:off x="5757333" y="2768600"/>
            <a:ext cx="4741334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0769279-E39A-5C0D-DCF4-09D32CA17F96}"/>
              </a:ext>
            </a:extLst>
          </p:cNvPr>
          <p:cNvSpPr/>
          <p:nvPr/>
        </p:nvSpPr>
        <p:spPr>
          <a:xfrm>
            <a:off x="5757333" y="2768600"/>
            <a:ext cx="4741334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614E25-DBF9-F3E1-EF62-A510AB746AAE}"/>
              </a:ext>
            </a:extLst>
          </p:cNvPr>
          <p:cNvSpPr txBox="1"/>
          <p:nvPr/>
        </p:nvSpPr>
        <p:spPr>
          <a:xfrm>
            <a:off x="6049433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457B20-C109-21DD-9A1E-A676369255E3}"/>
              </a:ext>
            </a:extLst>
          </p:cNvPr>
          <p:cNvSpPr txBox="1"/>
          <p:nvPr/>
        </p:nvSpPr>
        <p:spPr>
          <a:xfrm>
            <a:off x="6049433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레거시 연동 구현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B9898A-D437-9CA7-DEAE-5ECEAC8A221D}"/>
              </a:ext>
            </a:extLst>
          </p:cNvPr>
          <p:cNvSpPr txBox="1"/>
          <p:nvPr/>
        </p:nvSpPr>
        <p:spPr>
          <a:xfrm>
            <a:off x="6049433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IBM i DB2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조회와 프로시저 호출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ASMX·JSON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 방식 연결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SSRS·PDF·XML·FTP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연계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8EA7A04-28C3-B89D-90CE-5585427E37CE}"/>
              </a:ext>
            </a:extLst>
          </p:cNvPr>
          <p:cNvSpPr/>
          <p:nvPr/>
        </p:nvSpPr>
        <p:spPr>
          <a:xfrm>
            <a:off x="10803467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F10E204-9CF6-7A38-FEB6-F3A05117F43D}"/>
              </a:ext>
            </a:extLst>
          </p:cNvPr>
          <p:cNvSpPr/>
          <p:nvPr/>
        </p:nvSpPr>
        <p:spPr>
          <a:xfrm>
            <a:off x="10803467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58EA60-48C9-A3CD-243E-7F8115722FE8}"/>
              </a:ext>
            </a:extLst>
          </p:cNvPr>
          <p:cNvSpPr txBox="1"/>
          <p:nvPr/>
        </p:nvSpPr>
        <p:spPr>
          <a:xfrm>
            <a:off x="11095567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1B08D5-9F82-1BB8-EC31-D2E0E8EF9CDB}"/>
              </a:ext>
            </a:extLst>
          </p:cNvPr>
          <p:cNvSpPr txBox="1"/>
          <p:nvPr/>
        </p:nvSpPr>
        <p:spPr>
          <a:xfrm>
            <a:off x="11095567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관점의 구현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993378-27C1-FBE2-5A6A-163F6015B9FA}"/>
              </a:ext>
            </a:extLst>
          </p:cNvPr>
          <p:cNvSpPr txBox="1"/>
          <p:nvPr/>
        </p:nvSpPr>
        <p:spPr>
          <a:xfrm>
            <a:off x="11095567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단계별 오류 메시지와 로그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수명과 소유권 관리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비동기 접수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완료 의미 구분</a:t>
            </a:r>
          </a:p>
        </p:txBody>
      </p:sp>
    </p:spTree>
    <p:extLst>
      <p:ext uri="{BB962C8B-B14F-4D97-AF65-F5344CB8AC3E}">
        <p14:creationId xmlns:p14="http://schemas.microsoft.com/office/powerpoint/2010/main" val="3615175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100D31E-A0CF-33E8-12D3-0BC3AFC2B798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FD625-637F-1FC0-FE20-5DC7608848EF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 / VALUE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031EF4-5878-2367-EACE-F6A8C2AAE10B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구현으로 제공한 가치와 측정할 지표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4EA658-2C41-C8AA-8B33-0B0278961887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 가능한 기능적 가치와 앞으로 검증할 정량 효과를 분리한다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0238AB3-5D18-E547-A8F1-0EF5D52D8407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3E998D-01D3-4B32-8DB6-4BD901DB58A8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E0120A-0F3B-0F02-FA96-E24CD7BACB58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처리시간 단축률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불량 감소율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규모는 측정 자료가 없어 기재하지 않았다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5F79C3-8A8A-12B1-C3DC-921020D2390D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구현의 기능적 효과 </a:t>
            </a: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정량 지표는 후속 측정 제안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5AC17C-FC96-B603-C7DE-D9738E74E9D8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19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87B52C-E618-C988-BAC7-D2DEED5819D3}"/>
              </a:ext>
            </a:extLst>
          </p:cNvPr>
          <p:cNvSpPr/>
          <p:nvPr/>
        </p:nvSpPr>
        <p:spPr>
          <a:xfrm>
            <a:off x="711200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79A4EB-B9CC-212C-318E-055A36938371}"/>
              </a:ext>
            </a:extLst>
          </p:cNvPr>
          <p:cNvSpPr/>
          <p:nvPr/>
        </p:nvSpPr>
        <p:spPr>
          <a:xfrm>
            <a:off x="711200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C1CE4A-5AC8-2FFB-0F1F-51327F51301A}"/>
              </a:ext>
            </a:extLst>
          </p:cNvPr>
          <p:cNvSpPr txBox="1"/>
          <p:nvPr/>
        </p:nvSpPr>
        <p:spPr>
          <a:xfrm>
            <a:off x="1003300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9A6AA1-C3E2-671E-BF7F-A3618794D42B}"/>
              </a:ext>
            </a:extLst>
          </p:cNvPr>
          <p:cNvSpPr txBox="1"/>
          <p:nvPr/>
        </p:nvSpPr>
        <p:spPr>
          <a:xfrm>
            <a:off x="1003300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 판단 정보 제공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CA1DE5-BF79-942B-4807-7EBDFF0A32B8}"/>
              </a:ext>
            </a:extLst>
          </p:cNvPr>
          <p:cNvSpPr txBox="1"/>
          <p:nvPr/>
        </p:nvSpPr>
        <p:spPr>
          <a:xfrm>
            <a:off x="1003300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설비가 박스별 상태와 다음 작업을</a:t>
            </a:r>
          </a:p>
          <a:p>
            <a:pPr>
              <a:spcAft>
                <a:spcPts val="800"/>
              </a:spcAft>
            </a:pPr>
            <a:r>
              <a:rPr lang="en-US" altLang="ko-KR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응답으로 받을 수 있는 구조</a:t>
            </a:r>
          </a:p>
          <a:p>
            <a:pPr>
              <a:spcAft>
                <a:spcPts val="800"/>
              </a:spcAft>
            </a:pPr>
            <a:endParaRPr lang="ko-KR" altLang="en-US" sz="2050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Aft>
                <a:spcPts val="800"/>
              </a:spcAft>
            </a:pPr>
            <a:r>
              <a:rPr lang="ko-KR" altLang="en-US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측정 후보</a:t>
            </a:r>
            <a:r>
              <a:rPr lang="en-US" altLang="ko-KR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공정별 </a:t>
            </a:r>
            <a:r>
              <a:rPr lang="en-US" altLang="ko-KR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 </a:t>
            </a:r>
            <a:r>
              <a:rPr lang="ko-KR" altLang="en-US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  <a:r>
              <a:rPr lang="en-US" altLang="ko-KR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5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빈도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1FD105-5C83-FE78-6283-29A2A0F96E6C}"/>
              </a:ext>
            </a:extLst>
          </p:cNvPr>
          <p:cNvSpPr/>
          <p:nvPr/>
        </p:nvSpPr>
        <p:spPr>
          <a:xfrm>
            <a:off x="5757333" y="2768600"/>
            <a:ext cx="4741334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9267DF-7776-FDAB-50EF-2CD3F2AE0B04}"/>
              </a:ext>
            </a:extLst>
          </p:cNvPr>
          <p:cNvSpPr/>
          <p:nvPr/>
        </p:nvSpPr>
        <p:spPr>
          <a:xfrm>
            <a:off x="5757333" y="2768600"/>
            <a:ext cx="4741334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B5E244-6B63-5ACB-D8B9-B39636129265}"/>
              </a:ext>
            </a:extLst>
          </p:cNvPr>
          <p:cNvSpPr txBox="1"/>
          <p:nvPr/>
        </p:nvSpPr>
        <p:spPr>
          <a:xfrm>
            <a:off x="6049433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7E04AD-C93F-BCA9-60AD-46F07C4E0D59}"/>
              </a:ext>
            </a:extLst>
          </p:cNvPr>
          <p:cNvSpPr txBox="1"/>
          <p:nvPr/>
        </p:nvSpPr>
        <p:spPr>
          <a:xfrm>
            <a:off x="6049433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시스템 연결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42684D-491C-0FE9-1011-525A16C3CE0C}"/>
              </a:ext>
            </a:extLst>
          </p:cNvPr>
          <p:cNvSpPr txBox="1"/>
          <p:nvPr/>
        </p:nvSpPr>
        <p:spPr>
          <a:xfrm>
            <a:off x="6049433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출하 조건에 맞는 라벨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문서를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출력 경로에 전달하는 구조</a:t>
            </a:r>
          </a:p>
          <a:p>
            <a:pPr>
              <a:spcAft>
                <a:spcPts val="800"/>
              </a:spcAft>
            </a:pPr>
            <a:endParaRPr lang="ko-KR" altLang="en-US" sz="2100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측정 후보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 대비 출력 완료율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EC17A3C-433B-3917-520A-56F70E9A0AAA}"/>
              </a:ext>
            </a:extLst>
          </p:cNvPr>
          <p:cNvSpPr/>
          <p:nvPr/>
        </p:nvSpPr>
        <p:spPr>
          <a:xfrm>
            <a:off x="10803467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686581F-054A-A9EC-CA7A-1A989961A622}"/>
              </a:ext>
            </a:extLst>
          </p:cNvPr>
          <p:cNvSpPr/>
          <p:nvPr/>
        </p:nvSpPr>
        <p:spPr>
          <a:xfrm>
            <a:off x="10803467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B5BAD9-85FA-D2D5-847F-6D169F3CE333}"/>
              </a:ext>
            </a:extLst>
          </p:cNvPr>
          <p:cNvSpPr txBox="1"/>
          <p:nvPr/>
        </p:nvSpPr>
        <p:spPr>
          <a:xfrm>
            <a:off x="11095567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734AB8-A831-09DF-4D65-79C61E640F03}"/>
              </a:ext>
            </a:extLst>
          </p:cNvPr>
          <p:cNvSpPr txBox="1"/>
          <p:nvPr/>
        </p:nvSpPr>
        <p:spPr>
          <a:xfrm>
            <a:off x="11095567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원인 확인 기반 마련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F8C77C-56EE-AB7C-F433-3999FB840367}"/>
              </a:ext>
            </a:extLst>
          </p:cNvPr>
          <p:cNvSpPr txBox="1"/>
          <p:nvPr/>
        </p:nvSpPr>
        <p:spPr>
          <a:xfrm>
            <a:off x="11095567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오류와 업무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 실패를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메시지와 로그로 구분하는 구조</a:t>
            </a:r>
          </a:p>
          <a:p>
            <a:pPr>
              <a:spcAft>
                <a:spcPts val="800"/>
              </a:spcAft>
            </a:pPr>
            <a:endParaRPr lang="ko-KR" altLang="en-US" sz="2100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측정 후보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장애 진단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복구 시간</a:t>
            </a:r>
          </a:p>
        </p:txBody>
      </p:sp>
    </p:spTree>
    <p:extLst>
      <p:ext uri="{BB962C8B-B14F-4D97-AF65-F5344CB8AC3E}">
        <p14:creationId xmlns:p14="http://schemas.microsoft.com/office/powerpoint/2010/main" val="1005546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5D7FBFD-C4E9-33AE-50E1-B3B122AAD87C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DC2691-13A1-F7DD-B286-9B11E8425049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 / NEXT STEPS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97A31-38AF-46B3-66FC-8BE753CE9860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 단계</a:t>
            </a: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계약</a:t>
            </a: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</a:t>
            </a: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검증 강화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66F68-997C-0CBD-A79D-B7896A974F99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구현과 구분한 개선 제안 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PPT 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제작에서 코드는 변경하지 않음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84D5EC-08FB-3065-F613-7AB97EB32637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63AF0A-5F91-D778-14AB-406ED0F05A41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2B262B-624C-3EEE-9F08-6B9B7BDC1800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기능 제안은 완료 실적이 아니다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검증되지 않은 보장을 명확히 구분한다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2BF5B4-2953-CC2D-1375-B7CB0E5E2C4D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구현과 정의서 대조 결과 </a:t>
            </a: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근거는 </a:t>
            </a: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research-notes.md</a:t>
            </a:r>
            <a:endParaRPr lang="ko-KR" altLang="en-US" sz="11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693918-2A3A-A12D-E980-E24210E3408A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E2F2040-4FF3-9CAE-1EDD-EC641985E7B6}"/>
              </a:ext>
            </a:extLst>
          </p:cNvPr>
          <p:cNvSpPr/>
          <p:nvPr/>
        </p:nvSpPr>
        <p:spPr>
          <a:xfrm>
            <a:off x="711200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3D741E2-22E0-E5EF-FC45-A5BDD87C79BB}"/>
              </a:ext>
            </a:extLst>
          </p:cNvPr>
          <p:cNvSpPr/>
          <p:nvPr/>
        </p:nvSpPr>
        <p:spPr>
          <a:xfrm>
            <a:off x="711200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B18714-0246-4203-DD7D-E39D32A74075}"/>
              </a:ext>
            </a:extLst>
          </p:cNvPr>
          <p:cNvSpPr txBox="1"/>
          <p:nvPr/>
        </p:nvSpPr>
        <p:spPr>
          <a:xfrm>
            <a:off x="1003300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77A82E-CD58-B709-59CC-B781EE1FC05E}"/>
              </a:ext>
            </a:extLst>
          </p:cNvPr>
          <p:cNvSpPr txBox="1"/>
          <p:nvPr/>
        </p:nvSpPr>
        <p:spPr>
          <a:xfrm>
            <a:off x="1003300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계약 일치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DDC000-7A4A-0A03-F2A1-322B5D768F57}"/>
              </a:ext>
            </a:extLst>
          </p:cNvPr>
          <p:cNvSpPr txBox="1"/>
          <p:nvPr/>
        </p:nvSpPr>
        <p:spPr>
          <a:xfrm>
            <a:off x="1003300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 예제 바코드 위치 통일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성공 메시지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필드 합의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장비 코드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타입 범위 검증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활성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계약 테스트 확장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244CBFF-3F66-8249-A4A1-F0D807FA9DAB}"/>
              </a:ext>
            </a:extLst>
          </p:cNvPr>
          <p:cNvSpPr/>
          <p:nvPr/>
        </p:nvSpPr>
        <p:spPr>
          <a:xfrm>
            <a:off x="5757333" y="2768600"/>
            <a:ext cx="4741334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DEB834F-402A-16C7-EF59-48C5060D9892}"/>
              </a:ext>
            </a:extLst>
          </p:cNvPr>
          <p:cNvSpPr/>
          <p:nvPr/>
        </p:nvSpPr>
        <p:spPr>
          <a:xfrm>
            <a:off x="5757333" y="2768600"/>
            <a:ext cx="4741334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69448F-1248-D4A7-F5EA-F254985C94A8}"/>
              </a:ext>
            </a:extLst>
          </p:cNvPr>
          <p:cNvSpPr txBox="1"/>
          <p:nvPr/>
        </p:nvSpPr>
        <p:spPr>
          <a:xfrm>
            <a:off x="6049433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82F57D-B191-0E80-4777-2819F8FBEE74}"/>
              </a:ext>
            </a:extLst>
          </p:cNvPr>
          <p:cNvSpPr txBox="1"/>
          <p:nvPr/>
        </p:nvSpPr>
        <p:spPr>
          <a:xfrm>
            <a:off x="6049433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신뢰성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F83ABB-E2E9-9CC0-0504-5D7355E454C2}"/>
              </a:ext>
            </a:extLst>
          </p:cNvPr>
          <p:cNvSpPr txBox="1"/>
          <p:nvPr/>
        </p:nvSpPr>
        <p:spPr>
          <a:xfrm>
            <a:off x="6049433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영속 큐 도입 검토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물리적 완료 확인 경로 정의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재시도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중복 출력 방지 정책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다중 프린터 매핑 통합 확인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2D61770-F329-19F4-0731-D33984453D50}"/>
              </a:ext>
            </a:extLst>
          </p:cNvPr>
          <p:cNvSpPr/>
          <p:nvPr/>
        </p:nvSpPr>
        <p:spPr>
          <a:xfrm>
            <a:off x="10803467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8DEB41A-0F1A-CE4E-5338-0E4A25175CF8}"/>
              </a:ext>
            </a:extLst>
          </p:cNvPr>
          <p:cNvSpPr/>
          <p:nvPr/>
        </p:nvSpPr>
        <p:spPr>
          <a:xfrm>
            <a:off x="10803467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75904D-A56C-9AC4-B096-D3266B941808}"/>
              </a:ext>
            </a:extLst>
          </p:cNvPr>
          <p:cNvSpPr txBox="1"/>
          <p:nvPr/>
        </p:nvSpPr>
        <p:spPr>
          <a:xfrm>
            <a:off x="11095567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E16479-1089-8202-3B37-23630E8AB6DE}"/>
              </a:ext>
            </a:extLst>
          </p:cNvPr>
          <p:cNvSpPr txBox="1"/>
          <p:nvPr/>
        </p:nvSpPr>
        <p:spPr>
          <a:xfrm>
            <a:off x="11095567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안전성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AC2C0D-04F1-9F30-5C91-7121128F8366}"/>
              </a:ext>
            </a:extLst>
          </p:cNvPr>
          <p:cNvSpPr txBox="1"/>
          <p:nvPr/>
        </p:nvSpPr>
        <p:spPr>
          <a:xfrm>
            <a:off x="11095567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 프로시저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커밋 경계 검증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 선택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권한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백그라운드 점검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SQL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파라미터화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비밀정보 분리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DB·SSRS·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프린터 통합 시험</a:t>
            </a:r>
          </a:p>
        </p:txBody>
      </p:sp>
    </p:spTree>
    <p:extLst>
      <p:ext uri="{BB962C8B-B14F-4D97-AF65-F5344CB8AC3E}">
        <p14:creationId xmlns:p14="http://schemas.microsoft.com/office/powerpoint/2010/main" val="2419305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A2F38CA-7962-D5A0-4129-7BBCF2AB1226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EA2066-918B-336B-B36A-048A41CA60A0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APPENDIX / SPEC ALIGNMENT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2756B0-487A-4AB0-8A43-EA82559CCA9E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정의서 </a:t>
            </a:r>
            <a:r>
              <a:rPr lang="en-US" altLang="ko-KR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 0.7</a:t>
            </a: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현재 구현의 차이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B8B4FF-15CA-E7B4-905E-0137CDCB7B6E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 요구사항을 그대로 구현 완료로 간주하지 않고 대응 관계를 확인했다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038884B-BF7A-D63F-E6AA-D07B01C2314D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06779D-E6E8-2FFF-13B8-CE2B5852DFB5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0CD4A-E411-3B41-E9EA-002802BF8F7B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 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p.4–5 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예제 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이전 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p.7 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장비 코드 표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예제 차이도 계약 정리가 필요하다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881ECA-BC7A-8EA4-DC80-6CD4A0EDED42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정의서 </a:t>
            </a: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p.3–7 | CommonBiz | WeightCheckBiz | Service1 | ApiResponseVO</a:t>
            </a:r>
            <a:endParaRPr lang="ko-KR" altLang="en-US" sz="11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EA96EC-7634-1823-73D2-6362F90C76CA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21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8F80EA9-989D-206D-EFFE-AD816A75C88D}"/>
              </a:ext>
            </a:extLst>
          </p:cNvPr>
          <p:cNvSpPr/>
          <p:nvPr/>
        </p:nvSpPr>
        <p:spPr>
          <a:xfrm>
            <a:off x="711200" y="2679700"/>
            <a:ext cx="4445000" cy="635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973372-9A82-0069-06C7-D14EA6A8F842}"/>
              </a:ext>
            </a:extLst>
          </p:cNvPr>
          <p:cNvSpPr txBox="1"/>
          <p:nvPr/>
        </p:nvSpPr>
        <p:spPr>
          <a:xfrm>
            <a:off x="889000" y="2832099"/>
            <a:ext cx="40894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항목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0C256C0-BBFE-02E0-2064-790E208B83AF}"/>
              </a:ext>
            </a:extLst>
          </p:cNvPr>
          <p:cNvSpPr/>
          <p:nvPr/>
        </p:nvSpPr>
        <p:spPr>
          <a:xfrm>
            <a:off x="5156200" y="2679700"/>
            <a:ext cx="4610100" cy="635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93BB7B-F40F-93BA-6418-1B38A93C4AA6}"/>
              </a:ext>
            </a:extLst>
          </p:cNvPr>
          <p:cNvSpPr txBox="1"/>
          <p:nvPr/>
        </p:nvSpPr>
        <p:spPr>
          <a:xfrm>
            <a:off x="5334000" y="2832099"/>
            <a:ext cx="42545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8858FFE-F6AC-6CDE-2604-B44AC7FDBA94}"/>
              </a:ext>
            </a:extLst>
          </p:cNvPr>
          <p:cNvSpPr/>
          <p:nvPr/>
        </p:nvSpPr>
        <p:spPr>
          <a:xfrm>
            <a:off x="9766300" y="2679700"/>
            <a:ext cx="5778500" cy="635000"/>
          </a:xfrm>
          <a:prstGeom prst="rect">
            <a:avLst/>
          </a:prstGeom>
          <a:solidFill>
            <a:srgbClr val="0F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402F08-DF80-84BE-ACC7-EF5210506DFC}"/>
              </a:ext>
            </a:extLst>
          </p:cNvPr>
          <p:cNvSpPr txBox="1"/>
          <p:nvPr/>
        </p:nvSpPr>
        <p:spPr>
          <a:xfrm>
            <a:off x="9944100" y="2832099"/>
            <a:ext cx="54229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코드 </a:t>
            </a:r>
            <a:r>
              <a:rPr lang="en-US" altLang="ko-KR" sz="2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2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 사항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48AED7C-C753-80FE-1851-BB8A29159B72}"/>
              </a:ext>
            </a:extLst>
          </p:cNvPr>
          <p:cNvSpPr/>
          <p:nvPr/>
        </p:nvSpPr>
        <p:spPr>
          <a:xfrm>
            <a:off x="711200" y="3314700"/>
            <a:ext cx="4445000" cy="774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CEC4A4-1964-7304-AA03-83DEF4039987}"/>
              </a:ext>
            </a:extLst>
          </p:cNvPr>
          <p:cNvSpPr txBox="1"/>
          <p:nvPr/>
        </p:nvSpPr>
        <p:spPr>
          <a:xfrm>
            <a:off x="889000" y="3441699"/>
            <a:ext cx="4089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바코드 예제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F3C3EAD-18E9-1FD2-B03C-81968CE3F843}"/>
              </a:ext>
            </a:extLst>
          </p:cNvPr>
          <p:cNvSpPr/>
          <p:nvPr/>
        </p:nvSpPr>
        <p:spPr>
          <a:xfrm>
            <a:off x="5156200" y="3314700"/>
            <a:ext cx="4610100" cy="774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B61F-B52C-0604-DD1B-28F7D269BD93}"/>
              </a:ext>
            </a:extLst>
          </p:cNvPr>
          <p:cNvSpPr txBox="1"/>
          <p:nvPr/>
        </p:nvSpPr>
        <p:spPr>
          <a:xfrm>
            <a:off x="5334000" y="3441699"/>
            <a:ext cx="4254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Order 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필드가 포함된 긴 </a:t>
            </a: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PICK 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F599FD6-6184-0823-AB04-FF1CDF38AE6A}"/>
              </a:ext>
            </a:extLst>
          </p:cNvPr>
          <p:cNvSpPr/>
          <p:nvPr/>
        </p:nvSpPr>
        <p:spPr>
          <a:xfrm>
            <a:off x="9766300" y="3314700"/>
            <a:ext cx="5778500" cy="774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D77C1B-BEF6-1FFA-80D9-C2EA9C0A675E}"/>
              </a:ext>
            </a:extLst>
          </p:cNvPr>
          <p:cNvSpPr txBox="1"/>
          <p:nvPr/>
        </p:nvSpPr>
        <p:spPr>
          <a:xfrm>
            <a:off x="9944100" y="3441699"/>
            <a:ext cx="54229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Invoice [2], Carton [4] 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 → 통일 필요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912F4FA-E6F9-A826-A0BF-64DAD629E4D7}"/>
              </a:ext>
            </a:extLst>
          </p:cNvPr>
          <p:cNvSpPr/>
          <p:nvPr/>
        </p:nvSpPr>
        <p:spPr>
          <a:xfrm>
            <a:off x="711200" y="4102100"/>
            <a:ext cx="4445000" cy="774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61DF03-F0BF-F99D-46FB-9AF84037D830}"/>
              </a:ext>
            </a:extLst>
          </p:cNvPr>
          <p:cNvSpPr txBox="1"/>
          <p:nvPr/>
        </p:nvSpPr>
        <p:spPr>
          <a:xfrm>
            <a:off x="889000" y="4229099"/>
            <a:ext cx="4089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성공 메시지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555ECD7-E9CA-03B1-25A6-7420496A24FD}"/>
              </a:ext>
            </a:extLst>
          </p:cNvPr>
          <p:cNvSpPr/>
          <p:nvPr/>
        </p:nvSpPr>
        <p:spPr>
          <a:xfrm>
            <a:off x="5156200" y="4102100"/>
            <a:ext cx="4610100" cy="774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B7E899-E703-BFDA-D32A-E3E33AA8D0C8}"/>
              </a:ext>
            </a:extLst>
          </p:cNvPr>
          <p:cNvSpPr txBox="1"/>
          <p:nvPr/>
        </p:nvSpPr>
        <p:spPr>
          <a:xfrm>
            <a:off x="5334000" y="4229099"/>
            <a:ext cx="4254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OK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때 ‘정상처리’ 고정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FFAA8E3-08C4-DE32-88EE-4E423CE77B89}"/>
              </a:ext>
            </a:extLst>
          </p:cNvPr>
          <p:cNvSpPr/>
          <p:nvPr/>
        </p:nvSpPr>
        <p:spPr>
          <a:xfrm>
            <a:off x="9766300" y="4102100"/>
            <a:ext cx="5778500" cy="774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2C0146-9EFD-952A-37E7-8191714BF23F}"/>
              </a:ext>
            </a:extLst>
          </p:cNvPr>
          <p:cNvSpPr txBox="1"/>
          <p:nvPr/>
        </p:nvSpPr>
        <p:spPr>
          <a:xfrm>
            <a:off x="9944100" y="4229099"/>
            <a:ext cx="54229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업무별 안내 </a:t>
            </a: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분기 </a:t>
            </a: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빈 메시지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7D2B7FB-FEE9-2C79-03AD-46311F92DAAF}"/>
              </a:ext>
            </a:extLst>
          </p:cNvPr>
          <p:cNvSpPr/>
          <p:nvPr/>
        </p:nvSpPr>
        <p:spPr>
          <a:xfrm>
            <a:off x="711200" y="4889500"/>
            <a:ext cx="4445000" cy="774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4BCDF2-8079-95B2-3271-7158A7E7B9D4}"/>
              </a:ext>
            </a:extLst>
          </p:cNvPr>
          <p:cNvSpPr txBox="1"/>
          <p:nvPr/>
        </p:nvSpPr>
        <p:spPr>
          <a:xfrm>
            <a:off x="889000" y="5016499"/>
            <a:ext cx="4089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중량 판정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7CA3869-6786-102B-7A71-1B51425B57AA}"/>
              </a:ext>
            </a:extLst>
          </p:cNvPr>
          <p:cNvSpPr/>
          <p:nvPr/>
        </p:nvSpPr>
        <p:spPr>
          <a:xfrm>
            <a:off x="5156200" y="4889500"/>
            <a:ext cx="4610100" cy="774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2BB030-A944-C6C3-72E9-F2C17A95DCB6}"/>
              </a:ext>
            </a:extLst>
          </p:cNvPr>
          <p:cNvSpPr txBox="1"/>
          <p:nvPr/>
        </p:nvSpPr>
        <p:spPr>
          <a:xfrm>
            <a:off x="5334000" y="5016499"/>
            <a:ext cx="4254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</a:t>
            </a: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하한을 포함한 합불 예시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1817CB6-4431-7634-4611-B3CCDF6064C7}"/>
              </a:ext>
            </a:extLst>
          </p:cNvPr>
          <p:cNvSpPr/>
          <p:nvPr/>
        </p:nvSpPr>
        <p:spPr>
          <a:xfrm>
            <a:off x="9766300" y="4889500"/>
            <a:ext cx="5778500" cy="774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499DB6-AF8E-9D18-6CE5-47F2CAE12B13}"/>
              </a:ext>
            </a:extLst>
          </p:cNvPr>
          <p:cNvSpPr txBox="1"/>
          <p:nvPr/>
        </p:nvSpPr>
        <p:spPr>
          <a:xfrm>
            <a:off x="9944100" y="5016499"/>
            <a:ext cx="54229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유효값 검사</a:t>
            </a: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프로시저 호출 </a:t>
            </a: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 판정 미확인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B24E7CD-4382-1E21-54A4-8542E2D8FA3A}"/>
              </a:ext>
            </a:extLst>
          </p:cNvPr>
          <p:cNvSpPr/>
          <p:nvPr/>
        </p:nvSpPr>
        <p:spPr>
          <a:xfrm>
            <a:off x="711200" y="5676900"/>
            <a:ext cx="4445000" cy="774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241533-49F8-B7C5-AE33-FC73B9D8CF05}"/>
              </a:ext>
            </a:extLst>
          </p:cNvPr>
          <p:cNvSpPr txBox="1"/>
          <p:nvPr/>
        </p:nvSpPr>
        <p:spPr>
          <a:xfrm>
            <a:off x="889000" y="5803899"/>
            <a:ext cx="4089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인쇄 의미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02D8EAC-0D0D-7117-AE5A-56F578D5322D}"/>
              </a:ext>
            </a:extLst>
          </p:cNvPr>
          <p:cNvSpPr/>
          <p:nvPr/>
        </p:nvSpPr>
        <p:spPr>
          <a:xfrm>
            <a:off x="5156200" y="5676900"/>
            <a:ext cx="4610100" cy="774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E5448A-8632-456F-96D8-DA3B39A38A86}"/>
              </a:ext>
            </a:extLst>
          </p:cNvPr>
          <p:cNvSpPr txBox="1"/>
          <p:nvPr/>
        </p:nvSpPr>
        <p:spPr>
          <a:xfrm>
            <a:off x="5334000" y="5803899"/>
            <a:ext cx="4254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인쇄여부</a:t>
            </a: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인쇄 실패 응답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9C659C6-9EAE-2FAA-D52C-5F4F71B28191}"/>
              </a:ext>
            </a:extLst>
          </p:cNvPr>
          <p:cNvSpPr/>
          <p:nvPr/>
        </p:nvSpPr>
        <p:spPr>
          <a:xfrm>
            <a:off x="9766300" y="5676900"/>
            <a:ext cx="5778500" cy="774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C4273A-EE02-9080-2FE1-91FCA95791E7}"/>
              </a:ext>
            </a:extLst>
          </p:cNvPr>
          <p:cNvSpPr txBox="1"/>
          <p:nvPr/>
        </p:nvSpPr>
        <p:spPr>
          <a:xfrm>
            <a:off x="9944100" y="5803899"/>
            <a:ext cx="54229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분기 플래그</a:t>
            </a: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비동기 접수</a:t>
            </a: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완료를 구분해야 함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3AD4410-EED5-EC7A-75A1-EB12D9093E93}"/>
              </a:ext>
            </a:extLst>
          </p:cNvPr>
          <p:cNvSpPr/>
          <p:nvPr/>
        </p:nvSpPr>
        <p:spPr>
          <a:xfrm>
            <a:off x="711200" y="6464300"/>
            <a:ext cx="4445000" cy="774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9626E3-3C02-A2F9-9201-2F0D6DA1FB86}"/>
              </a:ext>
            </a:extLst>
          </p:cNvPr>
          <p:cNvSpPr txBox="1"/>
          <p:nvPr/>
        </p:nvSpPr>
        <p:spPr>
          <a:xfrm>
            <a:off x="889000" y="6591299"/>
            <a:ext cx="4089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라벨 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1~6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A4DF3A9-1CC3-6594-1FA3-B55AF26F7F16}"/>
              </a:ext>
            </a:extLst>
          </p:cNvPr>
          <p:cNvSpPr/>
          <p:nvPr/>
        </p:nvSpPr>
        <p:spPr>
          <a:xfrm>
            <a:off x="5156200" y="6464300"/>
            <a:ext cx="4610100" cy="774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801D3C-7F57-D2EF-AD44-C4C3029BB5AC}"/>
              </a:ext>
            </a:extLst>
          </p:cNvPr>
          <p:cNvSpPr txBox="1"/>
          <p:nvPr/>
        </p:nvSpPr>
        <p:spPr>
          <a:xfrm>
            <a:off x="5334000" y="6591299"/>
            <a:ext cx="4254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프린터에 </a:t>
            </a: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또는 다수 전송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756CF15-3FC5-0B1D-125E-B5CCBB10D7E5}"/>
              </a:ext>
            </a:extLst>
          </p:cNvPr>
          <p:cNvSpPr/>
          <p:nvPr/>
        </p:nvSpPr>
        <p:spPr>
          <a:xfrm>
            <a:off x="9766300" y="6464300"/>
            <a:ext cx="5778500" cy="774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10AFC6-F9FE-0F9D-C124-490F1F8C91CB}"/>
              </a:ext>
            </a:extLst>
          </p:cNvPr>
          <p:cNvSpPr txBox="1"/>
          <p:nvPr/>
        </p:nvSpPr>
        <p:spPr>
          <a:xfrm>
            <a:off x="9944100" y="6591299"/>
            <a:ext cx="54229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지시 </a:t>
            </a: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세트 </a:t>
            </a: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호출은 </a:t>
            </a:r>
            <a:r>
              <a:rPr lang="en-US" altLang="ko-KR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 프린터 기준</a:t>
            </a:r>
          </a:p>
        </p:txBody>
      </p:sp>
    </p:spTree>
    <p:extLst>
      <p:ext uri="{BB962C8B-B14F-4D97-AF65-F5344CB8AC3E}">
        <p14:creationId xmlns:p14="http://schemas.microsoft.com/office/powerpoint/2010/main" val="3123420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7890301-43D5-56AA-6DA3-2B9D957E263A}"/>
              </a:ext>
            </a:extLst>
          </p:cNvPr>
          <p:cNvSpPr/>
          <p:nvPr/>
        </p:nvSpPr>
        <p:spPr>
          <a:xfrm>
            <a:off x="0" y="0"/>
            <a:ext cx="16256000" cy="1143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62757A-97E9-31E1-204F-049D558F1EF6}"/>
              </a:ext>
            </a:extLst>
          </p:cNvPr>
          <p:cNvSpPr txBox="1"/>
          <p:nvPr/>
        </p:nvSpPr>
        <p:spPr>
          <a:xfrm>
            <a:off x="711200" y="368299"/>
            <a:ext cx="14833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300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APPENDIX / SOURCE MAP</a:t>
            </a:r>
            <a:endParaRPr lang="ko-KR" altLang="en-US" sz="1300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C61AB0-387A-26D9-9C15-816F5286AE42}"/>
              </a:ext>
            </a:extLst>
          </p:cNvPr>
          <p:cNvSpPr txBox="1"/>
          <p:nvPr/>
        </p:nvSpPr>
        <p:spPr>
          <a:xfrm>
            <a:off x="711200" y="838199"/>
            <a:ext cx="14833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5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검토 범위와 발표 근거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D39DDC-43FE-D0B4-8B6D-A6E2A2D0E58A}"/>
              </a:ext>
            </a:extLst>
          </p:cNvPr>
          <p:cNvSpPr txBox="1"/>
          <p:nvPr/>
        </p:nvSpPr>
        <p:spPr>
          <a:xfrm>
            <a:off x="711200" y="1739899"/>
            <a:ext cx="148336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자체 소스 전반을 확인하고 활성 경로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레거시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 의존성을 구분했다</a:t>
            </a:r>
            <a:r>
              <a:rPr lang="en-US" altLang="ko-KR" sz="20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2E393B-ECE7-94A7-B46C-B4CC5A287576}"/>
              </a:ext>
            </a:extLst>
          </p:cNvPr>
          <p:cNvSpPr/>
          <p:nvPr/>
        </p:nvSpPr>
        <p:spPr>
          <a:xfrm>
            <a:off x="711200" y="7620000"/>
            <a:ext cx="14833600" cy="774700"/>
          </a:xfrm>
          <a:prstGeom prst="rect">
            <a:avLst/>
          </a:prstGeom>
          <a:solidFill>
            <a:srgbClr val="E4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7FFA87-FE1A-9054-8750-C4F5EBD1EB5B}"/>
              </a:ext>
            </a:extLst>
          </p:cNvPr>
          <p:cNvSpPr/>
          <p:nvPr/>
        </p:nvSpPr>
        <p:spPr>
          <a:xfrm>
            <a:off x="711200" y="7620000"/>
            <a:ext cx="63500" cy="7747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F33BFE-B719-5DD3-EE44-B65A1068E513}"/>
              </a:ext>
            </a:extLst>
          </p:cNvPr>
          <p:cNvSpPr txBox="1"/>
          <p:nvPr/>
        </p:nvSpPr>
        <p:spPr>
          <a:xfrm>
            <a:off x="952500" y="7797799"/>
            <a:ext cx="143383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 공유 전 회사명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문서명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규칙의 공개 승인 범위를 확인해야 한다</a:t>
            </a:r>
            <a:r>
              <a:rPr lang="en-US" altLang="ko-KR" b="1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951751-CFAE-F3B7-6C97-74F262840155}"/>
              </a:ext>
            </a:extLst>
          </p:cNvPr>
          <p:cNvSpPr txBox="1"/>
          <p:nvPr/>
        </p:nvSpPr>
        <p:spPr>
          <a:xfrm>
            <a:off x="711200" y="8648699"/>
            <a:ext cx="13462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[AKA04-30601] </a:t>
            </a: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 정의서 </a:t>
            </a:r>
            <a:r>
              <a:rPr lang="en-US" altLang="ko-KR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 0.7 (2026.09.18) | </a:t>
            </a:r>
            <a:r>
              <a:rPr lang="ko-KR" altLang="en-US" sz="11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소스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1E6B5E-65C0-576C-39D5-BEA2D56543E8}"/>
              </a:ext>
            </a:extLst>
          </p:cNvPr>
          <p:cNvSpPr txBox="1"/>
          <p:nvPr/>
        </p:nvSpPr>
        <p:spPr>
          <a:xfrm>
            <a:off x="14528800" y="8648699"/>
            <a:ext cx="101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200">
                <a:solidFill>
                  <a:srgbClr val="5769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 / 22</a:t>
            </a:r>
            <a:endParaRPr lang="ko-KR" altLang="en-US" sz="1200">
              <a:solidFill>
                <a:srgbClr val="5769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77DEA47-38C9-8245-458D-434C6AED6EED}"/>
              </a:ext>
            </a:extLst>
          </p:cNvPr>
          <p:cNvSpPr/>
          <p:nvPr/>
        </p:nvSpPr>
        <p:spPr>
          <a:xfrm>
            <a:off x="711200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7A73C8-474F-164E-FAEA-EE70C20C35A4}"/>
              </a:ext>
            </a:extLst>
          </p:cNvPr>
          <p:cNvSpPr/>
          <p:nvPr/>
        </p:nvSpPr>
        <p:spPr>
          <a:xfrm>
            <a:off x="711200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7453CE-2A63-26AD-5242-E3325D0973DB}"/>
              </a:ext>
            </a:extLst>
          </p:cNvPr>
          <p:cNvSpPr txBox="1"/>
          <p:nvPr/>
        </p:nvSpPr>
        <p:spPr>
          <a:xfrm>
            <a:off x="1003300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0D7D72-CED8-CAD9-A45D-3E19CD776B8D}"/>
              </a:ext>
            </a:extLst>
          </p:cNvPr>
          <p:cNvSpPr txBox="1"/>
          <p:nvPr/>
        </p:nvSpPr>
        <p:spPr>
          <a:xfrm>
            <a:off x="1003300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 검토한 구현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2DBFB2-3355-E84F-A0EE-C8134CEA4950}"/>
              </a:ext>
            </a:extLst>
          </p:cNvPr>
          <p:cNvSpPr txBox="1"/>
          <p:nvPr/>
        </p:nvSpPr>
        <p:spPr>
          <a:xfrm>
            <a:off x="1003300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Service1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BIZ · DAO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COMMON · DEFINE · VO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테스트 콘솔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스크립트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docs</a:t>
            </a:r>
            <a:endParaRPr lang="ko-KR" altLang="en-US" sz="2100">
              <a:solidFill>
                <a:srgbClr val="1F2F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C25A40A-DCD6-66F4-6751-8C8EBF41E5EB}"/>
              </a:ext>
            </a:extLst>
          </p:cNvPr>
          <p:cNvSpPr/>
          <p:nvPr/>
        </p:nvSpPr>
        <p:spPr>
          <a:xfrm>
            <a:off x="5757333" y="2768600"/>
            <a:ext cx="4741334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C84A0DB-16B9-1C3A-752B-7D9C2F326625}"/>
              </a:ext>
            </a:extLst>
          </p:cNvPr>
          <p:cNvSpPr/>
          <p:nvPr/>
        </p:nvSpPr>
        <p:spPr>
          <a:xfrm>
            <a:off x="5757333" y="2768600"/>
            <a:ext cx="4741334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2BE98B-089D-6C8E-81A6-E1DC33F96FDD}"/>
              </a:ext>
            </a:extLst>
          </p:cNvPr>
          <p:cNvSpPr txBox="1"/>
          <p:nvPr/>
        </p:nvSpPr>
        <p:spPr>
          <a:xfrm>
            <a:off x="6049433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5E5DDC-D9BC-D242-97AA-59921535B3F0}"/>
              </a:ext>
            </a:extLst>
          </p:cNvPr>
          <p:cNvSpPr txBox="1"/>
          <p:nvPr/>
        </p:nvSpPr>
        <p:spPr>
          <a:xfrm>
            <a:off x="6049433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구분한 보조 범위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525EC5-D47D-7EC8-3E52-D38CB025D1FE}"/>
              </a:ext>
            </a:extLst>
          </p:cNvPr>
          <p:cNvSpPr txBox="1"/>
          <p:nvPr/>
        </p:nvSpPr>
        <p:spPr>
          <a:xfrm>
            <a:off x="6049433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생성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SSRS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프록시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·WSDL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컴파일 제외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BarcodeRuleBiz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잔존 레거시 바코드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 함수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설치만 확인된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ML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관련 패키지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8B622C8-484B-8A6D-A8E6-9F5A0230906D}"/>
              </a:ext>
            </a:extLst>
          </p:cNvPr>
          <p:cNvSpPr/>
          <p:nvPr/>
        </p:nvSpPr>
        <p:spPr>
          <a:xfrm>
            <a:off x="10803467" y="2768600"/>
            <a:ext cx="4741333" cy="44577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D2EEE19-46EE-5CD2-4F1E-2DACBB590394}"/>
              </a:ext>
            </a:extLst>
          </p:cNvPr>
          <p:cNvSpPr/>
          <p:nvPr/>
        </p:nvSpPr>
        <p:spPr>
          <a:xfrm>
            <a:off x="10803467" y="2768600"/>
            <a:ext cx="4741333" cy="76200"/>
          </a:xfrm>
          <a:prstGeom prst="rect">
            <a:avLst/>
          </a:prstGeom>
          <a:solidFill>
            <a:srgbClr val="007F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94EFDA-8DF8-D01B-0319-B151EB60B543}"/>
              </a:ext>
            </a:extLst>
          </p:cNvPr>
          <p:cNvSpPr txBox="1"/>
          <p:nvPr/>
        </p:nvSpPr>
        <p:spPr>
          <a:xfrm>
            <a:off x="11095567" y="3047999"/>
            <a:ext cx="4157133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b="1">
                <a:solidFill>
                  <a:srgbClr val="007F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b="1">
              <a:solidFill>
                <a:srgbClr val="007F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3D4F8D-80B4-4065-DD4F-50EBB9CF1172}"/>
              </a:ext>
            </a:extLst>
          </p:cNvPr>
          <p:cNvSpPr txBox="1"/>
          <p:nvPr/>
        </p:nvSpPr>
        <p:spPr>
          <a:xfrm>
            <a:off x="11095567" y="3632199"/>
            <a:ext cx="4157133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F1F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근거와 검증 경계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780074-B991-CD58-A6CA-DDBD2AB67663}"/>
              </a:ext>
            </a:extLst>
          </p:cNvPr>
          <p:cNvSpPr txBox="1"/>
          <p:nvPr/>
        </p:nvSpPr>
        <p:spPr>
          <a:xfrm>
            <a:off x="11095567" y="4610099"/>
            <a:ext cx="4157133" cy="234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정의서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 0.7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쪽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슬라이드별 발표 노트</a:t>
            </a: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소스 근거</a:t>
            </a:r>
          </a:p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source-inventory.csv </a:t>
            </a: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 목록</a:t>
            </a:r>
          </a:p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1F2F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 설비 통합 완료는 별도 검증</a:t>
            </a:r>
          </a:p>
        </p:txBody>
      </p:sp>
    </p:spTree>
    <p:extLst>
      <p:ext uri="{BB962C8B-B14F-4D97-AF65-F5344CB8AC3E}">
        <p14:creationId xmlns:p14="http://schemas.microsoft.com/office/powerpoint/2010/main" val="737745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4546</Words>
  <Application>Microsoft Office PowerPoint</Application>
  <PresentationFormat>사용자 지정</PresentationFormat>
  <Paragraphs>641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K5 선적자동화 시스템 | API 개발 포트폴리오</dc:title>
  <dc:creator>API Development Portfolio</dc:creator>
  <cp:lastModifiedBy>API Development Portfolio</cp:lastModifiedBy>
  <cp:revision>1</cp:revision>
  <dcterms:created xsi:type="dcterms:W3CDTF">2026-10-09T14:01:30Z</dcterms:created>
  <dcterms:modified xsi:type="dcterms:W3CDTF">2026-10-09T14:01:30Z</dcterms:modified>
  <dc:subject>자동 Packing 설비와 MES를 연결하는 업무 인터페이스</dc:subject>
</cp:coreProperties>
</file>