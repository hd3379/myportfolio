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331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Supplier Portal
공급업체 등록부터 평가·승인까지
하나의 업무 흐름으로 연결하다
발표 및 검증 메모
이 자료는 현재 저장소에서 확인한 프로젝트 구현을 소개합니다. 개발 기간, 팀 규모, 발표자의 담당 범위 및 정량 성과는 제공되지 않아 기재하지 않았습니다. 면접에서는 실제 본인 담당 부분을 구분해 설명해야 합니다.
코드 근거
frontend/package.json
build.gradle
frontend/src/routes.js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업체 정보, 평가, 승인 업무를 한곳에
외부 공급업체와 내부 검토자가 같은 문서의 진행 상태를 공유하는 구조
Company Profile
업체 기본정보와 발주 연계 데이터를 관리하고, 상위·하위 업체 코드 업무를 연결
SFC
공장·품질 관련 정보와 증빙을 수집하고 부서별 검토 단계를 진행
SCRM
계약 담당자·정보보안 담당자·공급업체가 공급망 리스크 평가를 단계별 수행
Survey
설문 구조 작성, 대상자별 요청 및 응답 저장을 지원
발표 및 검증 메모
기능 구분은 프런트엔드 라우트와 서비스 구현에서 확인했습니다. 업무 효과는 기능의 의도이며 실제 처리시간 감소 또는 비용 절감 수치는 측정되지 않았습니다.
코드 근거
frontend/src/routes.js
src/main/java/com/supplier/service/profileCreation/MasterService.java
src/main/java/com/supplier/service/survey/SurveyService.java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서로 다른 담당자를 하나의 문서로 연결
업무 단계와 사용자 역할에 따라 조회 범위와 다음 행동이 달라지는 포털
Supplier
업체·공장 정보 및 증빙 제출
평가 질문과 설문에 응답
작성 문서와 진행 상태 확인
Reviewer
기술·구매·품질 검토
실사 및 정보보안 평가
의견 기록과 다음 단계 승인
Manager
업무별 담당자 배정
관리자 파일·기준 코드 관리
현재 결재와 전체 이력 확인
발표 및 검증 메모
실제 업무 참여자를 기능 코드에 근거해 묶은 역할 개념도입니다. 세 가지 이름이 서버 보안 프레임워크의 공식 역할 상수라는 의미는 아닙니다. 화면 접근 제한과 백엔드 인증·인가는 별도로 구분해서 설명합니다.
코드 근거
src/main/java/com/supplier/service/sfc/SfcMasterService.java
src/main/java/com/supplier/service/scrm/SCRMMasterService.java
frontend/src/routes.js
src/main/java/com/supplier/controller/common/ApprovalController.java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React 화면과 Spring Boot 업무 로직의 결합
화면·요청 처리·업무 규칙·영속성을 분리한 계층 구조
Frontend
React Router 기반 화면 분기
MUI 중심 입력·목록·검토 UI
Axios 기반 HTTP 요청
Backend
Controller → Service → Repository
DTO ↔ Entity 변환
Spring Data JPA 기반 저장
Data &amp; Integration
Microsoft SQL Server 드라이버
SAP 연계 코드 발급 호출
메일·첨부파일·정기 작업
발표 및 검증 메모
아키텍처는 코드 구조를 재구성한 개념도입니다. 모든 업무 로직이 Service에만 위치하는 것은 아니며 일부 Controller에도 업무 처리가 있습니다. Querydsl은 의존성에 포함되지만 전체 조회가 Querydsl로 구현되었다고 주장하지 않습니다.
코드 근거
build.gradle
frontend/package.json
src/main/java/com/supplier/service/sfc/SfcMasterService.java
src/main/java/com/supplier/service/survey/SurveyService.java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목록에서 검토까지, 반복 업무를 위한 화면 구성
SFC Board를 중심으로 살펴본 검색·탐색·작업 복귀 흐름
목록 탐색
상태·코드·공장·국가별 필터
정렬, 열 순서·크기 조정, 열 고정
상태에 따른 이동
DRAFT / RETURN은 조건에 따라 편집
그 외 문서는 상세·검토 화면으로 이동
작업 맥락 유지
목록 필터와 선택값을 라우트 state로 전달
목록 진입 시 이전 검색 조건 복원
발표 및 검증 메모
슬라이드의 목록 이미지는 실제 운영 화면 캡처가 아닌 SFCBoard의 컬럼 정의에 근거한 화면 구성도입니다. 예시 데이터는 합성 데이터입니다. MyWork는 현재 설문 요청 목록 중심이므로 전 업무 통합 대시보드라고 소개하지 않습니다.
코드 근거
frontend/src/Presentational/Pages/SFC/SFCBoard.jsx
frontend/src/Presentational/common/MyWork.jsx
frontend/src/routes.js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Company Profile | 업체 기준정보를 업무의 출발점으로
발주 연계 정보를 업체 기준정보로 반영하고 평가 대상 여부를 관리
입력
업체 코드·명칭, 자재 정보, 연락처, 주소, 발주 담당자 등 발주 연계 데이터
처리
vendorCode로 기존 업체를 조회
기존 업체는 평가 플래그 갱신
신규 업체는 기준정보 생성
연결
isSEF / isSEC로 평가 대상 구분
상위 코드·업체 코드 관련 화면 제공
SCRM 자동 생성의 기준으로 활용
발표 및 검증 메모
MasterService.insert는 기존 업체의 전체 필드를 동기화하는 범용 upsert가 아닙니다. 기존 데이터에서는 isSEF 또는 isSEC 및 일부 담당자 정보만 변경하므로, 발표에서도 '평가 대상 플래그 갱신'으로 설명합니다.
코드 근거
src/main/java/com/supplier/service/profileCreation/MasterService.java
src/main/java/com/supplier/scheduler/SCRMCreationScheduler.java
frontend/src/routes.js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SFC | 부서별 검토를 상태 전이로 구현
작성 → 담당자 배정 → 순차 검토 → 완료 시 SAP 코드 발급 호출
진행 규칙
getNextStatus가 다음 상태 결정
saveNextStatus가 상태 저장
RETURN 문서는 ASSIGN으로 재진입
완료 처리
COMPLETE 전환 시 SAP SFC 코드 발급 호출
발급 코드를 문서에 반영
검토·반려 메일 발송 로직 제공
발표 및 검증 메모
정상 진행 흐름은 SfcMasterService.getNextStatus를 그대로 요약했습니다. SUPP 등의 상태 코드는 임의로 의미를 확장하지 않았습니다. 외부 SAP 서버에서 실제 발급에 성공하는지는 이 분석에서 실행 검증하지 않았습니다.
코드 근거
src/main/java/com/supplier/service/sfc/SfcMasterService.java
frontend/src/Presentational/Pages/SFC/ReviewComponent/TechReview.jsx
frontend/src/Presentational/Pages/SFC/ReviewComponent/SQEReview.jsx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승인 한 번에 일어나는 처리
승인 이력, 문서 상태, 다음 담당자, 알림을 이어 주는 오케스트레이션
현재 단계 종료
문서·상태로 결재 목록 조회
승인자 의견과 처리 시각 저장
다른 현재 결재 항목 비활성화
다음 단계 시작
Service에서 다음 상태 결정·저장
다음 결재의 aprvCur를 Y로 설정
담당자·관리자 수신 목록 구성
발표 및 검증 메모
sfcApprove의 실행 순서를 설명합니다. 전체 승인 처리가 하나의 원자적 트랜잭션으로 묶였다는 주장은 하지 않습니다. Controller에서 여러 Service 호출이 이어지므로, 실패 시 일관성 및 외부 알림 재시도는 후속 개선 대상으로 설명할 수 있습니다. 모든 담당자가 승인해야 진행되는 만장일치 구조로 표현하지 않습니다.
코드 근거
src/main/java/com/supplier/controller/sfc/SfcMasterController.java
src/main/java/com/supplier/repository/common/ApprovalRepository.java
src/main/java/com/supplier/service/common/ApprovalService.java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SCRM | 역할별 리스크 검토 프로세스
실사·보안 검토·공급업체 응답을 하나의 평가 문서로 연결
담당자별 조회
InfoSec 권한, 발주 담당자, 공급업체 이메일에 따라 문서 목록 분기
MYAPP에서 현재 처리 대상 구성
상태별 알림
상태에 맞는 메일 제목·본문 코드를 선택
VENDOR 단계에서는 별도 접근권한 요청 메일도 호출
발표 및 검증 메모
상태 흐름은 정상 진행 경로입니다. getNextStatus에서 RETURN은 REVIEW로 진행합니다. goToReturnStatus는 REVIEW이면 VENDOR로, 그 외에는 COMPLETE로 변경하므로 반려 정책 전체를 일반적인 RETURN 전환으로 설명하면 안 됩니다. 이메일 도메인 기반 조회 분기는 구현 사실이지 강한 서버 인증을 보장한다는 뜻이 아닙니다.
코드 근거
src/main/java/com/supplier/service/scrm/SCRMMasterService.java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정기 작업 | 발주 데이터에서 SCRM 초안 생성
매일 00·06·12·18시, 처리되지 않은 업체 데이터를 평가 업무로 전환
대상과 생성 규칙
secStatus IS NULL 대상 조회
최신 SCRM 질문 버전 적용
SYSTEM 작성자와 DRAFT 상태 저장
중복 생성을 줄이는 조건
기존 업체의 isSEC가 true이면 초안 생성 생략
완료 건의 secStatus를 RUN으로 변경
오류 발생 시 업체별 로그 기록
발표 및 검증 메모
활성 cron은 0 0 0/6 * * *이며 주석의 10분 주기와 다릅니다. 시간대는 별도 명시되지 않았습니다. isSEC 및 RUN은 중복 생성 완화를 위한 코드 조건이지만 다중 인스턴스 동시 실행에 대한 완전한 멱등성이나 분산 락을 보장하지 않습니다.
코드 근거
src/main/java/com/supplier/scheduler/SCRMCreationScheduler.java
src/main/java/com/supplier/service/profileCreation/MasterService.java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Survey | 설문 구조와 대상자 응답을 분리
하나의 설문을 여러 대상자에게 요청하고 응답을 독립적으로 저장
설문 정의
Header → List → Item 구조
저장 전 부모·자식 참조 연결
설문 단위로 질문 구조 저장
응답 요청
대상 이메일마다 Request 생성
각 Item에 대응하는 빈 Answer 생성
요청 초기 상태를 DRAFT로 설정
응답 관리
응답자 이메일로 요청 조회
요청별 Answer 목록 저장
설문별 요청 내역 조회
발표 및 검증 메모
설문 저장 시 양방향 연결을 설정하는 부분이 핵심입니다. SurveyService.sendSurveyMail은 제목과 수신자 구성에 미완성으로 보이는 부분이 있어 설문 메일 발송이 완성되었다고 주장하지 않습니다.
코드 근거
src/main/java/com/supplier/service/survey/SurveyService.java
src/main/java/com/supplier/domain/survey/SUPP_SURVEY_HEADER.java
src/main/java/com/supplier/domain/survey/SUPP_SURVEY_REQUEST.java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데이터 모델 | 업무 문서와 공통 정보를 분리
업무별 Master와 공통 결재·파일·이력, 설문 관계 모델의 조합
업무 문서
SUPP_COM_MASTER
SUPP_SFC_MASTER
SUPP_SCRM_MASTER
업체·평가 문서의 기준 데이터
공통 운영 정보
SUPP_APRV / SUPP_FILE_MASTER
SUPP_CHG_HISTORY
SUPP_TABLE_SCHEMA
결재·첨부·변경·코드 정보
설문 관계
HEADER → LIST → ITEM
HEADER → REQUEST → ANSWER
ANSWER가 ITEM을 참조
정의와 응답을 분리한 관계 구조
발표 및 검증 메모
코드 기반 논리 모델이며 DB에서 추출한 물리 ERD는 아닙니다. 공통 테이블의 문서 ID·타입 연결을 실제 FK 제약으로 단정하지 않습니다. 설문 HEADER-LIST, LIST-ITEM, REQUEST-ANSWER에는 CascadeType.ALL 설정이 확인됩니다.
코드 근거
src/main/java/com/supplier/domain/common/SUPP_APRV.java
src/main/java/com/supplier/domain/common/SUPP_FILE_MASTER.java
src/main/java/com/supplier/domain/survey/SUPP_SURVEY_HEADER.java
src/main/java/com/supplier/domain/survey/SUPP_SURVEY_LIST.java
src/main/java/com/supplier/domain/survey/SUPP_SURVEY_REQUEST.java
src/main/java/com/supplier/domain/survey/SUPP_SURVEY_ANSWER.java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첨부파일과 기준 코드도 업무 문맥에 맞게
증빙의 문서 소속과 변경 이력을 관리하고 운영 문구를 데이터로 분리
파일 관리
Multipart 업로드와 메타데이터 저장
docId·docType·module·fileType으로 분류
UUID·원본명·시각을 조합해 저장명 생성
변경 추적
첨부 추가·삭제 시 이력 기록 호출
파일 교체 시 기존 메타데이터 ID 유지
다운로드 시 경로 정규화·범위 검사
기준 코드
menu·kind·code 단위 코드 조회
메일 제목·본문 템플릿을 데이터에서 조회
관리 화면에서 코드·문구 갱신
발표 및 검증 메모
파일의 물리 저장과 DB 메타데이터 저장을 구분해 설명합니다. 파일과 DB가 원자적으로 함께 롤백된다는 보장은 확인하지 않았습니다. 다운로드 경로 검증이 업로드 파일 유형·내용 검증 또는 문서별 접근권한 검증까지 의미하지는 않습니다.
코드 근거
src/main/java/com/supplier/service/sfc/SfcFileService.java
src/main/java/com/supplier/controller/common/FileController.java
src/main/java/com/supplier/controller/common/TableSchemaController.java
src/main/java/com/supplier/service/scrm/SCRMMasterService.java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SAP 연계 | 포털의 승인 결과를 기준 코드에 연결
기존 기업 시스템과 SOAP 인터페이스로 연결하는 구현
연계 범위
상위 업체 코드 생성·명칭 조회
상위 코드 및 업체 상태 변경
SFC 완료 시 코드 발급 호출
구현 방식
Jakarta SOAP / SAAJ 사용
환경별 endpoint 설정 선택
SOAPAction과 업무 파라미터 구성
발표 및 검증 메모
외부 ERP와의 연계 코드를 확인한 것이며 SAP 시스템 접속이나 운영 호출은 수행하지 않았습니다. 실제 주소·계정·인증 정보는 발표 자료에 포함하지 않았습니다. 타임아웃, 재시도, 중복 발급 방지는 별도 검증 및 보완 항목입니다.
코드 근거
src/main/java/com/supplier/controller/profileCreation/ParentCodeController.java
src/main/java/com/supplier/service/sfc/SfcMasterService.java
build.gradle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EFFW | 출하 데이터를 연계용 레코드로 변환
출하일로 조회한 데이터를 포워더 연계 형식으로 가공
조회
shipDate를 정수로 변환해 조회
REQUIRES_NEW 읽기 전용 트랜잭션
JPA 캐시 retrieve/store BYPASS 힌트
변환
Entity → DTO 변환
일부 빈 문자열을 문자열 null로 치환
출하일·고객·송장·중량 등 12개 필드를 콜론으로 연결
구현 의도
요청별 별도 트랜잭션 경계 사용
캐시 사용을 피하는 조회 의도
외부 시스템이 소비할 레코드 목록 반환
발표 및 검증 메모
캐시 힌트 및 별도 트랜잭션은 구현 사실입니다. 데이터베이스 격리 수준, 외부 적재 시점까지 포함한 절대적인 최신성을 보장한다고 말하지 않습니다. 빈 문자열 치환은 Java null 값을 처리한다는 의미가 아닙니다.
코드 근거
src/main/java/com/supplier/repository/effw/EffwRepository.java
src/main/java/com/supplier/service/effw/EffwService.java
src/main/java/com/supplier/controller/effw/EffwController.java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보안 구현 | 브라우저 정책과 파일 경계 검증
실제로 확인한 방어 로직과 추가 검증이 필요한 인증 영역을 구분
CSP와 nonce
SecureRandom 기반 요청별 nonce 생성
HTML의 nonce placeholder 치환
Emotion CacheProvider에 nonce 전달
응답·파일 보호
frame-ancestors / object-src 제한
nosniff 및 Referrer-Policy 설정
다운로드 대상이 기준 경로 안인지 검사
추가 검증 영역
UI 권한 분기는 서버 인가와 별개
로그인·세션의 서버 검증 강화
연계 키 외부화 및 문서별 권한 점검
발표 및 검증 메모
nonce는 현재 정책에서 style-src에 사용되며 script-src는 self입니다. JWT 기반 인증이나 Spring Security 적용으로 소개하지 않습니다. 클라이언트 쿠키·localStorage 사용과 EFFW의 코드 내 고정 키가 확인되지만 실제 값은 자료에 넣지 않았습니다. 완전한 보안감사 결과나 취약점 해결 완료를 의미하지 않습니다.
코드 근거
src/main/java/com/supplier/config/CSPNonceFilter.java
frontend/src/index.js
src/main/java/com/supplier/controller/common/FileController.java
frontend/src/App.jsx
frontend/src/routes.js
src/main/java/com/supplier/controller/effw/EffwController.java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CI/CD | 브랜치 이벤트에서 빌드·전달까지
GitHub Actions 재사용 워크플로를 호출하는 빌드·배포 구성
구성된 자동화
develop PR: 빌드 워크플로 호출
main 병합: 빌드 후 운영 산출물 전달
Actions·Java·JavaScript CodeQL 구성
확인해야 할 운영 조건
설정은 GitHub Secrets로 전달
재사용 워크플로를 커밋 SHA로 고정
Java 21과 일부 Java 8 설정 불일치 점검
발표 및 검증 메모
재사용 워크플로의 내부 구현은 이 저장소 밖에 있으므로 배포 성공이나 전체 파이프라인 실행을 검증하지 않았습니다. main과 CodeQL의 java_version은 8, develop은 21, Gradle toolchain은 21입니다. CodeQL Java 빌드 명령에는 -x test가 있어 테스트 통과 증거로 볼 수 없습니다. GitHub Secrets의 이름 또는 내용, 운영 서버 주소는 슬라이드에 노출하지 않았습니다.
코드 근거
.github/workflows/develop_ci_npm_gradle.yml
.github/workflows/main_ci_cd_npm_gradle.yml
.github/workflows/codeql.yml
build.gradle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코드에서 드러나는 설계 선택과 트레이드오프
업무를 구현하는 선택에는 유지보수와 운영 측면의 후속 과제가 따른다
명시적인 상태 전이
장점: 단계와 다음 상태를 쉽게 추적
과제: 허용 전이 테스트와 동시 승인 제어
공통 결재·파일 모델
장점: 여러 업무에서 이력 구조 재사용
과제: 문서 타입·ID 정합성 검증 강화
배치와 외부 연계
장점: 발주·SAP 데이터를 업무에 연결
과제: 재시도·실패 복구·중복 처리 방지
발표 및 검증 메모
설계 의도에 대한 표현은 코드 구조를 근거로 한 해석입니다. 담당 개발자가 직접 선택한 배경이나 실제 장애 대응 이력은 제공되지 않았으므로 단정하지 않습니다. 면접에서는 본인이 실제 참여한 결정과 이 자료의 분석을 구분합니다.
코드 근거
src/main/java/com/supplier/service/sfc/SfcMasterService.java
src/main/java/com/supplier/domain/common/SUPP_APRV.java
src/main/java/com/supplier/scheduler/SCRMCreationScheduler.java
src/main/java/com/supplier/controller/profileCreation/ParentCodeController.java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다음 개선은 신뢰성과 검증 가능성에 집중
기능 구현을 운영 품질로 이어 가기 위한 후속 과제
01  인증·환경 정합성
서버 인증·문서별 인가 검증 강화
연계 키를 외부 설정으로 이동
CI와 프로젝트 Java 버전 정합화
02  핵심 흐름 테스트
SFC·SCRM 상태 전이와 반려 테스트
배치 중복·실패 복구 테스트
첨부 경로·외부 연계 예외 테스트
03  품질과 관측
승인 처리 트랜잭션 경계 정리
설문 통계·메일 경로 완성도 점검
처리시간·실패율·지연 지표 수집
발표 및 검증 메모
이 슬라이드는 완료한 성과가 아니라 제안하는 개선 계획입니다. 일반적인 *Test.java, *Tests.java, *.test.js(x), *.spec.js(x) 파일 검색에서는 자체 테스트를 찾지 못했습니다. 의존성 선언만으로 테스트가 구축되었다고 말하지 않습니다. 실행 성능과 개선 효과는 실측 자료가 없습니다.
코드 근거
frontend/src/Presentational/Pages/Survey/SurveyReview/SurveyStatistics.jsx
src/main/java/com/supplier/service/survey/SurveyService.java
src/main/java/com/supplier/controller/sfc/SfcMasterController.java
.github/workflows/main_ci_cd_npm_gradle.yml
build.gradle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업무 흐름을 이해하고, 시스템으로 연결하는 구현
Supplier Portal의 핵심은 화면 수가 아니라
업체 정보·평가·결재·외부 시스템을 잇는 과정입니다.
업무 모델링
역할과 상태에 따른 평가·승인 흐름
풀스택 연결
React UI부터 JPA 저장·SAP 연계까지
운영 관점
정기 작업, 이력, 보안 헤더, CI/CD 구성
발표 및 검증 메모
마무리 발표 예시: 이 프로젝트는 공급업체 정보를 등록하는 데서 그치지 않고 평가, 검토, 코드 발급, 이력 관리까지 연결합니다. 업무 흐름을 상태와 데이터 모델로 옮기고 프런트엔드부터 외부 시스템까지 이어지는 구현이 특징입니다. 개인 기여율, 개발 기간, 팀 구성, 사용자 수와 정량 성과는 확인되지 않았습니다. 본인이 담당한 기능과 실제 경험을 확인해 별도로 설명하세요. 자료는 현재 소스 정적 분석을 기준으로 하며 운영 시스템 호출은 수행하지 않았습니다.
코드 근거
frontend/src/routes.js
src/main/java/com/supplier/service/sfc/SfcMasterService.java
src/main/java/com/supplier/scheduler/SCRMCreationScheduler.java
.github/workflows/main_ci_cd_npm_gradle.yml
분석 기준: 2026-10-09
현재 저장소의 자체 작성 소스와 빌드·배포 설정을 기준으로 작성. 외부 라이브러리 및 생성 파일 제외. 개인 기여도·실운영 성과는 미확인.</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B2B"/>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8EDCC1"/>
          </a:solidFill>
          <a:ln w="8255">
            <a:solidFill>
              <a:srgbClr val="8EDCC1"/>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FFFFFF"/>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B4C8BF"/>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476055"/>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B4C8BF"/>
                </a:solidFill>
                <a:latin typeface="Bahnschrift" pitchFamily="34" charset="0"/>
                <a:ea typeface="Bahnschrift" pitchFamily="34" charset="-122"/>
                <a:cs typeface="Bahnschrift" pitchFamily="34" charset="-120"/>
              </a:rPr>
              <a:t>SOURCE  package.json  /  build.gradle  /  routes.js</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B4C8BF"/>
                </a:solidFill>
                <a:latin typeface="Bahnschrift" pitchFamily="34" charset="0"/>
                <a:ea typeface="Bahnschrift" pitchFamily="34" charset="-122"/>
                <a:cs typeface="Bahnschrift" pitchFamily="34" charset="-120"/>
              </a:rPr>
              <a:t>01 / 20</a:t>
            </a:r>
            <a:endParaRPr lang="ko-KR" sz="1000" dirty="0"/>
          </a:p>
        </p:txBody>
      </p:sp>
      <p:sp>
        <p:nvSpPr>
          <p:cNvPr id="9" name="Text 6"/>
          <p:cNvSpPr/>
          <p:nvPr/>
        </p:nvSpPr>
        <p:spPr>
          <a:xfrm>
            <a:off x="566928" y="1042416"/>
            <a:ext cx="9875520" cy="292608"/>
          </a:xfrm>
          <a:prstGeom prst="rect">
            <a:avLst/>
          </a:prstGeom>
          <a:noFill/>
          <a:ln/>
        </p:spPr>
        <p:txBody>
          <a:bodyPr wrap="square" lIns="0" tIns="0" rIns="0" bIns="0" rtlCol="0" anchor="ctr"/>
          <a:lstStyle/>
          <a:p>
            <a:pPr marL="0" indent="0">
              <a:buNone/>
            </a:pPr>
            <a:r>
              <a:rPr lang="ko-KR" altLang="en-US" sz="1200" dirty="0">
                <a:solidFill>
                  <a:srgbClr val="8EDCC1"/>
                </a:solidFill>
                <a:latin typeface="Bahnschrift" pitchFamily="34" charset="0"/>
                <a:ea typeface="Bahnschrift" pitchFamily="34" charset="-122"/>
                <a:cs typeface="Bahnschrift" pitchFamily="34" charset="-120"/>
              </a:rPr>
              <a:t>FULL-STACK BUSINESS APPLICATION</a:t>
            </a:r>
            <a:endParaRPr lang="ko-KR" sz="1200" dirty="0"/>
          </a:p>
        </p:txBody>
      </p:sp>
      <p:sp>
        <p:nvSpPr>
          <p:cNvPr id="10" name="Text 7"/>
          <p:cNvSpPr/>
          <p:nvPr/>
        </p:nvSpPr>
        <p:spPr>
          <a:xfrm>
            <a:off x="521208" y="1719072"/>
            <a:ext cx="10972800" cy="1024128"/>
          </a:xfrm>
          <a:prstGeom prst="rect">
            <a:avLst/>
          </a:prstGeom>
          <a:noFill/>
          <a:ln/>
        </p:spPr>
        <p:txBody>
          <a:bodyPr wrap="square" lIns="0" tIns="0" rIns="0" bIns="0" rtlCol="0" anchor="ctr"/>
          <a:lstStyle/>
          <a:p>
            <a:pPr marL="0" indent="0">
              <a:buNone/>
            </a:pPr>
            <a:r>
              <a:rPr lang="ko-KR" altLang="en-US" sz="6500" b="1" dirty="0">
                <a:solidFill>
                  <a:srgbClr val="FFFFFF"/>
                </a:solidFill>
                <a:latin typeface="Bahnschrift" pitchFamily="34" charset="0"/>
                <a:ea typeface="Bahnschrift" pitchFamily="34" charset="-122"/>
                <a:cs typeface="Bahnschrift" pitchFamily="34" charset="-120"/>
              </a:rPr>
              <a:t>Supplier Portal</a:t>
            </a:r>
            <a:endParaRPr lang="ko-KR" sz="6500" dirty="0"/>
          </a:p>
        </p:txBody>
      </p:sp>
      <p:sp>
        <p:nvSpPr>
          <p:cNvPr id="11" name="Text 8"/>
          <p:cNvSpPr/>
          <p:nvPr/>
        </p:nvSpPr>
        <p:spPr>
          <a:xfrm>
            <a:off x="585216" y="3063240"/>
            <a:ext cx="9875520" cy="1143000"/>
          </a:xfrm>
          <a:prstGeom prst="rect">
            <a:avLst/>
          </a:prstGeom>
          <a:noFill/>
          <a:ln/>
        </p:spPr>
        <p:txBody>
          <a:bodyPr wrap="square" lIns="0" tIns="0" rIns="0" bIns="0" rtlCol="0" anchor="ctr"/>
          <a:lstStyle/>
          <a:p>
            <a:pPr marL="0" indent="0">
              <a:buNone/>
            </a:pPr>
            <a:r>
              <a:rPr lang="ko-KR" altLang="en-US" sz="2700" dirty="0">
                <a:solidFill>
                  <a:srgbClr val="FFFFFF"/>
                </a:solidFill>
                <a:latin typeface="Malgun Gothic" pitchFamily="34" charset="0"/>
                <a:ea typeface="Malgun Gothic" pitchFamily="34" charset="-122"/>
                <a:cs typeface="Malgun Gothic" pitchFamily="34" charset="-120"/>
              </a:rPr>
              <a:t>공급업체 등록부터 평가·승인까지</a:t>
            </a:r>
            <a:endParaRPr lang="ko-KR" sz="2700" dirty="0"/>
          </a:p>
          <a:p>
            <a:pPr marL="0" indent="0">
              <a:buNone/>
            </a:pPr>
            <a:r>
              <a:rPr lang="ko-KR" altLang="en-US" sz="2700" dirty="0">
                <a:solidFill>
                  <a:srgbClr val="FFFFFF"/>
                </a:solidFill>
                <a:latin typeface="Malgun Gothic" pitchFamily="34" charset="0"/>
                <a:ea typeface="Malgun Gothic" pitchFamily="34" charset="-122"/>
                <a:cs typeface="Malgun Gothic" pitchFamily="34" charset="-120"/>
              </a:rPr>
              <a:t>하나의 업무 흐름으로 연결하다</a:t>
            </a:r>
            <a:endParaRPr lang="ko-KR" sz="2700" dirty="0"/>
          </a:p>
        </p:txBody>
      </p:sp>
      <p:sp>
        <p:nvSpPr>
          <p:cNvPr id="12" name="Shape 9"/>
          <p:cNvSpPr/>
          <p:nvPr/>
        </p:nvSpPr>
        <p:spPr>
          <a:xfrm>
            <a:off x="585216" y="4736592"/>
            <a:ext cx="2542032" cy="64008"/>
          </a:xfrm>
          <a:prstGeom prst="rect">
            <a:avLst/>
          </a:prstGeom>
          <a:solidFill>
            <a:srgbClr val="8EDCC1"/>
          </a:solidFill>
          <a:ln w="8255">
            <a:solidFill>
              <a:srgbClr val="8EDCC1"/>
            </a:solidFill>
            <a:prstDash val="solid"/>
          </a:ln>
        </p:spPr>
      </p:sp>
      <p:sp>
        <p:nvSpPr>
          <p:cNvPr id="13" name="Text 10"/>
          <p:cNvSpPr/>
          <p:nvPr/>
        </p:nvSpPr>
        <p:spPr>
          <a:xfrm>
            <a:off x="585216" y="4965192"/>
            <a:ext cx="2560320" cy="256032"/>
          </a:xfrm>
          <a:prstGeom prst="rect">
            <a:avLst/>
          </a:prstGeom>
          <a:noFill/>
          <a:ln/>
        </p:spPr>
        <p:txBody>
          <a:bodyPr wrap="square" lIns="0" tIns="0" rIns="0" bIns="0" rtlCol="0" anchor="ctr"/>
          <a:lstStyle/>
          <a:p>
            <a:pPr marL="0" indent="0">
              <a:buNone/>
            </a:pPr>
            <a:r>
              <a:rPr lang="ko-KR" altLang="en-US" sz="1200" b="1" dirty="0">
                <a:solidFill>
                  <a:srgbClr val="C7D8D0"/>
                </a:solidFill>
                <a:latin typeface="Bahnschrift" pitchFamily="34" charset="0"/>
                <a:ea typeface="Bahnschrift" pitchFamily="34" charset="-122"/>
                <a:cs typeface="Bahnschrift" pitchFamily="34" charset="-120"/>
              </a:rPr>
              <a:t>PROFILE</a:t>
            </a:r>
            <a:endParaRPr lang="ko-KR" sz="1200" dirty="0"/>
          </a:p>
        </p:txBody>
      </p:sp>
      <p:sp>
        <p:nvSpPr>
          <p:cNvPr id="14" name="Shape 11"/>
          <p:cNvSpPr/>
          <p:nvPr/>
        </p:nvSpPr>
        <p:spPr>
          <a:xfrm>
            <a:off x="3401568" y="4736592"/>
            <a:ext cx="2542032" cy="64008"/>
          </a:xfrm>
          <a:prstGeom prst="rect">
            <a:avLst/>
          </a:prstGeom>
          <a:solidFill>
            <a:srgbClr val="8EDCC1"/>
          </a:solidFill>
          <a:ln w="8255">
            <a:solidFill>
              <a:srgbClr val="8EDCC1"/>
            </a:solidFill>
            <a:prstDash val="solid"/>
          </a:ln>
        </p:spPr>
      </p:sp>
      <p:sp>
        <p:nvSpPr>
          <p:cNvPr id="15" name="Text 12"/>
          <p:cNvSpPr/>
          <p:nvPr/>
        </p:nvSpPr>
        <p:spPr>
          <a:xfrm>
            <a:off x="3401568" y="4965192"/>
            <a:ext cx="2560320" cy="256032"/>
          </a:xfrm>
          <a:prstGeom prst="rect">
            <a:avLst/>
          </a:prstGeom>
          <a:noFill/>
          <a:ln/>
        </p:spPr>
        <p:txBody>
          <a:bodyPr wrap="square" lIns="0" tIns="0" rIns="0" bIns="0" rtlCol="0" anchor="ctr"/>
          <a:lstStyle/>
          <a:p>
            <a:pPr marL="0" indent="0">
              <a:buNone/>
            </a:pPr>
            <a:r>
              <a:rPr lang="ko-KR" altLang="en-US" sz="1200" b="1" dirty="0">
                <a:solidFill>
                  <a:srgbClr val="C7D8D0"/>
                </a:solidFill>
                <a:latin typeface="Bahnschrift" pitchFamily="34" charset="0"/>
                <a:ea typeface="Bahnschrift" pitchFamily="34" charset="-122"/>
                <a:cs typeface="Bahnschrift" pitchFamily="34" charset="-120"/>
              </a:rPr>
              <a:t>ASSESSMENT</a:t>
            </a:r>
            <a:endParaRPr lang="ko-KR" sz="1200" dirty="0"/>
          </a:p>
        </p:txBody>
      </p:sp>
      <p:sp>
        <p:nvSpPr>
          <p:cNvPr id="16" name="Shape 13"/>
          <p:cNvSpPr/>
          <p:nvPr/>
        </p:nvSpPr>
        <p:spPr>
          <a:xfrm>
            <a:off x="6217920" y="4736592"/>
            <a:ext cx="2542032" cy="64008"/>
          </a:xfrm>
          <a:prstGeom prst="rect">
            <a:avLst/>
          </a:prstGeom>
          <a:solidFill>
            <a:srgbClr val="8EDCC1"/>
          </a:solidFill>
          <a:ln w="8255">
            <a:solidFill>
              <a:srgbClr val="8EDCC1"/>
            </a:solidFill>
            <a:prstDash val="solid"/>
          </a:ln>
        </p:spPr>
      </p:sp>
      <p:sp>
        <p:nvSpPr>
          <p:cNvPr id="17" name="Text 14"/>
          <p:cNvSpPr/>
          <p:nvPr/>
        </p:nvSpPr>
        <p:spPr>
          <a:xfrm>
            <a:off x="6217920" y="4965192"/>
            <a:ext cx="2560320" cy="256032"/>
          </a:xfrm>
          <a:prstGeom prst="rect">
            <a:avLst/>
          </a:prstGeom>
          <a:noFill/>
          <a:ln/>
        </p:spPr>
        <p:txBody>
          <a:bodyPr wrap="square" lIns="0" tIns="0" rIns="0" bIns="0" rtlCol="0" anchor="ctr"/>
          <a:lstStyle/>
          <a:p>
            <a:pPr marL="0" indent="0">
              <a:buNone/>
            </a:pPr>
            <a:r>
              <a:rPr lang="ko-KR" altLang="en-US" sz="1200" b="1" dirty="0">
                <a:solidFill>
                  <a:srgbClr val="C7D8D0"/>
                </a:solidFill>
                <a:latin typeface="Bahnschrift" pitchFamily="34" charset="0"/>
                <a:ea typeface="Bahnschrift" pitchFamily="34" charset="-122"/>
                <a:cs typeface="Bahnschrift" pitchFamily="34" charset="-120"/>
              </a:rPr>
              <a:t>APPROVAL</a:t>
            </a:r>
            <a:endParaRPr lang="ko-KR" sz="1200" dirty="0"/>
          </a:p>
        </p:txBody>
      </p:sp>
      <p:sp>
        <p:nvSpPr>
          <p:cNvPr id="18" name="Shape 15"/>
          <p:cNvSpPr/>
          <p:nvPr/>
        </p:nvSpPr>
        <p:spPr>
          <a:xfrm>
            <a:off x="9034272" y="4736592"/>
            <a:ext cx="2542032" cy="64008"/>
          </a:xfrm>
          <a:prstGeom prst="rect">
            <a:avLst/>
          </a:prstGeom>
          <a:solidFill>
            <a:srgbClr val="D95A43"/>
          </a:solidFill>
          <a:ln w="8255">
            <a:solidFill>
              <a:srgbClr val="D95A43"/>
            </a:solidFill>
            <a:prstDash val="solid"/>
          </a:ln>
        </p:spPr>
      </p:sp>
      <p:sp>
        <p:nvSpPr>
          <p:cNvPr id="19" name="Text 16"/>
          <p:cNvSpPr/>
          <p:nvPr/>
        </p:nvSpPr>
        <p:spPr>
          <a:xfrm>
            <a:off x="9034272" y="4965192"/>
            <a:ext cx="2560320" cy="256032"/>
          </a:xfrm>
          <a:prstGeom prst="rect">
            <a:avLst/>
          </a:prstGeom>
          <a:noFill/>
          <a:ln/>
        </p:spPr>
        <p:txBody>
          <a:bodyPr wrap="square" lIns="0" tIns="0" rIns="0" bIns="0" rtlCol="0" anchor="ctr"/>
          <a:lstStyle/>
          <a:p>
            <a:pPr marL="0" indent="0">
              <a:buNone/>
            </a:pPr>
            <a:r>
              <a:rPr lang="ko-KR" altLang="en-US" sz="1200" b="1" dirty="0">
                <a:solidFill>
                  <a:srgbClr val="C7D8D0"/>
                </a:solidFill>
                <a:latin typeface="Bahnschrift" pitchFamily="34" charset="0"/>
                <a:ea typeface="Bahnschrift" pitchFamily="34" charset="-122"/>
                <a:cs typeface="Bahnschrift" pitchFamily="34" charset="-120"/>
              </a:rPr>
              <a:t>INTEGRATION</a:t>
            </a:r>
            <a:endParaRPr lang="ko-KR" sz="1200" dirty="0"/>
          </a:p>
        </p:txBody>
      </p:sp>
      <p:sp>
        <p:nvSpPr>
          <p:cNvPr id="20" name="Text 17"/>
          <p:cNvSpPr/>
          <p:nvPr/>
        </p:nvSpPr>
        <p:spPr>
          <a:xfrm>
            <a:off x="585216" y="5705856"/>
            <a:ext cx="10698480" cy="292608"/>
          </a:xfrm>
          <a:prstGeom prst="rect">
            <a:avLst/>
          </a:prstGeom>
          <a:noFill/>
          <a:ln/>
        </p:spPr>
        <p:txBody>
          <a:bodyPr wrap="square" lIns="0" tIns="0" rIns="0" bIns="0" rtlCol="0" anchor="ctr"/>
          <a:lstStyle/>
          <a:p>
            <a:pPr marL="0" indent="0">
              <a:buNone/>
            </a:pPr>
            <a:r>
              <a:rPr lang="ko-KR" altLang="en-US" sz="1400" dirty="0">
                <a:solidFill>
                  <a:srgbClr val="B4C8BF"/>
                </a:solidFill>
                <a:latin typeface="Bahnschrift" pitchFamily="34" charset="0"/>
                <a:ea typeface="Bahnschrift" pitchFamily="34" charset="-122"/>
                <a:cs typeface="Bahnschrift" pitchFamily="34" charset="-120"/>
              </a:rPr>
              <a:t>React 18   /   Java 21   /   Spring Boot 3.4.5   /   SQL Server</a:t>
            </a:r>
            <a:endParaRPr lang="ko-K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routes.js  /  MasterService.java  /  SurveyService.java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02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업체 정보, 평가, 승인 업무를 한곳에</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외부 공급업체와 내부 검토자가 같은 문서의 진행 상태를 공유하는 구조</a:t>
            </a:r>
            <a:endParaRPr lang="ko-KR" sz="1500" dirty="0"/>
          </a:p>
        </p:txBody>
      </p:sp>
      <p:sp>
        <p:nvSpPr>
          <p:cNvPr id="11" name="Shape 8"/>
          <p:cNvSpPr/>
          <p:nvPr/>
        </p:nvSpPr>
        <p:spPr>
          <a:xfrm>
            <a:off x="521208" y="2606040"/>
            <a:ext cx="64008" cy="1307592"/>
          </a:xfrm>
          <a:prstGeom prst="rect">
            <a:avLst/>
          </a:prstGeom>
          <a:solidFill>
            <a:srgbClr val="087F73"/>
          </a:solidFill>
          <a:ln w="8255">
            <a:solidFill>
              <a:srgbClr val="087F73"/>
            </a:solidFill>
            <a:prstDash val="solid"/>
          </a:ln>
        </p:spPr>
      </p:sp>
      <p:sp>
        <p:nvSpPr>
          <p:cNvPr id="12" name="Text 9"/>
          <p:cNvSpPr/>
          <p:nvPr/>
        </p:nvSpPr>
        <p:spPr>
          <a:xfrm>
            <a:off x="768096" y="2569464"/>
            <a:ext cx="5029200" cy="457200"/>
          </a:xfrm>
          <a:prstGeom prst="rect">
            <a:avLst/>
          </a:prstGeom>
          <a:noFill/>
          <a:ln/>
        </p:spPr>
        <p:txBody>
          <a:bodyPr wrap="square" lIns="0" tIns="0" rIns="0" bIns="0" rtlCol="0" anchor="ctr"/>
          <a:lstStyle/>
          <a:p>
            <a:pPr marL="0" indent="0">
              <a:buNone/>
            </a:pPr>
            <a:r>
              <a:rPr lang="ko-KR" altLang="en-US" sz="2500" b="1" dirty="0">
                <a:solidFill>
                  <a:srgbClr val="202B2B"/>
                </a:solidFill>
                <a:latin typeface="Bahnschrift" pitchFamily="34" charset="0"/>
                <a:ea typeface="Bahnschrift" pitchFamily="34" charset="-122"/>
                <a:cs typeface="Bahnschrift" pitchFamily="34" charset="-120"/>
              </a:rPr>
              <a:t>Company Profile</a:t>
            </a:r>
            <a:endParaRPr lang="ko-KR" sz="2500" dirty="0"/>
          </a:p>
        </p:txBody>
      </p:sp>
      <p:sp>
        <p:nvSpPr>
          <p:cNvPr id="13" name="Text 10"/>
          <p:cNvSpPr/>
          <p:nvPr/>
        </p:nvSpPr>
        <p:spPr>
          <a:xfrm>
            <a:off x="768096" y="3227832"/>
            <a:ext cx="4892040" cy="859536"/>
          </a:xfrm>
          <a:prstGeom prst="rect">
            <a:avLst/>
          </a:prstGeom>
          <a:noFill/>
          <a:ln/>
        </p:spPr>
        <p:txBody>
          <a:bodyPr wrap="square" lIns="0" tIns="0" rIns="0" bIns="0" rtlCol="0" anchor="t"/>
          <a:lstStyle/>
          <a:p>
            <a:pPr marL="0" indent="0">
              <a:buNone/>
            </a:pPr>
            <a:r>
              <a:rPr lang="ko-KR" altLang="en-US" sz="1700" dirty="0">
                <a:solidFill>
                  <a:srgbClr val="202B2B"/>
                </a:solidFill>
                <a:latin typeface="Malgun Gothic" pitchFamily="34" charset="0"/>
                <a:ea typeface="Malgun Gothic" pitchFamily="34" charset="-122"/>
                <a:cs typeface="Malgun Gothic" pitchFamily="34" charset="-120"/>
              </a:rPr>
              <a:t>업체 기본정보와 발주 연계 데이터를 관리하고, 상위·하위 업체 코드 업무를 연결</a:t>
            </a:r>
            <a:endParaRPr lang="ko-KR" sz="1700" dirty="0"/>
          </a:p>
        </p:txBody>
      </p:sp>
      <p:sp>
        <p:nvSpPr>
          <p:cNvPr id="14" name="Shape 11"/>
          <p:cNvSpPr/>
          <p:nvPr/>
        </p:nvSpPr>
        <p:spPr>
          <a:xfrm>
            <a:off x="6236208" y="2606040"/>
            <a:ext cx="64008" cy="1307592"/>
          </a:xfrm>
          <a:prstGeom prst="rect">
            <a:avLst/>
          </a:prstGeom>
          <a:solidFill>
            <a:srgbClr val="D95A43"/>
          </a:solidFill>
          <a:ln w="8255">
            <a:solidFill>
              <a:srgbClr val="D95A43"/>
            </a:solidFill>
            <a:prstDash val="solid"/>
          </a:ln>
        </p:spPr>
      </p:sp>
      <p:sp>
        <p:nvSpPr>
          <p:cNvPr id="15" name="Text 12"/>
          <p:cNvSpPr/>
          <p:nvPr/>
        </p:nvSpPr>
        <p:spPr>
          <a:xfrm>
            <a:off x="6483096" y="2569464"/>
            <a:ext cx="5029200" cy="457200"/>
          </a:xfrm>
          <a:prstGeom prst="rect">
            <a:avLst/>
          </a:prstGeom>
          <a:noFill/>
          <a:ln/>
        </p:spPr>
        <p:txBody>
          <a:bodyPr wrap="square" lIns="0" tIns="0" rIns="0" bIns="0" rtlCol="0" anchor="ctr"/>
          <a:lstStyle/>
          <a:p>
            <a:pPr marL="0" indent="0">
              <a:buNone/>
            </a:pPr>
            <a:r>
              <a:rPr lang="ko-KR" altLang="en-US" sz="2500" b="1" dirty="0">
                <a:solidFill>
                  <a:srgbClr val="202B2B"/>
                </a:solidFill>
                <a:latin typeface="Bahnschrift" pitchFamily="34" charset="0"/>
                <a:ea typeface="Bahnschrift" pitchFamily="34" charset="-122"/>
                <a:cs typeface="Bahnschrift" pitchFamily="34" charset="-120"/>
              </a:rPr>
              <a:t>SFC</a:t>
            </a:r>
            <a:endParaRPr lang="ko-KR" sz="2500" dirty="0"/>
          </a:p>
        </p:txBody>
      </p:sp>
      <p:sp>
        <p:nvSpPr>
          <p:cNvPr id="16" name="Text 13"/>
          <p:cNvSpPr/>
          <p:nvPr/>
        </p:nvSpPr>
        <p:spPr>
          <a:xfrm>
            <a:off x="6483096" y="3227832"/>
            <a:ext cx="4892040" cy="859536"/>
          </a:xfrm>
          <a:prstGeom prst="rect">
            <a:avLst/>
          </a:prstGeom>
          <a:noFill/>
          <a:ln/>
        </p:spPr>
        <p:txBody>
          <a:bodyPr wrap="square" lIns="0" tIns="0" rIns="0" bIns="0" rtlCol="0" anchor="t"/>
          <a:lstStyle/>
          <a:p>
            <a:pPr marL="0" indent="0">
              <a:buNone/>
            </a:pPr>
            <a:r>
              <a:rPr lang="ko-KR" altLang="en-US" sz="1700" dirty="0">
                <a:solidFill>
                  <a:srgbClr val="202B2B"/>
                </a:solidFill>
                <a:latin typeface="Malgun Gothic" pitchFamily="34" charset="0"/>
                <a:ea typeface="Malgun Gothic" pitchFamily="34" charset="-122"/>
                <a:cs typeface="Malgun Gothic" pitchFamily="34" charset="-120"/>
              </a:rPr>
              <a:t>공장·품질 관련 정보와 증빙을 수집하고 부서별 검토 단계를 진행</a:t>
            </a:r>
            <a:endParaRPr lang="ko-KR" sz="1700" dirty="0"/>
          </a:p>
        </p:txBody>
      </p:sp>
      <p:sp>
        <p:nvSpPr>
          <p:cNvPr id="17" name="Shape 14"/>
          <p:cNvSpPr/>
          <p:nvPr/>
        </p:nvSpPr>
        <p:spPr>
          <a:xfrm>
            <a:off x="521208" y="4334256"/>
            <a:ext cx="64008" cy="1307592"/>
          </a:xfrm>
          <a:prstGeom prst="rect">
            <a:avLst/>
          </a:prstGeom>
          <a:solidFill>
            <a:srgbClr val="087F73"/>
          </a:solidFill>
          <a:ln w="8255">
            <a:solidFill>
              <a:srgbClr val="087F73"/>
            </a:solidFill>
            <a:prstDash val="solid"/>
          </a:ln>
        </p:spPr>
      </p:sp>
      <p:sp>
        <p:nvSpPr>
          <p:cNvPr id="18" name="Text 15"/>
          <p:cNvSpPr/>
          <p:nvPr/>
        </p:nvSpPr>
        <p:spPr>
          <a:xfrm>
            <a:off x="768096" y="4297680"/>
            <a:ext cx="5029200" cy="457200"/>
          </a:xfrm>
          <a:prstGeom prst="rect">
            <a:avLst/>
          </a:prstGeom>
          <a:noFill/>
          <a:ln/>
        </p:spPr>
        <p:txBody>
          <a:bodyPr wrap="square" lIns="0" tIns="0" rIns="0" bIns="0" rtlCol="0" anchor="ctr"/>
          <a:lstStyle/>
          <a:p>
            <a:pPr marL="0" indent="0">
              <a:buNone/>
            </a:pPr>
            <a:r>
              <a:rPr lang="ko-KR" altLang="en-US" sz="2500" b="1" dirty="0">
                <a:solidFill>
                  <a:srgbClr val="202B2B"/>
                </a:solidFill>
                <a:latin typeface="Bahnschrift" pitchFamily="34" charset="0"/>
                <a:ea typeface="Bahnschrift" pitchFamily="34" charset="-122"/>
                <a:cs typeface="Bahnschrift" pitchFamily="34" charset="-120"/>
              </a:rPr>
              <a:t>SCRM</a:t>
            </a:r>
            <a:endParaRPr lang="ko-KR" sz="2500" dirty="0"/>
          </a:p>
        </p:txBody>
      </p:sp>
      <p:sp>
        <p:nvSpPr>
          <p:cNvPr id="19" name="Text 16"/>
          <p:cNvSpPr/>
          <p:nvPr/>
        </p:nvSpPr>
        <p:spPr>
          <a:xfrm>
            <a:off x="768096" y="4956048"/>
            <a:ext cx="4892040" cy="859536"/>
          </a:xfrm>
          <a:prstGeom prst="rect">
            <a:avLst/>
          </a:prstGeom>
          <a:noFill/>
          <a:ln/>
        </p:spPr>
        <p:txBody>
          <a:bodyPr wrap="square" lIns="0" tIns="0" rIns="0" bIns="0" rtlCol="0" anchor="t"/>
          <a:lstStyle/>
          <a:p>
            <a:pPr marL="0" indent="0">
              <a:buNone/>
            </a:pPr>
            <a:r>
              <a:rPr lang="ko-KR" altLang="en-US" sz="1700" dirty="0">
                <a:solidFill>
                  <a:srgbClr val="202B2B"/>
                </a:solidFill>
                <a:latin typeface="Malgun Gothic" pitchFamily="34" charset="0"/>
                <a:ea typeface="Malgun Gothic" pitchFamily="34" charset="-122"/>
                <a:cs typeface="Malgun Gothic" pitchFamily="34" charset="-120"/>
              </a:rPr>
              <a:t>계약 담당자·정보보안 담당자·공급업체가 공급망 리스크 평가를 단계별 수행</a:t>
            </a:r>
            <a:endParaRPr lang="ko-KR" sz="1700" dirty="0"/>
          </a:p>
        </p:txBody>
      </p:sp>
      <p:sp>
        <p:nvSpPr>
          <p:cNvPr id="20" name="Shape 17"/>
          <p:cNvSpPr/>
          <p:nvPr/>
        </p:nvSpPr>
        <p:spPr>
          <a:xfrm>
            <a:off x="6236208" y="4334256"/>
            <a:ext cx="64008" cy="1307592"/>
          </a:xfrm>
          <a:prstGeom prst="rect">
            <a:avLst/>
          </a:prstGeom>
          <a:solidFill>
            <a:srgbClr val="D95A43"/>
          </a:solidFill>
          <a:ln w="8255">
            <a:solidFill>
              <a:srgbClr val="D95A43"/>
            </a:solidFill>
            <a:prstDash val="solid"/>
          </a:ln>
        </p:spPr>
      </p:sp>
      <p:sp>
        <p:nvSpPr>
          <p:cNvPr id="21" name="Text 18"/>
          <p:cNvSpPr/>
          <p:nvPr/>
        </p:nvSpPr>
        <p:spPr>
          <a:xfrm>
            <a:off x="6483096" y="4297680"/>
            <a:ext cx="5029200" cy="457200"/>
          </a:xfrm>
          <a:prstGeom prst="rect">
            <a:avLst/>
          </a:prstGeom>
          <a:noFill/>
          <a:ln/>
        </p:spPr>
        <p:txBody>
          <a:bodyPr wrap="square" lIns="0" tIns="0" rIns="0" bIns="0" rtlCol="0" anchor="ctr"/>
          <a:lstStyle/>
          <a:p>
            <a:pPr marL="0" indent="0">
              <a:buNone/>
            </a:pPr>
            <a:r>
              <a:rPr lang="ko-KR" altLang="en-US" sz="2500" b="1" dirty="0">
                <a:solidFill>
                  <a:srgbClr val="202B2B"/>
                </a:solidFill>
                <a:latin typeface="Bahnschrift" pitchFamily="34" charset="0"/>
                <a:ea typeface="Bahnschrift" pitchFamily="34" charset="-122"/>
                <a:cs typeface="Bahnschrift" pitchFamily="34" charset="-120"/>
              </a:rPr>
              <a:t>Survey</a:t>
            </a:r>
            <a:endParaRPr lang="ko-KR" sz="2500" dirty="0"/>
          </a:p>
        </p:txBody>
      </p:sp>
      <p:sp>
        <p:nvSpPr>
          <p:cNvPr id="22" name="Text 19"/>
          <p:cNvSpPr/>
          <p:nvPr/>
        </p:nvSpPr>
        <p:spPr>
          <a:xfrm>
            <a:off x="6483096" y="4956048"/>
            <a:ext cx="4892040" cy="859536"/>
          </a:xfrm>
          <a:prstGeom prst="rect">
            <a:avLst/>
          </a:prstGeom>
          <a:noFill/>
          <a:ln/>
        </p:spPr>
        <p:txBody>
          <a:bodyPr wrap="square" lIns="0" tIns="0" rIns="0" bIns="0" rtlCol="0" anchor="t"/>
          <a:lstStyle/>
          <a:p>
            <a:pPr marL="0" indent="0">
              <a:buNone/>
            </a:pPr>
            <a:r>
              <a:rPr lang="ko-KR" altLang="en-US" sz="1700" dirty="0">
                <a:solidFill>
                  <a:srgbClr val="202B2B"/>
                </a:solidFill>
                <a:latin typeface="Malgun Gothic" pitchFamily="34" charset="0"/>
                <a:ea typeface="Malgun Gothic" pitchFamily="34" charset="-122"/>
                <a:cs typeface="Malgun Gothic" pitchFamily="34" charset="-120"/>
              </a:rPr>
              <a:t>설문 구조 작성, 대상자별 요청 및 응답 저장을 지원</a:t>
            </a:r>
            <a:endParaRPr lang="ko-KR"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SfcMasterService.java  /  SCRMMasterService.java  /  routes.js</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03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서로 다른 담당자를 하나의 문서로 연결</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업무 단계와 사용자 역할에 따라 조회 범위와 다음 행동이 달라지는 포털</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Supplier</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업체·공장 정보 및 증빙 제출</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평가 질문과 설문에 응답</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작성 문서와 진행 상태 확인</a:t>
            </a:r>
            <a:endParaRPr lang="ko-KR" sz="165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Reviewer</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기술·구매·품질 검토</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실사 및 정보보안 평가</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의견 기록과 다음 단계 승인</a:t>
            </a:r>
            <a:endParaRPr lang="ko-KR" sz="16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Manager</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업무별 담당자 배정</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관리자 파일·기준 코드 관리</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현재 결재와 전체 이력 확인</a:t>
            </a:r>
            <a:endParaRPr lang="ko-KR"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build.gradle  /  package.json  /  SfcMasterService.java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04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React 화면과 Spring Boot 업무 로직의 결합</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화면·요청 처리·업무 규칙·영속성을 분리한 계층 구조</a:t>
            </a:r>
            <a:endParaRPr lang="ko-KR" sz="1500" dirty="0"/>
          </a:p>
        </p:txBody>
      </p:sp>
      <p:sp>
        <p:nvSpPr>
          <p:cNvPr id="11" name="Shape 8"/>
          <p:cNvSpPr/>
          <p:nvPr/>
        </p:nvSpPr>
        <p:spPr>
          <a:xfrm>
            <a:off x="521208" y="2642616"/>
            <a:ext cx="3474720" cy="658368"/>
          </a:xfrm>
          <a:prstGeom prst="rect">
            <a:avLst/>
          </a:prstGeom>
          <a:solidFill>
            <a:srgbClr val="202B2B"/>
          </a:solidFill>
          <a:ln w="8255">
            <a:solidFill>
              <a:srgbClr val="202B2B"/>
            </a:solidFill>
            <a:prstDash val="solid"/>
          </a:ln>
        </p:spPr>
      </p:sp>
      <p:sp>
        <p:nvSpPr>
          <p:cNvPr id="12" name="Text 9"/>
          <p:cNvSpPr/>
          <p:nvPr/>
        </p:nvSpPr>
        <p:spPr>
          <a:xfrm>
            <a:off x="667512" y="2770632"/>
            <a:ext cx="3182112" cy="365760"/>
          </a:xfrm>
          <a:prstGeom prst="rect">
            <a:avLst/>
          </a:prstGeom>
          <a:noFill/>
          <a:ln/>
        </p:spPr>
        <p:txBody>
          <a:bodyPr wrap="square" lIns="0" tIns="0" rIns="0" bIns="0" rtlCol="0" anchor="ctr"/>
          <a:lstStyle/>
          <a:p>
            <a:pPr marL="0" indent="0">
              <a:buNone/>
            </a:pPr>
            <a:r>
              <a:rPr lang="ko-KR" altLang="en-US" sz="2000" b="1" dirty="0">
                <a:solidFill>
                  <a:srgbClr val="FFFFFF"/>
                </a:solidFill>
                <a:latin typeface="Bahnschrift" pitchFamily="34" charset="0"/>
                <a:ea typeface="Bahnschrift" pitchFamily="34" charset="-122"/>
                <a:cs typeface="Bahnschrift" pitchFamily="34" charset="-120"/>
              </a:rPr>
              <a:t>Frontend</a:t>
            </a:r>
            <a:endParaRPr lang="ko-KR" sz="2000" dirty="0"/>
          </a:p>
        </p:txBody>
      </p:sp>
      <p:sp>
        <p:nvSpPr>
          <p:cNvPr id="13" name="Shape 10"/>
          <p:cNvSpPr/>
          <p:nvPr/>
        </p:nvSpPr>
        <p:spPr>
          <a:xfrm>
            <a:off x="521208" y="3300984"/>
            <a:ext cx="3474720" cy="2377440"/>
          </a:xfrm>
          <a:prstGeom prst="rect">
            <a:avLst/>
          </a:prstGeom>
          <a:solidFill>
            <a:srgbClr val="FFFFFF"/>
          </a:solidFill>
          <a:ln w="8255">
            <a:solidFill>
              <a:srgbClr val="D7E1DD"/>
            </a:solidFill>
            <a:prstDash val="solid"/>
          </a:ln>
        </p:spPr>
      </p:sp>
      <p:sp>
        <p:nvSpPr>
          <p:cNvPr id="14" name="Text 11"/>
          <p:cNvSpPr/>
          <p:nvPr/>
        </p:nvSpPr>
        <p:spPr>
          <a:xfrm>
            <a:off x="731520" y="3685032"/>
            <a:ext cx="3054096" cy="171907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React Router 기반 화면 분기</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MUI 중심 입력·목록·검토 UI</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Axios 기반 HTTP 요청</a:t>
            </a:r>
            <a:endParaRPr lang="ko-KR" sz="1600" dirty="0"/>
          </a:p>
        </p:txBody>
      </p:sp>
      <p:sp>
        <p:nvSpPr>
          <p:cNvPr id="15" name="Shape 12"/>
          <p:cNvSpPr/>
          <p:nvPr/>
        </p:nvSpPr>
        <p:spPr>
          <a:xfrm>
            <a:off x="4059936" y="3657600"/>
            <a:ext cx="164592" cy="182880"/>
          </a:xfrm>
          <a:prstGeom prst="chevron">
            <a:avLst/>
          </a:prstGeom>
          <a:solidFill>
            <a:srgbClr val="087F73"/>
          </a:solidFill>
          <a:ln w="12700">
            <a:solidFill>
              <a:srgbClr val="087F73">
                <a:alpha val="0"/>
              </a:srgbClr>
            </a:solidFill>
            <a:prstDash val="solid"/>
          </a:ln>
        </p:spPr>
      </p:sp>
      <p:sp>
        <p:nvSpPr>
          <p:cNvPr id="16" name="Shape 13"/>
          <p:cNvSpPr/>
          <p:nvPr/>
        </p:nvSpPr>
        <p:spPr>
          <a:xfrm>
            <a:off x="4325112" y="2642616"/>
            <a:ext cx="3474720" cy="658368"/>
          </a:xfrm>
          <a:prstGeom prst="rect">
            <a:avLst/>
          </a:prstGeom>
          <a:solidFill>
            <a:srgbClr val="087F73"/>
          </a:solidFill>
          <a:ln w="8255">
            <a:solidFill>
              <a:srgbClr val="087F73"/>
            </a:solidFill>
            <a:prstDash val="solid"/>
          </a:ln>
        </p:spPr>
      </p:sp>
      <p:sp>
        <p:nvSpPr>
          <p:cNvPr id="17" name="Text 14"/>
          <p:cNvSpPr/>
          <p:nvPr/>
        </p:nvSpPr>
        <p:spPr>
          <a:xfrm>
            <a:off x="4471416" y="2770632"/>
            <a:ext cx="3182112" cy="365760"/>
          </a:xfrm>
          <a:prstGeom prst="rect">
            <a:avLst/>
          </a:prstGeom>
          <a:noFill/>
          <a:ln/>
        </p:spPr>
        <p:txBody>
          <a:bodyPr wrap="square" lIns="0" tIns="0" rIns="0" bIns="0" rtlCol="0" anchor="ctr"/>
          <a:lstStyle/>
          <a:p>
            <a:pPr marL="0" indent="0">
              <a:buNone/>
            </a:pPr>
            <a:r>
              <a:rPr lang="ko-KR" altLang="en-US" sz="2000" b="1" dirty="0">
                <a:solidFill>
                  <a:srgbClr val="FFFFFF"/>
                </a:solidFill>
                <a:latin typeface="Bahnschrift" pitchFamily="34" charset="0"/>
                <a:ea typeface="Bahnschrift" pitchFamily="34" charset="-122"/>
                <a:cs typeface="Bahnschrift" pitchFamily="34" charset="-120"/>
              </a:rPr>
              <a:t>Backend</a:t>
            </a:r>
            <a:endParaRPr lang="ko-KR" sz="2000" dirty="0"/>
          </a:p>
        </p:txBody>
      </p:sp>
      <p:sp>
        <p:nvSpPr>
          <p:cNvPr id="18" name="Shape 15"/>
          <p:cNvSpPr/>
          <p:nvPr/>
        </p:nvSpPr>
        <p:spPr>
          <a:xfrm>
            <a:off x="4325112" y="3300984"/>
            <a:ext cx="3474720" cy="2377440"/>
          </a:xfrm>
          <a:prstGeom prst="rect">
            <a:avLst/>
          </a:prstGeom>
          <a:solidFill>
            <a:srgbClr val="FFFFFF"/>
          </a:solidFill>
          <a:ln w="8255">
            <a:solidFill>
              <a:srgbClr val="D7E1DD"/>
            </a:solidFill>
            <a:prstDash val="solid"/>
          </a:ln>
        </p:spPr>
      </p:sp>
      <p:sp>
        <p:nvSpPr>
          <p:cNvPr id="19" name="Text 16"/>
          <p:cNvSpPr/>
          <p:nvPr/>
        </p:nvSpPr>
        <p:spPr>
          <a:xfrm>
            <a:off x="4535424" y="3685032"/>
            <a:ext cx="3054096" cy="171907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Controller → Service → Repository</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DTO ↔ Entity 변환</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Spring Data JPA 기반 저장</a:t>
            </a:r>
            <a:endParaRPr lang="ko-KR" sz="1600" dirty="0"/>
          </a:p>
        </p:txBody>
      </p:sp>
      <p:sp>
        <p:nvSpPr>
          <p:cNvPr id="20" name="Shape 17"/>
          <p:cNvSpPr/>
          <p:nvPr/>
        </p:nvSpPr>
        <p:spPr>
          <a:xfrm>
            <a:off x="7863840" y="3657600"/>
            <a:ext cx="164592" cy="182880"/>
          </a:xfrm>
          <a:prstGeom prst="chevron">
            <a:avLst/>
          </a:prstGeom>
          <a:solidFill>
            <a:srgbClr val="087F73"/>
          </a:solidFill>
          <a:ln w="12700">
            <a:solidFill>
              <a:srgbClr val="087F73">
                <a:alpha val="0"/>
              </a:srgbClr>
            </a:solidFill>
            <a:prstDash val="solid"/>
          </a:ln>
        </p:spPr>
      </p:sp>
      <p:sp>
        <p:nvSpPr>
          <p:cNvPr id="21" name="Shape 18"/>
          <p:cNvSpPr/>
          <p:nvPr/>
        </p:nvSpPr>
        <p:spPr>
          <a:xfrm>
            <a:off x="8129016" y="2642616"/>
            <a:ext cx="3474720" cy="658368"/>
          </a:xfrm>
          <a:prstGeom prst="rect">
            <a:avLst/>
          </a:prstGeom>
          <a:solidFill>
            <a:srgbClr val="202B2B"/>
          </a:solidFill>
          <a:ln w="8255">
            <a:solidFill>
              <a:srgbClr val="202B2B"/>
            </a:solidFill>
            <a:prstDash val="solid"/>
          </a:ln>
        </p:spPr>
      </p:sp>
      <p:sp>
        <p:nvSpPr>
          <p:cNvPr id="22" name="Text 19"/>
          <p:cNvSpPr/>
          <p:nvPr/>
        </p:nvSpPr>
        <p:spPr>
          <a:xfrm>
            <a:off x="8275320" y="2770632"/>
            <a:ext cx="3182112" cy="365760"/>
          </a:xfrm>
          <a:prstGeom prst="rect">
            <a:avLst/>
          </a:prstGeom>
          <a:noFill/>
          <a:ln/>
        </p:spPr>
        <p:txBody>
          <a:bodyPr wrap="square" lIns="0" tIns="0" rIns="0" bIns="0" rtlCol="0" anchor="ctr"/>
          <a:lstStyle/>
          <a:p>
            <a:pPr marL="0" indent="0">
              <a:buNone/>
            </a:pPr>
            <a:r>
              <a:rPr lang="ko-KR" altLang="en-US" sz="2000" b="1" dirty="0">
                <a:solidFill>
                  <a:srgbClr val="FFFFFF"/>
                </a:solidFill>
                <a:latin typeface="Bahnschrift" pitchFamily="34" charset="0"/>
                <a:ea typeface="Bahnschrift" pitchFamily="34" charset="-122"/>
                <a:cs typeface="Bahnschrift" pitchFamily="34" charset="-120"/>
              </a:rPr>
              <a:t>Data &amp; Integration</a:t>
            </a:r>
            <a:endParaRPr lang="ko-KR" sz="2000" dirty="0"/>
          </a:p>
        </p:txBody>
      </p:sp>
      <p:sp>
        <p:nvSpPr>
          <p:cNvPr id="23" name="Shape 20"/>
          <p:cNvSpPr/>
          <p:nvPr/>
        </p:nvSpPr>
        <p:spPr>
          <a:xfrm>
            <a:off x="8129016" y="3300984"/>
            <a:ext cx="3474720" cy="2377440"/>
          </a:xfrm>
          <a:prstGeom prst="rect">
            <a:avLst/>
          </a:prstGeom>
          <a:solidFill>
            <a:srgbClr val="FFFFFF"/>
          </a:solidFill>
          <a:ln w="8255">
            <a:solidFill>
              <a:srgbClr val="D7E1DD"/>
            </a:solidFill>
            <a:prstDash val="solid"/>
          </a:ln>
        </p:spPr>
      </p:sp>
      <p:sp>
        <p:nvSpPr>
          <p:cNvPr id="24" name="Text 21"/>
          <p:cNvSpPr/>
          <p:nvPr/>
        </p:nvSpPr>
        <p:spPr>
          <a:xfrm>
            <a:off x="8339328" y="3685032"/>
            <a:ext cx="3054096" cy="171907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Microsoft SQL Server 드라이버</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SAP 연계 코드 발급 호출</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메일·첨부파일·정기 작업</a:t>
            </a:r>
            <a:endParaRPr lang="ko-KR"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SFCBoard.jsx  /  MyWork.jsx  /  routes.js</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05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목록에서 검토까지, 반복 업무를 위한 화면 구성</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SFC Board를 중심으로 살펴본 검색·탐색·작업 복귀 흐름</a:t>
            </a:r>
            <a:endParaRPr lang="ko-KR" sz="1500" dirty="0"/>
          </a:p>
        </p:txBody>
      </p:sp>
      <p:sp>
        <p:nvSpPr>
          <p:cNvPr id="11" name="Shape 8"/>
          <p:cNvSpPr/>
          <p:nvPr/>
        </p:nvSpPr>
        <p:spPr>
          <a:xfrm>
            <a:off x="521208" y="2587752"/>
            <a:ext cx="6858000" cy="3246120"/>
          </a:xfrm>
          <a:prstGeom prst="rect">
            <a:avLst/>
          </a:prstGeom>
          <a:solidFill>
            <a:srgbClr val="FFFFFF"/>
          </a:solidFill>
          <a:ln w="8255">
            <a:solidFill>
              <a:srgbClr val="D7E1DD"/>
            </a:solidFill>
            <a:prstDash val="solid"/>
          </a:ln>
        </p:spPr>
      </p:sp>
      <p:sp>
        <p:nvSpPr>
          <p:cNvPr id="12" name="Shape 9"/>
          <p:cNvSpPr/>
          <p:nvPr/>
        </p:nvSpPr>
        <p:spPr>
          <a:xfrm>
            <a:off x="521208" y="2587752"/>
            <a:ext cx="6858000" cy="429768"/>
          </a:xfrm>
          <a:prstGeom prst="rect">
            <a:avLst/>
          </a:prstGeom>
          <a:solidFill>
            <a:srgbClr val="202B2B"/>
          </a:solidFill>
          <a:ln w="8255">
            <a:solidFill>
              <a:srgbClr val="202B2B"/>
            </a:solidFill>
            <a:prstDash val="solid"/>
          </a:ln>
        </p:spPr>
      </p:sp>
      <p:sp>
        <p:nvSpPr>
          <p:cNvPr id="13" name="Text 10"/>
          <p:cNvSpPr/>
          <p:nvPr/>
        </p:nvSpPr>
        <p:spPr>
          <a:xfrm>
            <a:off x="722376" y="2670048"/>
            <a:ext cx="6217920" cy="228600"/>
          </a:xfrm>
          <a:prstGeom prst="rect">
            <a:avLst/>
          </a:prstGeom>
          <a:noFill/>
          <a:ln/>
        </p:spPr>
        <p:txBody>
          <a:bodyPr wrap="square" lIns="0" tIns="0" rIns="0" bIns="0" rtlCol="0" anchor="ctr"/>
          <a:lstStyle/>
          <a:p>
            <a:pPr marL="0" indent="0">
              <a:buNone/>
            </a:pPr>
            <a:r>
              <a:rPr lang="ko-KR" altLang="en-US" sz="1300" dirty="0">
                <a:solidFill>
                  <a:srgbClr val="FFFFFF"/>
                </a:solidFill>
                <a:latin typeface="Bahnschrift" pitchFamily="34" charset="0"/>
                <a:ea typeface="Bahnschrift" pitchFamily="34" charset="-122"/>
                <a:cs typeface="Bahnschrift" pitchFamily="34" charset="-120"/>
              </a:rPr>
              <a:t>Supplier Portal   /   SFC</a:t>
            </a:r>
            <a:endParaRPr lang="ko-KR" sz="1300" dirty="0"/>
          </a:p>
        </p:txBody>
      </p:sp>
      <p:sp>
        <p:nvSpPr>
          <p:cNvPr id="14" name="Text 11"/>
          <p:cNvSpPr/>
          <p:nvPr/>
        </p:nvSpPr>
        <p:spPr>
          <a:xfrm>
            <a:off x="768096" y="3209544"/>
            <a:ext cx="3657600" cy="246888"/>
          </a:xfrm>
          <a:prstGeom prst="rect">
            <a:avLst/>
          </a:prstGeom>
          <a:noFill/>
          <a:ln/>
        </p:spPr>
        <p:txBody>
          <a:bodyPr wrap="square" lIns="0" tIns="0" rIns="0" bIns="0" rtlCol="0" anchor="ctr"/>
          <a:lstStyle/>
          <a:p>
            <a:pPr marL="0" indent="0">
              <a:buNone/>
            </a:pPr>
            <a:r>
              <a:rPr lang="ko-KR" altLang="en-US" sz="1400" b="1" dirty="0">
                <a:solidFill>
                  <a:srgbClr val="202B2B"/>
                </a:solidFill>
                <a:latin typeface="Bahnschrift" pitchFamily="34" charset="0"/>
                <a:ea typeface="Bahnschrift" pitchFamily="34" charset="-122"/>
                <a:cs typeface="Bahnschrift" pitchFamily="34" charset="-120"/>
              </a:rPr>
              <a:t>All Documents</a:t>
            </a:r>
            <a:endParaRPr lang="ko-KR" sz="1400" dirty="0"/>
          </a:p>
        </p:txBody>
      </p:sp>
      <p:sp>
        <p:nvSpPr>
          <p:cNvPr id="15" name="Shape 12"/>
          <p:cNvSpPr/>
          <p:nvPr/>
        </p:nvSpPr>
        <p:spPr>
          <a:xfrm>
            <a:off x="740664" y="3703320"/>
            <a:ext cx="6400800" cy="402336"/>
          </a:xfrm>
          <a:prstGeom prst="rect">
            <a:avLst/>
          </a:prstGeom>
          <a:solidFill>
            <a:srgbClr val="EDF2EF"/>
          </a:solidFill>
          <a:ln w="8255">
            <a:solidFill>
              <a:srgbClr val="EDF2EF"/>
            </a:solidFill>
            <a:prstDash val="solid"/>
          </a:ln>
        </p:spPr>
      </p:sp>
      <p:sp>
        <p:nvSpPr>
          <p:cNvPr id="16" name="Text 13"/>
          <p:cNvSpPr/>
          <p:nvPr/>
        </p:nvSpPr>
        <p:spPr>
          <a:xfrm>
            <a:off x="786384" y="3785616"/>
            <a:ext cx="969264" cy="237744"/>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Status</a:t>
            </a:r>
            <a:endParaRPr lang="ko-KR" sz="1100" dirty="0"/>
          </a:p>
        </p:txBody>
      </p:sp>
      <p:sp>
        <p:nvSpPr>
          <p:cNvPr id="17" name="Text 14"/>
          <p:cNvSpPr/>
          <p:nvPr/>
        </p:nvSpPr>
        <p:spPr>
          <a:xfrm>
            <a:off x="1810512" y="3785616"/>
            <a:ext cx="1179576" cy="237744"/>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SFC Code</a:t>
            </a:r>
            <a:endParaRPr lang="ko-KR" sz="1100" dirty="0"/>
          </a:p>
        </p:txBody>
      </p:sp>
      <p:sp>
        <p:nvSpPr>
          <p:cNvPr id="18" name="Text 15"/>
          <p:cNvSpPr/>
          <p:nvPr/>
        </p:nvSpPr>
        <p:spPr>
          <a:xfrm>
            <a:off x="3044952" y="3785616"/>
            <a:ext cx="1289304" cy="237744"/>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Factory</a:t>
            </a:r>
            <a:endParaRPr lang="ko-KR" sz="1100" dirty="0"/>
          </a:p>
        </p:txBody>
      </p:sp>
      <p:sp>
        <p:nvSpPr>
          <p:cNvPr id="19" name="Text 16"/>
          <p:cNvSpPr/>
          <p:nvPr/>
        </p:nvSpPr>
        <p:spPr>
          <a:xfrm>
            <a:off x="4389120" y="3785616"/>
            <a:ext cx="896112" cy="237744"/>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Country</a:t>
            </a:r>
            <a:endParaRPr lang="ko-KR" sz="1100" dirty="0"/>
          </a:p>
        </p:txBody>
      </p:sp>
      <p:sp>
        <p:nvSpPr>
          <p:cNvPr id="20" name="Text 17"/>
          <p:cNvSpPr/>
          <p:nvPr/>
        </p:nvSpPr>
        <p:spPr>
          <a:xfrm>
            <a:off x="5340096" y="3785616"/>
            <a:ext cx="1426464" cy="237744"/>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Created</a:t>
            </a:r>
            <a:endParaRPr lang="ko-KR" sz="1100" dirty="0"/>
          </a:p>
        </p:txBody>
      </p:sp>
      <p:sp>
        <p:nvSpPr>
          <p:cNvPr id="21" name="Shape 18"/>
          <p:cNvSpPr/>
          <p:nvPr/>
        </p:nvSpPr>
        <p:spPr>
          <a:xfrm>
            <a:off x="740664" y="4123944"/>
            <a:ext cx="6400800" cy="0"/>
          </a:xfrm>
          <a:prstGeom prst="line">
            <a:avLst/>
          </a:prstGeom>
          <a:noFill/>
          <a:ln w="6350">
            <a:solidFill>
              <a:srgbClr val="D7E1DD"/>
            </a:solidFill>
            <a:prstDash val="solid"/>
          </a:ln>
        </p:spPr>
      </p:sp>
      <p:sp>
        <p:nvSpPr>
          <p:cNvPr id="22" name="Text 19"/>
          <p:cNvSpPr/>
          <p:nvPr/>
        </p:nvSpPr>
        <p:spPr>
          <a:xfrm>
            <a:off x="786384" y="4233672"/>
            <a:ext cx="969264" cy="237744"/>
          </a:xfrm>
          <a:prstGeom prst="rect">
            <a:avLst/>
          </a:prstGeom>
          <a:noFill/>
          <a:ln/>
        </p:spPr>
        <p:txBody>
          <a:bodyPr wrap="square" lIns="0" tIns="0" rIns="0" bIns="0" rtlCol="0" anchor="ctr"/>
          <a:lstStyle/>
          <a:p>
            <a:pPr marL="0" indent="0">
              <a:buNone/>
            </a:pPr>
            <a:r>
              <a:rPr lang="ko-KR" altLang="en-US" sz="1000" dirty="0">
                <a:solidFill>
                  <a:srgbClr val="087F73"/>
                </a:solidFill>
                <a:latin typeface="Bahnschrift" pitchFamily="34" charset="0"/>
                <a:ea typeface="Bahnschrift" pitchFamily="34" charset="-122"/>
                <a:cs typeface="Bahnschrift" pitchFamily="34" charset="-120"/>
              </a:rPr>
              <a:t>Draft</a:t>
            </a:r>
            <a:endParaRPr lang="ko-KR" sz="1000" dirty="0"/>
          </a:p>
        </p:txBody>
      </p:sp>
      <p:sp>
        <p:nvSpPr>
          <p:cNvPr id="23" name="Text 20"/>
          <p:cNvSpPr/>
          <p:nvPr/>
        </p:nvSpPr>
        <p:spPr>
          <a:xfrm>
            <a:off x="1810512" y="4233672"/>
            <a:ext cx="1179576"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EXAMPLE-01</a:t>
            </a:r>
            <a:endParaRPr lang="ko-KR" sz="1000" dirty="0"/>
          </a:p>
        </p:txBody>
      </p:sp>
      <p:sp>
        <p:nvSpPr>
          <p:cNvPr id="24" name="Text 21"/>
          <p:cNvSpPr/>
          <p:nvPr/>
        </p:nvSpPr>
        <p:spPr>
          <a:xfrm>
            <a:off x="3044952" y="4233672"/>
            <a:ext cx="1289304"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Factory A</a:t>
            </a:r>
            <a:endParaRPr lang="ko-KR" sz="1000" dirty="0"/>
          </a:p>
        </p:txBody>
      </p:sp>
      <p:sp>
        <p:nvSpPr>
          <p:cNvPr id="25" name="Text 22"/>
          <p:cNvSpPr/>
          <p:nvPr/>
        </p:nvSpPr>
        <p:spPr>
          <a:xfrm>
            <a:off x="4389120" y="4233672"/>
            <a:ext cx="896112"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KR</a:t>
            </a:r>
            <a:endParaRPr lang="ko-KR" sz="1000" dirty="0"/>
          </a:p>
        </p:txBody>
      </p:sp>
      <p:sp>
        <p:nvSpPr>
          <p:cNvPr id="26" name="Text 23"/>
          <p:cNvSpPr/>
          <p:nvPr/>
        </p:nvSpPr>
        <p:spPr>
          <a:xfrm>
            <a:off x="5340096" y="4233672"/>
            <a:ext cx="1426464"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YYYY-MM-DD</a:t>
            </a:r>
            <a:endParaRPr lang="ko-KR" sz="1000" dirty="0"/>
          </a:p>
        </p:txBody>
      </p:sp>
      <p:sp>
        <p:nvSpPr>
          <p:cNvPr id="27" name="Shape 24"/>
          <p:cNvSpPr/>
          <p:nvPr/>
        </p:nvSpPr>
        <p:spPr>
          <a:xfrm>
            <a:off x="740664" y="4572000"/>
            <a:ext cx="6400800" cy="0"/>
          </a:xfrm>
          <a:prstGeom prst="line">
            <a:avLst/>
          </a:prstGeom>
          <a:noFill/>
          <a:ln w="6350">
            <a:solidFill>
              <a:srgbClr val="D7E1DD"/>
            </a:solidFill>
            <a:prstDash val="solid"/>
          </a:ln>
        </p:spPr>
      </p:sp>
      <p:sp>
        <p:nvSpPr>
          <p:cNvPr id="28" name="Text 25"/>
          <p:cNvSpPr/>
          <p:nvPr/>
        </p:nvSpPr>
        <p:spPr>
          <a:xfrm>
            <a:off x="786384" y="4681728"/>
            <a:ext cx="969264" cy="237744"/>
          </a:xfrm>
          <a:prstGeom prst="rect">
            <a:avLst/>
          </a:prstGeom>
          <a:noFill/>
          <a:ln/>
        </p:spPr>
        <p:txBody>
          <a:bodyPr wrap="square" lIns="0" tIns="0" rIns="0" bIns="0" rtlCol="0" anchor="ctr"/>
          <a:lstStyle/>
          <a:p>
            <a:pPr marL="0" indent="0">
              <a:buNone/>
            </a:pPr>
            <a:r>
              <a:rPr lang="ko-KR" altLang="en-US" sz="1000" dirty="0">
                <a:solidFill>
                  <a:srgbClr val="087F73"/>
                </a:solidFill>
                <a:latin typeface="Bahnschrift" pitchFamily="34" charset="0"/>
                <a:ea typeface="Bahnschrift" pitchFamily="34" charset="-122"/>
                <a:cs typeface="Bahnschrift" pitchFamily="34" charset="-120"/>
              </a:rPr>
              <a:t>Tech Review</a:t>
            </a:r>
            <a:endParaRPr lang="ko-KR" sz="1000" dirty="0"/>
          </a:p>
        </p:txBody>
      </p:sp>
      <p:sp>
        <p:nvSpPr>
          <p:cNvPr id="29" name="Text 26"/>
          <p:cNvSpPr/>
          <p:nvPr/>
        </p:nvSpPr>
        <p:spPr>
          <a:xfrm>
            <a:off x="1810512" y="4681728"/>
            <a:ext cx="1179576"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EXAMPLE-02</a:t>
            </a:r>
            <a:endParaRPr lang="ko-KR" sz="1000" dirty="0"/>
          </a:p>
        </p:txBody>
      </p:sp>
      <p:sp>
        <p:nvSpPr>
          <p:cNvPr id="30" name="Text 27"/>
          <p:cNvSpPr/>
          <p:nvPr/>
        </p:nvSpPr>
        <p:spPr>
          <a:xfrm>
            <a:off x="3044952" y="4681728"/>
            <a:ext cx="1289304"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Factory B</a:t>
            </a:r>
            <a:endParaRPr lang="ko-KR" sz="1000" dirty="0"/>
          </a:p>
        </p:txBody>
      </p:sp>
      <p:sp>
        <p:nvSpPr>
          <p:cNvPr id="31" name="Text 28"/>
          <p:cNvSpPr/>
          <p:nvPr/>
        </p:nvSpPr>
        <p:spPr>
          <a:xfrm>
            <a:off x="4389120" y="4681728"/>
            <a:ext cx="896112"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JP</a:t>
            </a:r>
            <a:endParaRPr lang="ko-KR" sz="1000" dirty="0"/>
          </a:p>
        </p:txBody>
      </p:sp>
      <p:sp>
        <p:nvSpPr>
          <p:cNvPr id="32" name="Text 29"/>
          <p:cNvSpPr/>
          <p:nvPr/>
        </p:nvSpPr>
        <p:spPr>
          <a:xfrm>
            <a:off x="5340096" y="4681728"/>
            <a:ext cx="1426464"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YYYY-MM-DD</a:t>
            </a:r>
            <a:endParaRPr lang="ko-KR" sz="1000" dirty="0"/>
          </a:p>
        </p:txBody>
      </p:sp>
      <p:sp>
        <p:nvSpPr>
          <p:cNvPr id="33" name="Shape 30"/>
          <p:cNvSpPr/>
          <p:nvPr/>
        </p:nvSpPr>
        <p:spPr>
          <a:xfrm>
            <a:off x="740664" y="5020056"/>
            <a:ext cx="6400800" cy="0"/>
          </a:xfrm>
          <a:prstGeom prst="line">
            <a:avLst/>
          </a:prstGeom>
          <a:noFill/>
          <a:ln w="6350">
            <a:solidFill>
              <a:srgbClr val="D7E1DD"/>
            </a:solidFill>
            <a:prstDash val="solid"/>
          </a:ln>
        </p:spPr>
      </p:sp>
      <p:sp>
        <p:nvSpPr>
          <p:cNvPr id="34" name="Text 31"/>
          <p:cNvSpPr/>
          <p:nvPr/>
        </p:nvSpPr>
        <p:spPr>
          <a:xfrm>
            <a:off x="786384" y="5129784"/>
            <a:ext cx="969264" cy="237744"/>
          </a:xfrm>
          <a:prstGeom prst="rect">
            <a:avLst/>
          </a:prstGeom>
          <a:noFill/>
          <a:ln/>
        </p:spPr>
        <p:txBody>
          <a:bodyPr wrap="square" lIns="0" tIns="0" rIns="0" bIns="0" rtlCol="0" anchor="ctr"/>
          <a:lstStyle/>
          <a:p>
            <a:pPr marL="0" indent="0">
              <a:buNone/>
            </a:pPr>
            <a:r>
              <a:rPr lang="ko-KR" altLang="en-US" sz="1000" dirty="0">
                <a:solidFill>
                  <a:srgbClr val="087F73"/>
                </a:solidFill>
                <a:latin typeface="Bahnschrift" pitchFamily="34" charset="0"/>
                <a:ea typeface="Bahnschrift" pitchFamily="34" charset="-122"/>
                <a:cs typeface="Bahnschrift" pitchFamily="34" charset="-120"/>
              </a:rPr>
              <a:t>Complete</a:t>
            </a:r>
            <a:endParaRPr lang="ko-KR" sz="1000" dirty="0"/>
          </a:p>
        </p:txBody>
      </p:sp>
      <p:sp>
        <p:nvSpPr>
          <p:cNvPr id="35" name="Text 32"/>
          <p:cNvSpPr/>
          <p:nvPr/>
        </p:nvSpPr>
        <p:spPr>
          <a:xfrm>
            <a:off x="1810512" y="5129784"/>
            <a:ext cx="1179576"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EXAMPLE-03</a:t>
            </a:r>
            <a:endParaRPr lang="ko-KR" sz="1000" dirty="0"/>
          </a:p>
        </p:txBody>
      </p:sp>
      <p:sp>
        <p:nvSpPr>
          <p:cNvPr id="36" name="Text 33"/>
          <p:cNvSpPr/>
          <p:nvPr/>
        </p:nvSpPr>
        <p:spPr>
          <a:xfrm>
            <a:off x="3044952" y="5129784"/>
            <a:ext cx="1289304"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Factory C</a:t>
            </a:r>
            <a:endParaRPr lang="ko-KR" sz="1000" dirty="0"/>
          </a:p>
        </p:txBody>
      </p:sp>
      <p:sp>
        <p:nvSpPr>
          <p:cNvPr id="37" name="Text 34"/>
          <p:cNvSpPr/>
          <p:nvPr/>
        </p:nvSpPr>
        <p:spPr>
          <a:xfrm>
            <a:off x="4389120" y="5129784"/>
            <a:ext cx="896112"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US</a:t>
            </a:r>
            <a:endParaRPr lang="ko-KR" sz="1000" dirty="0"/>
          </a:p>
        </p:txBody>
      </p:sp>
      <p:sp>
        <p:nvSpPr>
          <p:cNvPr id="38" name="Text 35"/>
          <p:cNvSpPr/>
          <p:nvPr/>
        </p:nvSpPr>
        <p:spPr>
          <a:xfrm>
            <a:off x="5340096" y="5129784"/>
            <a:ext cx="1426464" cy="237744"/>
          </a:xfrm>
          <a:prstGeom prst="rect">
            <a:avLst/>
          </a:prstGeom>
          <a:noFill/>
          <a:ln/>
        </p:spPr>
        <p:txBody>
          <a:bodyPr wrap="square" lIns="0" tIns="0" rIns="0" bIns="0" rtlCol="0" anchor="ctr"/>
          <a:lstStyle/>
          <a:p>
            <a:pPr marL="0" indent="0">
              <a:buNone/>
            </a:pPr>
            <a:r>
              <a:rPr lang="ko-KR" altLang="en-US" sz="1000" dirty="0">
                <a:solidFill>
                  <a:srgbClr val="202B2B"/>
                </a:solidFill>
                <a:latin typeface="Bahnschrift" pitchFamily="34" charset="0"/>
                <a:ea typeface="Bahnschrift" pitchFamily="34" charset="-122"/>
                <a:cs typeface="Bahnschrift" pitchFamily="34" charset="-120"/>
              </a:rPr>
              <a:t>YYYY-MM-DD</a:t>
            </a:r>
            <a:endParaRPr lang="ko-KR" sz="1000" dirty="0"/>
          </a:p>
        </p:txBody>
      </p:sp>
      <p:sp>
        <p:nvSpPr>
          <p:cNvPr id="39" name="Shape 36"/>
          <p:cNvSpPr/>
          <p:nvPr/>
        </p:nvSpPr>
        <p:spPr>
          <a:xfrm>
            <a:off x="740664" y="5468112"/>
            <a:ext cx="6400800" cy="0"/>
          </a:xfrm>
          <a:prstGeom prst="line">
            <a:avLst/>
          </a:prstGeom>
          <a:noFill/>
          <a:ln w="6350">
            <a:solidFill>
              <a:srgbClr val="D7E1DD"/>
            </a:solidFill>
            <a:prstDash val="solid"/>
          </a:ln>
        </p:spPr>
      </p:sp>
      <p:sp>
        <p:nvSpPr>
          <p:cNvPr id="40" name="Text 37"/>
          <p:cNvSpPr/>
          <p:nvPr/>
        </p:nvSpPr>
        <p:spPr>
          <a:xfrm>
            <a:off x="539496" y="5971032"/>
            <a:ext cx="6903720" cy="237744"/>
          </a:xfrm>
          <a:prstGeom prst="rect">
            <a:avLst/>
          </a:prstGeom>
          <a:noFill/>
          <a:ln/>
        </p:spPr>
        <p:txBody>
          <a:bodyPr wrap="square" lIns="0" tIns="0" rIns="0" bIns="0" rtlCol="0" anchor="ctr"/>
          <a:lstStyle/>
          <a:p>
            <a:pPr marL="0" indent="0">
              <a:buNone/>
            </a:pPr>
            <a:r>
              <a:rPr lang="ko-KR" altLang="en-US" sz="1050" dirty="0">
                <a:solidFill>
                  <a:srgbClr val="60706C"/>
                </a:solidFill>
                <a:latin typeface="Malgun Gothic" pitchFamily="34" charset="0"/>
                <a:ea typeface="Malgun Gothic" pitchFamily="34" charset="-122"/>
                <a:cs typeface="Malgun Gothic" pitchFamily="34" charset="-120"/>
              </a:rPr>
              <a:t>코드 기반 화면 구성도 · 합성 예시 데이터 · 실제 화면 캡처 아님</a:t>
            </a:r>
            <a:endParaRPr lang="ko-KR" sz="1050" dirty="0"/>
          </a:p>
        </p:txBody>
      </p:sp>
      <p:sp>
        <p:nvSpPr>
          <p:cNvPr id="41" name="Text 38"/>
          <p:cNvSpPr/>
          <p:nvPr/>
        </p:nvSpPr>
        <p:spPr>
          <a:xfrm>
            <a:off x="7882128" y="2624328"/>
            <a:ext cx="3749040" cy="329184"/>
          </a:xfrm>
          <a:prstGeom prst="rect">
            <a:avLst/>
          </a:prstGeom>
          <a:noFill/>
          <a:ln/>
        </p:spPr>
        <p:txBody>
          <a:bodyPr wrap="square" lIns="0" tIns="0" rIns="0" bIns="0" rtlCol="0" anchor="ctr"/>
          <a:lstStyle/>
          <a:p>
            <a:pPr marL="0" indent="0">
              <a:buNone/>
            </a:pPr>
            <a:r>
              <a:rPr lang="ko-KR" altLang="en-US" sz="1900" b="1" dirty="0">
                <a:solidFill>
                  <a:srgbClr val="087F73"/>
                </a:solidFill>
                <a:latin typeface="Malgun Gothic" pitchFamily="34" charset="0"/>
                <a:ea typeface="Malgun Gothic" pitchFamily="34" charset="-122"/>
                <a:cs typeface="Malgun Gothic" pitchFamily="34" charset="-120"/>
              </a:rPr>
              <a:t>목록 탐색</a:t>
            </a:r>
            <a:endParaRPr lang="ko-KR" sz="1900" dirty="0"/>
          </a:p>
        </p:txBody>
      </p:sp>
      <p:sp>
        <p:nvSpPr>
          <p:cNvPr id="42" name="Text 39"/>
          <p:cNvSpPr/>
          <p:nvPr/>
        </p:nvSpPr>
        <p:spPr>
          <a:xfrm>
            <a:off x="7882128" y="3081528"/>
            <a:ext cx="3749040" cy="685800"/>
          </a:xfrm>
          <a:prstGeom prst="rect">
            <a:avLst/>
          </a:prstGeom>
          <a:noFill/>
          <a:ln/>
        </p:spPr>
        <p:txBody>
          <a:bodyPr wrap="square" lIns="0" tIns="0" rIns="0" bIns="0" rtlCol="0" anchor="t"/>
          <a:lstStyle/>
          <a:p>
            <a:pPr marL="0" indent="0">
              <a:buNone/>
            </a:pPr>
            <a:r>
              <a:rPr lang="ko-KR" altLang="en-US" sz="1400" dirty="0">
                <a:solidFill>
                  <a:srgbClr val="202B2B"/>
                </a:solidFill>
                <a:latin typeface="Malgun Gothic" pitchFamily="34" charset="0"/>
                <a:ea typeface="Malgun Gothic" pitchFamily="34" charset="-122"/>
                <a:cs typeface="Malgun Gothic" pitchFamily="34" charset="-120"/>
              </a:rPr>
              <a:t>상태·코드·공장·국가별 필터</a:t>
            </a:r>
            <a:endParaRPr lang="ko-KR" sz="1400" dirty="0"/>
          </a:p>
          <a:p>
            <a:pPr marL="0" indent="0">
              <a:buNone/>
            </a:pPr>
            <a:r>
              <a:rPr lang="ko-KR" altLang="en-US" sz="1400" dirty="0">
                <a:solidFill>
                  <a:srgbClr val="202B2B"/>
                </a:solidFill>
                <a:latin typeface="Malgun Gothic" pitchFamily="34" charset="0"/>
                <a:ea typeface="Malgun Gothic" pitchFamily="34" charset="-122"/>
                <a:cs typeface="Malgun Gothic" pitchFamily="34" charset="-120"/>
              </a:rPr>
              <a:t>정렬, 열 순서·크기 조정, 열 고정</a:t>
            </a:r>
            <a:endParaRPr lang="ko-KR" sz="1400" dirty="0"/>
          </a:p>
        </p:txBody>
      </p:sp>
      <p:sp>
        <p:nvSpPr>
          <p:cNvPr id="43" name="Text 40"/>
          <p:cNvSpPr/>
          <p:nvPr/>
        </p:nvSpPr>
        <p:spPr>
          <a:xfrm>
            <a:off x="7882128" y="3785616"/>
            <a:ext cx="3749040" cy="329184"/>
          </a:xfrm>
          <a:prstGeom prst="rect">
            <a:avLst/>
          </a:prstGeom>
          <a:noFill/>
          <a:ln/>
        </p:spPr>
        <p:txBody>
          <a:bodyPr wrap="square" lIns="0" tIns="0" rIns="0" bIns="0" rtlCol="0" anchor="ctr"/>
          <a:lstStyle/>
          <a:p>
            <a:pPr marL="0" indent="0">
              <a:buNone/>
            </a:pPr>
            <a:r>
              <a:rPr lang="ko-KR" altLang="en-US" sz="1900" b="1" dirty="0">
                <a:solidFill>
                  <a:srgbClr val="087F73"/>
                </a:solidFill>
                <a:latin typeface="Malgun Gothic" pitchFamily="34" charset="0"/>
                <a:ea typeface="Malgun Gothic" pitchFamily="34" charset="-122"/>
                <a:cs typeface="Malgun Gothic" pitchFamily="34" charset="-120"/>
              </a:rPr>
              <a:t>상태에 따른 이동</a:t>
            </a:r>
            <a:endParaRPr lang="ko-KR" sz="1900" dirty="0"/>
          </a:p>
        </p:txBody>
      </p:sp>
      <p:sp>
        <p:nvSpPr>
          <p:cNvPr id="44" name="Text 41"/>
          <p:cNvSpPr/>
          <p:nvPr/>
        </p:nvSpPr>
        <p:spPr>
          <a:xfrm>
            <a:off x="7882128" y="4242816"/>
            <a:ext cx="3749040" cy="685800"/>
          </a:xfrm>
          <a:prstGeom prst="rect">
            <a:avLst/>
          </a:prstGeom>
          <a:noFill/>
          <a:ln/>
        </p:spPr>
        <p:txBody>
          <a:bodyPr wrap="square" lIns="0" tIns="0" rIns="0" bIns="0" rtlCol="0" anchor="t"/>
          <a:lstStyle/>
          <a:p>
            <a:pPr marL="0" indent="0">
              <a:buNone/>
            </a:pPr>
            <a:r>
              <a:rPr lang="ko-KR" altLang="en-US" sz="1400" dirty="0">
                <a:solidFill>
                  <a:srgbClr val="202B2B"/>
                </a:solidFill>
                <a:latin typeface="Malgun Gothic" pitchFamily="34" charset="0"/>
                <a:ea typeface="Malgun Gothic" pitchFamily="34" charset="-122"/>
                <a:cs typeface="Malgun Gothic" pitchFamily="34" charset="-120"/>
              </a:rPr>
              <a:t>DRAFT / RETURN은 조건에 따라 편집</a:t>
            </a:r>
            <a:endParaRPr lang="ko-KR" sz="1400" dirty="0"/>
          </a:p>
          <a:p>
            <a:pPr marL="0" indent="0">
              <a:buNone/>
            </a:pPr>
            <a:r>
              <a:rPr lang="ko-KR" altLang="en-US" sz="1400" dirty="0">
                <a:solidFill>
                  <a:srgbClr val="202B2B"/>
                </a:solidFill>
                <a:latin typeface="Malgun Gothic" pitchFamily="34" charset="0"/>
                <a:ea typeface="Malgun Gothic" pitchFamily="34" charset="-122"/>
                <a:cs typeface="Malgun Gothic" pitchFamily="34" charset="-120"/>
              </a:rPr>
              <a:t>그 외 문서는 상세·검토 화면으로 이동</a:t>
            </a:r>
            <a:endParaRPr lang="ko-KR" sz="1400" dirty="0"/>
          </a:p>
        </p:txBody>
      </p:sp>
      <p:sp>
        <p:nvSpPr>
          <p:cNvPr id="45" name="Text 42"/>
          <p:cNvSpPr/>
          <p:nvPr/>
        </p:nvSpPr>
        <p:spPr>
          <a:xfrm>
            <a:off x="7882128" y="4946904"/>
            <a:ext cx="3749040" cy="329184"/>
          </a:xfrm>
          <a:prstGeom prst="rect">
            <a:avLst/>
          </a:prstGeom>
          <a:noFill/>
          <a:ln/>
        </p:spPr>
        <p:txBody>
          <a:bodyPr wrap="square" lIns="0" tIns="0" rIns="0" bIns="0" rtlCol="0" anchor="ctr"/>
          <a:lstStyle/>
          <a:p>
            <a:pPr marL="0" indent="0">
              <a:buNone/>
            </a:pPr>
            <a:r>
              <a:rPr lang="ko-KR" altLang="en-US" sz="1900" b="1" dirty="0">
                <a:solidFill>
                  <a:srgbClr val="087F73"/>
                </a:solidFill>
                <a:latin typeface="Malgun Gothic" pitchFamily="34" charset="0"/>
                <a:ea typeface="Malgun Gothic" pitchFamily="34" charset="-122"/>
                <a:cs typeface="Malgun Gothic" pitchFamily="34" charset="-120"/>
              </a:rPr>
              <a:t>작업 맥락 유지</a:t>
            </a:r>
            <a:endParaRPr lang="ko-KR" sz="1900" dirty="0"/>
          </a:p>
        </p:txBody>
      </p:sp>
      <p:sp>
        <p:nvSpPr>
          <p:cNvPr id="46" name="Text 43"/>
          <p:cNvSpPr/>
          <p:nvPr/>
        </p:nvSpPr>
        <p:spPr>
          <a:xfrm>
            <a:off x="7882128" y="5404104"/>
            <a:ext cx="3749040" cy="685800"/>
          </a:xfrm>
          <a:prstGeom prst="rect">
            <a:avLst/>
          </a:prstGeom>
          <a:noFill/>
          <a:ln/>
        </p:spPr>
        <p:txBody>
          <a:bodyPr wrap="square" lIns="0" tIns="0" rIns="0" bIns="0" rtlCol="0" anchor="t"/>
          <a:lstStyle/>
          <a:p>
            <a:pPr marL="0" indent="0">
              <a:buNone/>
            </a:pPr>
            <a:r>
              <a:rPr lang="ko-KR" altLang="en-US" sz="1400" dirty="0">
                <a:solidFill>
                  <a:srgbClr val="202B2B"/>
                </a:solidFill>
                <a:latin typeface="Malgun Gothic" pitchFamily="34" charset="0"/>
                <a:ea typeface="Malgun Gothic" pitchFamily="34" charset="-122"/>
                <a:cs typeface="Malgun Gothic" pitchFamily="34" charset="-120"/>
              </a:rPr>
              <a:t>목록 필터와 선택값을 라우트 state로 전달</a:t>
            </a:r>
            <a:endParaRPr lang="ko-KR" sz="1400" dirty="0"/>
          </a:p>
          <a:p>
            <a:pPr marL="0" indent="0">
              <a:buNone/>
            </a:pPr>
            <a:r>
              <a:rPr lang="ko-KR" altLang="en-US" sz="1400" dirty="0">
                <a:solidFill>
                  <a:srgbClr val="202B2B"/>
                </a:solidFill>
                <a:latin typeface="Malgun Gothic" pitchFamily="34" charset="0"/>
                <a:ea typeface="Malgun Gothic" pitchFamily="34" charset="-122"/>
                <a:cs typeface="Malgun Gothic" pitchFamily="34" charset="-120"/>
              </a:rPr>
              <a:t>목록 진입 시 이전 검색 조건 복원</a:t>
            </a:r>
            <a:endParaRPr lang="ko-K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MasterService.java  /  SCRMCreationScheduler.java  /  routes.js</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06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Company Profile | 업체 기준정보를 업무의 출발점으로</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발주 연계 정보를 업체 기준정보로 반영하고 평가 대상 여부를 관리</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입력</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업체 코드·명칭, 자재 정보, 연락처, 주소, 발주 담당자 등 발주 연계 데이터</a:t>
            </a:r>
            <a:endParaRPr lang="ko-KR" sz="165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처리</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vendorCode로 기존 업체를 조회</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기존 업체는 평가 플래그 갱신</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신규 업체는 기준정보 생성</a:t>
            </a:r>
            <a:endParaRPr lang="ko-KR" sz="16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연결</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isSEF / isSEC로 평가 대상 구분</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상위 코드·업체 코드 관련 화면 제공</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SCRM 자동 생성의 기준으로 활용</a:t>
            </a:r>
            <a:endParaRPr lang="ko-KR"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SfcMasterService.java  /  TechReview.jsx  /  SQEReview.jsx</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07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SFC | 부서별 검토를 상태 전이로 구현</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작성 → 담당자 배정 → 순차 검토 → 완료 시 SAP 코드 발급 호출</a:t>
            </a:r>
            <a:endParaRPr lang="ko-KR" sz="1500" dirty="0"/>
          </a:p>
        </p:txBody>
      </p:sp>
      <p:sp>
        <p:nvSpPr>
          <p:cNvPr id="11" name="Text 8"/>
          <p:cNvSpPr/>
          <p:nvPr/>
        </p:nvSpPr>
        <p:spPr>
          <a:xfrm>
            <a:off x="521208"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01</a:t>
            </a:r>
            <a:endParaRPr lang="ko-KR" sz="1000" dirty="0"/>
          </a:p>
        </p:txBody>
      </p:sp>
      <p:sp>
        <p:nvSpPr>
          <p:cNvPr id="12" name="Shape 9"/>
          <p:cNvSpPr/>
          <p:nvPr/>
        </p:nvSpPr>
        <p:spPr>
          <a:xfrm>
            <a:off x="521208" y="2743200"/>
            <a:ext cx="1200150" cy="658368"/>
          </a:xfrm>
          <a:prstGeom prst="rect">
            <a:avLst/>
          </a:prstGeom>
          <a:solidFill>
            <a:srgbClr val="EDF2EF"/>
          </a:solidFill>
          <a:ln w="8255">
            <a:solidFill>
              <a:srgbClr val="EDF2EF"/>
            </a:solidFill>
            <a:prstDash val="solid"/>
          </a:ln>
        </p:spPr>
      </p:sp>
      <p:sp>
        <p:nvSpPr>
          <p:cNvPr id="13" name="Text 10"/>
          <p:cNvSpPr/>
          <p:nvPr/>
        </p:nvSpPr>
        <p:spPr>
          <a:xfrm>
            <a:off x="548640"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DRAFT</a:t>
            </a:r>
            <a:endParaRPr lang="ko-KR" sz="1200" dirty="0"/>
          </a:p>
        </p:txBody>
      </p:sp>
      <p:sp>
        <p:nvSpPr>
          <p:cNvPr id="14" name="Shape 11"/>
          <p:cNvSpPr/>
          <p:nvPr/>
        </p:nvSpPr>
        <p:spPr>
          <a:xfrm>
            <a:off x="1762506" y="2980944"/>
            <a:ext cx="128016" cy="182880"/>
          </a:xfrm>
          <a:prstGeom prst="chevron">
            <a:avLst/>
          </a:prstGeom>
          <a:solidFill>
            <a:srgbClr val="087F73"/>
          </a:solidFill>
          <a:ln w="12700">
            <a:solidFill>
              <a:srgbClr val="087F73">
                <a:alpha val="0"/>
              </a:srgbClr>
            </a:solidFill>
            <a:prstDash val="solid"/>
          </a:ln>
        </p:spPr>
      </p:sp>
      <p:sp>
        <p:nvSpPr>
          <p:cNvPr id="15" name="Text 12"/>
          <p:cNvSpPr/>
          <p:nvPr/>
        </p:nvSpPr>
        <p:spPr>
          <a:xfrm>
            <a:off x="1940814"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02</a:t>
            </a:r>
            <a:endParaRPr lang="ko-KR" sz="1000" dirty="0"/>
          </a:p>
        </p:txBody>
      </p:sp>
      <p:sp>
        <p:nvSpPr>
          <p:cNvPr id="16" name="Shape 13"/>
          <p:cNvSpPr/>
          <p:nvPr/>
        </p:nvSpPr>
        <p:spPr>
          <a:xfrm>
            <a:off x="1940814" y="2743200"/>
            <a:ext cx="1200150" cy="658368"/>
          </a:xfrm>
          <a:prstGeom prst="rect">
            <a:avLst/>
          </a:prstGeom>
          <a:solidFill>
            <a:srgbClr val="EDF2EF"/>
          </a:solidFill>
          <a:ln w="8255">
            <a:solidFill>
              <a:srgbClr val="EDF2EF"/>
            </a:solidFill>
            <a:prstDash val="solid"/>
          </a:ln>
        </p:spPr>
      </p:sp>
      <p:sp>
        <p:nvSpPr>
          <p:cNvPr id="17" name="Text 14"/>
          <p:cNvSpPr/>
          <p:nvPr/>
        </p:nvSpPr>
        <p:spPr>
          <a:xfrm>
            <a:off x="1968246"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ASSIGN</a:t>
            </a:r>
            <a:endParaRPr lang="ko-KR" sz="1200" dirty="0"/>
          </a:p>
        </p:txBody>
      </p:sp>
      <p:sp>
        <p:nvSpPr>
          <p:cNvPr id="18" name="Shape 15"/>
          <p:cNvSpPr/>
          <p:nvPr/>
        </p:nvSpPr>
        <p:spPr>
          <a:xfrm>
            <a:off x="3182112" y="2980944"/>
            <a:ext cx="128016" cy="182880"/>
          </a:xfrm>
          <a:prstGeom prst="chevron">
            <a:avLst/>
          </a:prstGeom>
          <a:solidFill>
            <a:srgbClr val="087F73"/>
          </a:solidFill>
          <a:ln w="12700">
            <a:solidFill>
              <a:srgbClr val="087F73">
                <a:alpha val="0"/>
              </a:srgbClr>
            </a:solidFill>
            <a:prstDash val="solid"/>
          </a:ln>
        </p:spPr>
      </p:sp>
      <p:sp>
        <p:nvSpPr>
          <p:cNvPr id="19" name="Text 16"/>
          <p:cNvSpPr/>
          <p:nvPr/>
        </p:nvSpPr>
        <p:spPr>
          <a:xfrm>
            <a:off x="3360420"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03</a:t>
            </a:r>
            <a:endParaRPr lang="ko-KR" sz="1000" dirty="0"/>
          </a:p>
        </p:txBody>
      </p:sp>
      <p:sp>
        <p:nvSpPr>
          <p:cNvPr id="20" name="Shape 17"/>
          <p:cNvSpPr/>
          <p:nvPr/>
        </p:nvSpPr>
        <p:spPr>
          <a:xfrm>
            <a:off x="3360420" y="2743200"/>
            <a:ext cx="1200150" cy="658368"/>
          </a:xfrm>
          <a:prstGeom prst="rect">
            <a:avLst/>
          </a:prstGeom>
          <a:solidFill>
            <a:srgbClr val="EDF2EF"/>
          </a:solidFill>
          <a:ln w="8255">
            <a:solidFill>
              <a:srgbClr val="EDF2EF"/>
            </a:solidFill>
            <a:prstDash val="solid"/>
          </a:ln>
        </p:spPr>
      </p:sp>
      <p:sp>
        <p:nvSpPr>
          <p:cNvPr id="21" name="Text 18"/>
          <p:cNvSpPr/>
          <p:nvPr/>
        </p:nvSpPr>
        <p:spPr>
          <a:xfrm>
            <a:off x="3387852"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TECH</a:t>
            </a:r>
            <a:endParaRPr lang="ko-KR" sz="1200" dirty="0"/>
          </a:p>
        </p:txBody>
      </p:sp>
      <p:sp>
        <p:nvSpPr>
          <p:cNvPr id="22" name="Shape 19"/>
          <p:cNvSpPr/>
          <p:nvPr/>
        </p:nvSpPr>
        <p:spPr>
          <a:xfrm>
            <a:off x="4601718" y="2980944"/>
            <a:ext cx="128016" cy="182880"/>
          </a:xfrm>
          <a:prstGeom prst="chevron">
            <a:avLst/>
          </a:prstGeom>
          <a:solidFill>
            <a:srgbClr val="087F73"/>
          </a:solidFill>
          <a:ln w="12700">
            <a:solidFill>
              <a:srgbClr val="087F73">
                <a:alpha val="0"/>
              </a:srgbClr>
            </a:solidFill>
            <a:prstDash val="solid"/>
          </a:ln>
        </p:spPr>
      </p:sp>
      <p:sp>
        <p:nvSpPr>
          <p:cNvPr id="23" name="Text 20"/>
          <p:cNvSpPr/>
          <p:nvPr/>
        </p:nvSpPr>
        <p:spPr>
          <a:xfrm>
            <a:off x="4780026"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04</a:t>
            </a:r>
            <a:endParaRPr lang="ko-KR" sz="1000" dirty="0"/>
          </a:p>
        </p:txBody>
      </p:sp>
      <p:sp>
        <p:nvSpPr>
          <p:cNvPr id="24" name="Shape 21"/>
          <p:cNvSpPr/>
          <p:nvPr/>
        </p:nvSpPr>
        <p:spPr>
          <a:xfrm>
            <a:off x="4780026" y="2743200"/>
            <a:ext cx="1200150" cy="658368"/>
          </a:xfrm>
          <a:prstGeom prst="rect">
            <a:avLst/>
          </a:prstGeom>
          <a:solidFill>
            <a:srgbClr val="EDF2EF"/>
          </a:solidFill>
          <a:ln w="8255">
            <a:solidFill>
              <a:srgbClr val="EDF2EF"/>
            </a:solidFill>
            <a:prstDash val="solid"/>
          </a:ln>
        </p:spPr>
      </p:sp>
      <p:sp>
        <p:nvSpPr>
          <p:cNvPr id="25" name="Text 22"/>
          <p:cNvSpPr/>
          <p:nvPr/>
        </p:nvSpPr>
        <p:spPr>
          <a:xfrm>
            <a:off x="4807458"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PURCHA</a:t>
            </a:r>
            <a:endParaRPr lang="ko-KR" sz="1200" dirty="0"/>
          </a:p>
        </p:txBody>
      </p:sp>
      <p:sp>
        <p:nvSpPr>
          <p:cNvPr id="26" name="Shape 23"/>
          <p:cNvSpPr/>
          <p:nvPr/>
        </p:nvSpPr>
        <p:spPr>
          <a:xfrm>
            <a:off x="6021324" y="2980944"/>
            <a:ext cx="128016" cy="182880"/>
          </a:xfrm>
          <a:prstGeom prst="chevron">
            <a:avLst/>
          </a:prstGeom>
          <a:solidFill>
            <a:srgbClr val="087F73"/>
          </a:solidFill>
          <a:ln w="12700">
            <a:solidFill>
              <a:srgbClr val="087F73">
                <a:alpha val="0"/>
              </a:srgbClr>
            </a:solidFill>
            <a:prstDash val="solid"/>
          </a:ln>
        </p:spPr>
      </p:sp>
      <p:sp>
        <p:nvSpPr>
          <p:cNvPr id="27" name="Text 24"/>
          <p:cNvSpPr/>
          <p:nvPr/>
        </p:nvSpPr>
        <p:spPr>
          <a:xfrm>
            <a:off x="6199632"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05</a:t>
            </a:r>
            <a:endParaRPr lang="ko-KR" sz="1000" dirty="0"/>
          </a:p>
        </p:txBody>
      </p:sp>
      <p:sp>
        <p:nvSpPr>
          <p:cNvPr id="28" name="Shape 25"/>
          <p:cNvSpPr/>
          <p:nvPr/>
        </p:nvSpPr>
        <p:spPr>
          <a:xfrm>
            <a:off x="6199632" y="2743200"/>
            <a:ext cx="1200150" cy="658368"/>
          </a:xfrm>
          <a:prstGeom prst="rect">
            <a:avLst/>
          </a:prstGeom>
          <a:solidFill>
            <a:srgbClr val="EDF2EF"/>
          </a:solidFill>
          <a:ln w="8255">
            <a:solidFill>
              <a:srgbClr val="EDF2EF"/>
            </a:solidFill>
            <a:prstDash val="solid"/>
          </a:ln>
        </p:spPr>
      </p:sp>
      <p:sp>
        <p:nvSpPr>
          <p:cNvPr id="29" name="Text 26"/>
          <p:cNvSpPr/>
          <p:nvPr/>
        </p:nvSpPr>
        <p:spPr>
          <a:xfrm>
            <a:off x="6227064"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SQE</a:t>
            </a:r>
            <a:endParaRPr lang="ko-KR" sz="1200" dirty="0"/>
          </a:p>
        </p:txBody>
      </p:sp>
      <p:sp>
        <p:nvSpPr>
          <p:cNvPr id="30" name="Shape 27"/>
          <p:cNvSpPr/>
          <p:nvPr/>
        </p:nvSpPr>
        <p:spPr>
          <a:xfrm>
            <a:off x="7440930" y="2980944"/>
            <a:ext cx="128016" cy="182880"/>
          </a:xfrm>
          <a:prstGeom prst="chevron">
            <a:avLst/>
          </a:prstGeom>
          <a:solidFill>
            <a:srgbClr val="087F73"/>
          </a:solidFill>
          <a:ln w="12700">
            <a:solidFill>
              <a:srgbClr val="087F73">
                <a:alpha val="0"/>
              </a:srgbClr>
            </a:solidFill>
            <a:prstDash val="solid"/>
          </a:ln>
        </p:spPr>
      </p:sp>
      <p:sp>
        <p:nvSpPr>
          <p:cNvPr id="31" name="Text 28"/>
          <p:cNvSpPr/>
          <p:nvPr/>
        </p:nvSpPr>
        <p:spPr>
          <a:xfrm>
            <a:off x="7619238"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06</a:t>
            </a:r>
            <a:endParaRPr lang="ko-KR" sz="1000" dirty="0"/>
          </a:p>
        </p:txBody>
      </p:sp>
      <p:sp>
        <p:nvSpPr>
          <p:cNvPr id="32" name="Shape 29"/>
          <p:cNvSpPr/>
          <p:nvPr/>
        </p:nvSpPr>
        <p:spPr>
          <a:xfrm>
            <a:off x="7619238" y="2743200"/>
            <a:ext cx="1200150" cy="658368"/>
          </a:xfrm>
          <a:prstGeom prst="rect">
            <a:avLst/>
          </a:prstGeom>
          <a:solidFill>
            <a:srgbClr val="EDF2EF"/>
          </a:solidFill>
          <a:ln w="8255">
            <a:solidFill>
              <a:srgbClr val="EDF2EF"/>
            </a:solidFill>
            <a:prstDash val="solid"/>
          </a:ln>
        </p:spPr>
      </p:sp>
      <p:sp>
        <p:nvSpPr>
          <p:cNvPr id="33" name="Text 30"/>
          <p:cNvSpPr/>
          <p:nvPr/>
        </p:nvSpPr>
        <p:spPr>
          <a:xfrm>
            <a:off x="7646670"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SUPP</a:t>
            </a:r>
            <a:endParaRPr lang="ko-KR" sz="1200" dirty="0"/>
          </a:p>
        </p:txBody>
      </p:sp>
      <p:sp>
        <p:nvSpPr>
          <p:cNvPr id="34" name="Shape 31"/>
          <p:cNvSpPr/>
          <p:nvPr/>
        </p:nvSpPr>
        <p:spPr>
          <a:xfrm>
            <a:off x="8860536" y="2980944"/>
            <a:ext cx="128016" cy="182880"/>
          </a:xfrm>
          <a:prstGeom prst="chevron">
            <a:avLst/>
          </a:prstGeom>
          <a:solidFill>
            <a:srgbClr val="087F73"/>
          </a:solidFill>
          <a:ln w="12700">
            <a:solidFill>
              <a:srgbClr val="087F73">
                <a:alpha val="0"/>
              </a:srgbClr>
            </a:solidFill>
            <a:prstDash val="solid"/>
          </a:ln>
        </p:spPr>
      </p:sp>
      <p:sp>
        <p:nvSpPr>
          <p:cNvPr id="35" name="Text 32"/>
          <p:cNvSpPr/>
          <p:nvPr/>
        </p:nvSpPr>
        <p:spPr>
          <a:xfrm>
            <a:off x="9038844"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07</a:t>
            </a:r>
            <a:endParaRPr lang="ko-KR" sz="1000" dirty="0"/>
          </a:p>
        </p:txBody>
      </p:sp>
      <p:sp>
        <p:nvSpPr>
          <p:cNvPr id="36" name="Shape 33"/>
          <p:cNvSpPr/>
          <p:nvPr/>
        </p:nvSpPr>
        <p:spPr>
          <a:xfrm>
            <a:off x="9038844" y="2743200"/>
            <a:ext cx="1200150" cy="658368"/>
          </a:xfrm>
          <a:prstGeom prst="rect">
            <a:avLst/>
          </a:prstGeom>
          <a:solidFill>
            <a:srgbClr val="EDF2EF"/>
          </a:solidFill>
          <a:ln w="8255">
            <a:solidFill>
              <a:srgbClr val="EDF2EF"/>
            </a:solidFill>
            <a:prstDash val="solid"/>
          </a:ln>
        </p:spPr>
      </p:sp>
      <p:sp>
        <p:nvSpPr>
          <p:cNvPr id="37" name="Text 34"/>
          <p:cNvSpPr/>
          <p:nvPr/>
        </p:nvSpPr>
        <p:spPr>
          <a:xfrm>
            <a:off x="9066276"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SQM</a:t>
            </a:r>
            <a:endParaRPr lang="ko-KR" sz="1200" dirty="0"/>
          </a:p>
        </p:txBody>
      </p:sp>
      <p:sp>
        <p:nvSpPr>
          <p:cNvPr id="38" name="Shape 35"/>
          <p:cNvSpPr/>
          <p:nvPr/>
        </p:nvSpPr>
        <p:spPr>
          <a:xfrm>
            <a:off x="10280142" y="2980944"/>
            <a:ext cx="128016" cy="182880"/>
          </a:xfrm>
          <a:prstGeom prst="chevron">
            <a:avLst/>
          </a:prstGeom>
          <a:solidFill>
            <a:srgbClr val="087F73"/>
          </a:solidFill>
          <a:ln w="12700">
            <a:solidFill>
              <a:srgbClr val="087F73">
                <a:alpha val="0"/>
              </a:srgbClr>
            </a:solidFill>
            <a:prstDash val="solid"/>
          </a:ln>
        </p:spPr>
      </p:sp>
      <p:sp>
        <p:nvSpPr>
          <p:cNvPr id="39" name="Text 36"/>
          <p:cNvSpPr/>
          <p:nvPr/>
        </p:nvSpPr>
        <p:spPr>
          <a:xfrm>
            <a:off x="10458450" y="2441448"/>
            <a:ext cx="1200150"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08</a:t>
            </a:r>
            <a:endParaRPr lang="ko-KR" sz="1000" dirty="0"/>
          </a:p>
        </p:txBody>
      </p:sp>
      <p:sp>
        <p:nvSpPr>
          <p:cNvPr id="40" name="Shape 37"/>
          <p:cNvSpPr/>
          <p:nvPr/>
        </p:nvSpPr>
        <p:spPr>
          <a:xfrm>
            <a:off x="10458450" y="2743200"/>
            <a:ext cx="1200150" cy="658368"/>
          </a:xfrm>
          <a:prstGeom prst="rect">
            <a:avLst/>
          </a:prstGeom>
          <a:solidFill>
            <a:srgbClr val="087F73"/>
          </a:solidFill>
          <a:ln w="8255">
            <a:solidFill>
              <a:srgbClr val="087F73"/>
            </a:solidFill>
            <a:prstDash val="solid"/>
          </a:ln>
        </p:spPr>
      </p:sp>
      <p:sp>
        <p:nvSpPr>
          <p:cNvPr id="41" name="Text 38"/>
          <p:cNvSpPr/>
          <p:nvPr/>
        </p:nvSpPr>
        <p:spPr>
          <a:xfrm>
            <a:off x="10485882" y="2816352"/>
            <a:ext cx="1145286" cy="493776"/>
          </a:xfrm>
          <a:prstGeom prst="rect">
            <a:avLst/>
          </a:prstGeom>
          <a:noFill/>
          <a:ln/>
        </p:spPr>
        <p:txBody>
          <a:bodyPr wrap="square" lIns="0" tIns="0" rIns="0" bIns="0" rtlCol="0" anchor="ctr"/>
          <a:lstStyle/>
          <a:p>
            <a:pPr marL="0" indent="0" algn="ctr">
              <a:buNone/>
            </a:pPr>
            <a:r>
              <a:rPr lang="ko-KR" altLang="en-US" sz="1200" b="1" dirty="0">
                <a:solidFill>
                  <a:srgbClr val="FFFFFF"/>
                </a:solidFill>
                <a:latin typeface="Malgun Gothic" pitchFamily="34" charset="0"/>
                <a:ea typeface="Malgun Gothic" pitchFamily="34" charset="-122"/>
                <a:cs typeface="Malgun Gothic" pitchFamily="34" charset="-120"/>
              </a:rPr>
              <a:t>COMPLETE</a:t>
            </a:r>
            <a:endParaRPr lang="ko-KR" sz="1200" dirty="0"/>
          </a:p>
        </p:txBody>
      </p:sp>
      <p:sp>
        <p:nvSpPr>
          <p:cNvPr id="42" name="Shape 39"/>
          <p:cNvSpPr/>
          <p:nvPr/>
        </p:nvSpPr>
        <p:spPr>
          <a:xfrm>
            <a:off x="521208" y="3913632"/>
            <a:ext cx="45720" cy="1984248"/>
          </a:xfrm>
          <a:prstGeom prst="rect">
            <a:avLst/>
          </a:prstGeom>
          <a:solidFill>
            <a:srgbClr val="087F73"/>
          </a:solidFill>
          <a:ln w="8255">
            <a:solidFill>
              <a:srgbClr val="087F73"/>
            </a:solidFill>
            <a:prstDash val="solid"/>
          </a:ln>
        </p:spPr>
      </p:sp>
      <p:sp>
        <p:nvSpPr>
          <p:cNvPr id="43" name="Text 40"/>
          <p:cNvSpPr/>
          <p:nvPr/>
        </p:nvSpPr>
        <p:spPr>
          <a:xfrm>
            <a:off x="731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진행 규칙</a:t>
            </a:r>
            <a:endParaRPr lang="ko-KR" sz="2100" dirty="0"/>
          </a:p>
        </p:txBody>
      </p:sp>
      <p:sp>
        <p:nvSpPr>
          <p:cNvPr id="44" name="Text 41"/>
          <p:cNvSpPr/>
          <p:nvPr/>
        </p:nvSpPr>
        <p:spPr>
          <a:xfrm>
            <a:off x="731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getNextStatus가 다음 상태 결정</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saveNextStatus가 상태 저장</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RETURN 문서는 ASSIGN으로 재진입</a:t>
            </a:r>
            <a:endParaRPr lang="ko-KR" sz="1600" dirty="0"/>
          </a:p>
        </p:txBody>
      </p:sp>
      <p:sp>
        <p:nvSpPr>
          <p:cNvPr id="45" name="Shape 42"/>
          <p:cNvSpPr/>
          <p:nvPr/>
        </p:nvSpPr>
        <p:spPr>
          <a:xfrm>
            <a:off x="6236208" y="3913632"/>
            <a:ext cx="45720" cy="1984248"/>
          </a:xfrm>
          <a:prstGeom prst="rect">
            <a:avLst/>
          </a:prstGeom>
          <a:solidFill>
            <a:srgbClr val="D95A43"/>
          </a:solidFill>
          <a:ln w="8255">
            <a:solidFill>
              <a:srgbClr val="D95A43"/>
            </a:solidFill>
            <a:prstDash val="solid"/>
          </a:ln>
        </p:spPr>
      </p:sp>
      <p:sp>
        <p:nvSpPr>
          <p:cNvPr id="46" name="Text 43"/>
          <p:cNvSpPr/>
          <p:nvPr/>
        </p:nvSpPr>
        <p:spPr>
          <a:xfrm>
            <a:off x="6446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완료 처리</a:t>
            </a:r>
            <a:endParaRPr lang="ko-KR" sz="2100" dirty="0"/>
          </a:p>
        </p:txBody>
      </p:sp>
      <p:sp>
        <p:nvSpPr>
          <p:cNvPr id="47" name="Text 44"/>
          <p:cNvSpPr/>
          <p:nvPr/>
        </p:nvSpPr>
        <p:spPr>
          <a:xfrm>
            <a:off x="6446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COMPLETE 전환 시 SAP SFC 코드 발급 호출</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발급 코드를 문서에 반영</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검토·반려 메일 발송 로직 제공</a:t>
            </a:r>
            <a:endParaRPr lang="ko-KR"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SfcMasterController.java  /  ApprovalRepository.java  /  ApprovalService.java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08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승인 한 번에 일어나는 처리</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승인 이력, 문서 상태, 다음 담당자, 알림을 이어 주는 오케스트레이션</a:t>
            </a:r>
            <a:endParaRPr lang="ko-KR" sz="1500" dirty="0"/>
          </a:p>
        </p:txBody>
      </p:sp>
      <p:sp>
        <p:nvSpPr>
          <p:cNvPr id="11" name="Text 8"/>
          <p:cNvSpPr/>
          <p:nvPr/>
        </p:nvSpPr>
        <p:spPr>
          <a:xfrm>
            <a:off x="52120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01</a:t>
            </a:r>
            <a:endParaRPr lang="ko-KR" sz="1000" dirty="0"/>
          </a:p>
        </p:txBody>
      </p:sp>
      <p:sp>
        <p:nvSpPr>
          <p:cNvPr id="12" name="Shape 9"/>
          <p:cNvSpPr/>
          <p:nvPr/>
        </p:nvSpPr>
        <p:spPr>
          <a:xfrm>
            <a:off x="521208" y="2743200"/>
            <a:ext cx="2051914" cy="658368"/>
          </a:xfrm>
          <a:prstGeom prst="rect">
            <a:avLst/>
          </a:prstGeom>
          <a:solidFill>
            <a:srgbClr val="EDF2EF"/>
          </a:solidFill>
          <a:ln w="8255">
            <a:solidFill>
              <a:srgbClr val="EDF2EF"/>
            </a:solidFill>
            <a:prstDash val="solid"/>
          </a:ln>
        </p:spPr>
      </p:sp>
      <p:sp>
        <p:nvSpPr>
          <p:cNvPr id="13" name="Text 10"/>
          <p:cNvSpPr/>
          <p:nvPr/>
        </p:nvSpPr>
        <p:spPr>
          <a:xfrm>
            <a:off x="54864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승인 요청</a:t>
            </a:r>
            <a:endParaRPr lang="ko-KR" sz="1400" dirty="0"/>
          </a:p>
        </p:txBody>
      </p:sp>
      <p:sp>
        <p:nvSpPr>
          <p:cNvPr id="14" name="Shape 11"/>
          <p:cNvSpPr/>
          <p:nvPr/>
        </p:nvSpPr>
        <p:spPr>
          <a:xfrm>
            <a:off x="2614270" y="2980944"/>
            <a:ext cx="128016" cy="182880"/>
          </a:xfrm>
          <a:prstGeom prst="chevron">
            <a:avLst/>
          </a:prstGeom>
          <a:solidFill>
            <a:srgbClr val="087F73"/>
          </a:solidFill>
          <a:ln w="12700">
            <a:solidFill>
              <a:srgbClr val="087F73">
                <a:alpha val="0"/>
              </a:srgbClr>
            </a:solidFill>
            <a:prstDash val="solid"/>
          </a:ln>
        </p:spPr>
      </p:sp>
      <p:sp>
        <p:nvSpPr>
          <p:cNvPr id="15" name="Text 12"/>
          <p:cNvSpPr/>
          <p:nvPr/>
        </p:nvSpPr>
        <p:spPr>
          <a:xfrm>
            <a:off x="279257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02</a:t>
            </a:r>
            <a:endParaRPr lang="ko-KR" sz="1000" dirty="0"/>
          </a:p>
        </p:txBody>
      </p:sp>
      <p:sp>
        <p:nvSpPr>
          <p:cNvPr id="16" name="Shape 13"/>
          <p:cNvSpPr/>
          <p:nvPr/>
        </p:nvSpPr>
        <p:spPr>
          <a:xfrm>
            <a:off x="2792578" y="2743200"/>
            <a:ext cx="2051914" cy="658368"/>
          </a:xfrm>
          <a:prstGeom prst="rect">
            <a:avLst/>
          </a:prstGeom>
          <a:solidFill>
            <a:srgbClr val="EDF2EF"/>
          </a:solidFill>
          <a:ln w="8255">
            <a:solidFill>
              <a:srgbClr val="EDF2EF"/>
            </a:solidFill>
            <a:prstDash val="solid"/>
          </a:ln>
        </p:spPr>
      </p:sp>
      <p:sp>
        <p:nvSpPr>
          <p:cNvPr id="17" name="Text 14"/>
          <p:cNvSpPr/>
          <p:nvPr/>
        </p:nvSpPr>
        <p:spPr>
          <a:xfrm>
            <a:off x="282001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현재 결재 갱신</a:t>
            </a:r>
            <a:endParaRPr lang="ko-KR" sz="1400" dirty="0"/>
          </a:p>
        </p:txBody>
      </p:sp>
      <p:sp>
        <p:nvSpPr>
          <p:cNvPr id="18" name="Shape 15"/>
          <p:cNvSpPr/>
          <p:nvPr/>
        </p:nvSpPr>
        <p:spPr>
          <a:xfrm>
            <a:off x="4885639" y="2980944"/>
            <a:ext cx="128016" cy="182880"/>
          </a:xfrm>
          <a:prstGeom prst="chevron">
            <a:avLst/>
          </a:prstGeom>
          <a:solidFill>
            <a:srgbClr val="087F73"/>
          </a:solidFill>
          <a:ln w="12700">
            <a:solidFill>
              <a:srgbClr val="087F73">
                <a:alpha val="0"/>
              </a:srgbClr>
            </a:solidFill>
            <a:prstDash val="solid"/>
          </a:ln>
        </p:spPr>
      </p:sp>
      <p:sp>
        <p:nvSpPr>
          <p:cNvPr id="19" name="Text 16"/>
          <p:cNvSpPr/>
          <p:nvPr/>
        </p:nvSpPr>
        <p:spPr>
          <a:xfrm>
            <a:off x="506394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03</a:t>
            </a:r>
            <a:endParaRPr lang="ko-KR" sz="1000" dirty="0"/>
          </a:p>
        </p:txBody>
      </p:sp>
      <p:sp>
        <p:nvSpPr>
          <p:cNvPr id="20" name="Shape 17"/>
          <p:cNvSpPr/>
          <p:nvPr/>
        </p:nvSpPr>
        <p:spPr>
          <a:xfrm>
            <a:off x="5063947" y="2743200"/>
            <a:ext cx="2051914" cy="658368"/>
          </a:xfrm>
          <a:prstGeom prst="rect">
            <a:avLst/>
          </a:prstGeom>
          <a:solidFill>
            <a:srgbClr val="EDF2EF"/>
          </a:solidFill>
          <a:ln w="8255">
            <a:solidFill>
              <a:srgbClr val="EDF2EF"/>
            </a:solidFill>
            <a:prstDash val="solid"/>
          </a:ln>
        </p:spPr>
      </p:sp>
      <p:sp>
        <p:nvSpPr>
          <p:cNvPr id="21" name="Text 18"/>
          <p:cNvSpPr/>
          <p:nvPr/>
        </p:nvSpPr>
        <p:spPr>
          <a:xfrm>
            <a:off x="509137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문서 상태 전이</a:t>
            </a:r>
            <a:endParaRPr lang="ko-KR" sz="1400" dirty="0"/>
          </a:p>
        </p:txBody>
      </p:sp>
      <p:sp>
        <p:nvSpPr>
          <p:cNvPr id="22" name="Shape 19"/>
          <p:cNvSpPr/>
          <p:nvPr/>
        </p:nvSpPr>
        <p:spPr>
          <a:xfrm>
            <a:off x="7157009" y="2980944"/>
            <a:ext cx="128016" cy="182880"/>
          </a:xfrm>
          <a:prstGeom prst="chevron">
            <a:avLst/>
          </a:prstGeom>
          <a:solidFill>
            <a:srgbClr val="087F73"/>
          </a:solidFill>
          <a:ln w="12700">
            <a:solidFill>
              <a:srgbClr val="087F73">
                <a:alpha val="0"/>
              </a:srgbClr>
            </a:solidFill>
            <a:prstDash val="solid"/>
          </a:ln>
        </p:spPr>
      </p:sp>
      <p:sp>
        <p:nvSpPr>
          <p:cNvPr id="23" name="Text 20"/>
          <p:cNvSpPr/>
          <p:nvPr/>
        </p:nvSpPr>
        <p:spPr>
          <a:xfrm>
            <a:off x="733531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04</a:t>
            </a:r>
            <a:endParaRPr lang="ko-KR" sz="1000" dirty="0"/>
          </a:p>
        </p:txBody>
      </p:sp>
      <p:sp>
        <p:nvSpPr>
          <p:cNvPr id="24" name="Shape 21"/>
          <p:cNvSpPr/>
          <p:nvPr/>
        </p:nvSpPr>
        <p:spPr>
          <a:xfrm>
            <a:off x="7335317" y="2743200"/>
            <a:ext cx="2051914" cy="658368"/>
          </a:xfrm>
          <a:prstGeom prst="rect">
            <a:avLst/>
          </a:prstGeom>
          <a:solidFill>
            <a:srgbClr val="EDF2EF"/>
          </a:solidFill>
          <a:ln w="8255">
            <a:solidFill>
              <a:srgbClr val="EDF2EF"/>
            </a:solidFill>
            <a:prstDash val="solid"/>
          </a:ln>
        </p:spPr>
      </p:sp>
      <p:sp>
        <p:nvSpPr>
          <p:cNvPr id="25" name="Text 22"/>
          <p:cNvSpPr/>
          <p:nvPr/>
        </p:nvSpPr>
        <p:spPr>
          <a:xfrm>
            <a:off x="736274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다음 결재 활성화</a:t>
            </a:r>
            <a:endParaRPr lang="ko-KR" sz="1400" dirty="0"/>
          </a:p>
        </p:txBody>
      </p:sp>
      <p:sp>
        <p:nvSpPr>
          <p:cNvPr id="26" name="Shape 23"/>
          <p:cNvSpPr/>
          <p:nvPr/>
        </p:nvSpPr>
        <p:spPr>
          <a:xfrm>
            <a:off x="9428378" y="2980944"/>
            <a:ext cx="128016" cy="182880"/>
          </a:xfrm>
          <a:prstGeom prst="chevron">
            <a:avLst/>
          </a:prstGeom>
          <a:solidFill>
            <a:srgbClr val="087F73"/>
          </a:solidFill>
          <a:ln w="12700">
            <a:solidFill>
              <a:srgbClr val="087F73">
                <a:alpha val="0"/>
              </a:srgbClr>
            </a:solidFill>
            <a:prstDash val="solid"/>
          </a:ln>
        </p:spPr>
      </p:sp>
      <p:sp>
        <p:nvSpPr>
          <p:cNvPr id="27" name="Text 24"/>
          <p:cNvSpPr/>
          <p:nvPr/>
        </p:nvSpPr>
        <p:spPr>
          <a:xfrm>
            <a:off x="9606686"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05</a:t>
            </a:r>
            <a:endParaRPr lang="ko-KR" sz="1000" dirty="0"/>
          </a:p>
        </p:txBody>
      </p:sp>
      <p:sp>
        <p:nvSpPr>
          <p:cNvPr id="28" name="Shape 25"/>
          <p:cNvSpPr/>
          <p:nvPr/>
        </p:nvSpPr>
        <p:spPr>
          <a:xfrm>
            <a:off x="9606686" y="2743200"/>
            <a:ext cx="2051914" cy="658368"/>
          </a:xfrm>
          <a:prstGeom prst="rect">
            <a:avLst/>
          </a:prstGeom>
          <a:solidFill>
            <a:srgbClr val="087F73"/>
          </a:solidFill>
          <a:ln w="8255">
            <a:solidFill>
              <a:srgbClr val="087F73"/>
            </a:solidFill>
            <a:prstDash val="solid"/>
          </a:ln>
        </p:spPr>
      </p:sp>
      <p:sp>
        <p:nvSpPr>
          <p:cNvPr id="29" name="Text 26"/>
          <p:cNvSpPr/>
          <p:nvPr/>
        </p:nvSpPr>
        <p:spPr>
          <a:xfrm>
            <a:off x="9634118"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Malgun Gothic" pitchFamily="34" charset="0"/>
                <a:ea typeface="Malgun Gothic" pitchFamily="34" charset="-122"/>
                <a:cs typeface="Malgun Gothic" pitchFamily="34" charset="-120"/>
              </a:rPr>
              <a:t>검토 메일 호출</a:t>
            </a:r>
            <a:endParaRPr lang="ko-KR" sz="1400" dirty="0"/>
          </a:p>
        </p:txBody>
      </p:sp>
      <p:sp>
        <p:nvSpPr>
          <p:cNvPr id="30" name="Shape 27"/>
          <p:cNvSpPr/>
          <p:nvPr/>
        </p:nvSpPr>
        <p:spPr>
          <a:xfrm>
            <a:off x="521208" y="3913632"/>
            <a:ext cx="45720" cy="1984248"/>
          </a:xfrm>
          <a:prstGeom prst="rect">
            <a:avLst/>
          </a:prstGeom>
          <a:solidFill>
            <a:srgbClr val="087F73"/>
          </a:solidFill>
          <a:ln w="8255">
            <a:solidFill>
              <a:srgbClr val="087F73"/>
            </a:solidFill>
            <a:prstDash val="solid"/>
          </a:ln>
        </p:spPr>
      </p:sp>
      <p:sp>
        <p:nvSpPr>
          <p:cNvPr id="31" name="Text 28"/>
          <p:cNvSpPr/>
          <p:nvPr/>
        </p:nvSpPr>
        <p:spPr>
          <a:xfrm>
            <a:off x="731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현재 단계 종료</a:t>
            </a:r>
            <a:endParaRPr lang="ko-KR" sz="2100" dirty="0"/>
          </a:p>
        </p:txBody>
      </p:sp>
      <p:sp>
        <p:nvSpPr>
          <p:cNvPr id="32" name="Text 29"/>
          <p:cNvSpPr/>
          <p:nvPr/>
        </p:nvSpPr>
        <p:spPr>
          <a:xfrm>
            <a:off x="731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문서·상태로 결재 목록 조회</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승인자 의견과 처리 시각 저장</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다른 현재 결재 항목 비활성화</a:t>
            </a:r>
            <a:endParaRPr lang="ko-KR" sz="1600" dirty="0"/>
          </a:p>
        </p:txBody>
      </p:sp>
      <p:sp>
        <p:nvSpPr>
          <p:cNvPr id="33" name="Shape 30"/>
          <p:cNvSpPr/>
          <p:nvPr/>
        </p:nvSpPr>
        <p:spPr>
          <a:xfrm>
            <a:off x="6236208" y="3913632"/>
            <a:ext cx="45720" cy="1984248"/>
          </a:xfrm>
          <a:prstGeom prst="rect">
            <a:avLst/>
          </a:prstGeom>
          <a:solidFill>
            <a:srgbClr val="D95A43"/>
          </a:solidFill>
          <a:ln w="8255">
            <a:solidFill>
              <a:srgbClr val="D95A43"/>
            </a:solidFill>
            <a:prstDash val="solid"/>
          </a:ln>
        </p:spPr>
      </p:sp>
      <p:sp>
        <p:nvSpPr>
          <p:cNvPr id="34" name="Text 31"/>
          <p:cNvSpPr/>
          <p:nvPr/>
        </p:nvSpPr>
        <p:spPr>
          <a:xfrm>
            <a:off x="6446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다음 단계 시작</a:t>
            </a:r>
            <a:endParaRPr lang="ko-KR" sz="2100" dirty="0"/>
          </a:p>
        </p:txBody>
      </p:sp>
      <p:sp>
        <p:nvSpPr>
          <p:cNvPr id="35" name="Text 32"/>
          <p:cNvSpPr/>
          <p:nvPr/>
        </p:nvSpPr>
        <p:spPr>
          <a:xfrm>
            <a:off x="6446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Service에서 다음 상태 결정·저장</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다음 결재의 aprvCur를 Y로 설정</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담당자·관리자 수신 목록 구성</a:t>
            </a:r>
            <a:endParaRPr lang="ko-KR"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SCRMMasterService.java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09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SCRM | 역할별 리스크 검토 프로세스</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실사·보안 검토·공급업체 응답을 하나의 평가 문서로 연결</a:t>
            </a:r>
            <a:endParaRPr lang="ko-KR" sz="1500" dirty="0"/>
          </a:p>
        </p:txBody>
      </p:sp>
      <p:sp>
        <p:nvSpPr>
          <p:cNvPr id="11" name="Text 8"/>
          <p:cNvSpPr/>
          <p:nvPr/>
        </p:nvSpPr>
        <p:spPr>
          <a:xfrm>
            <a:off x="521208"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01</a:t>
            </a:r>
            <a:endParaRPr lang="ko-KR" sz="1000" dirty="0"/>
          </a:p>
        </p:txBody>
      </p:sp>
      <p:sp>
        <p:nvSpPr>
          <p:cNvPr id="12" name="Shape 9"/>
          <p:cNvSpPr/>
          <p:nvPr/>
        </p:nvSpPr>
        <p:spPr>
          <a:xfrm>
            <a:off x="521208" y="2743200"/>
            <a:ext cx="1402951" cy="658368"/>
          </a:xfrm>
          <a:prstGeom prst="rect">
            <a:avLst/>
          </a:prstGeom>
          <a:solidFill>
            <a:srgbClr val="EDF2EF"/>
          </a:solidFill>
          <a:ln w="8255">
            <a:solidFill>
              <a:srgbClr val="EDF2EF"/>
            </a:solidFill>
            <a:prstDash val="solid"/>
          </a:ln>
        </p:spPr>
      </p:sp>
      <p:sp>
        <p:nvSpPr>
          <p:cNvPr id="13" name="Text 10"/>
          <p:cNvSpPr/>
          <p:nvPr/>
        </p:nvSpPr>
        <p:spPr>
          <a:xfrm>
            <a:off x="548640"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DRAFT</a:t>
            </a:r>
            <a:endParaRPr lang="ko-KR" sz="1200" dirty="0"/>
          </a:p>
        </p:txBody>
      </p:sp>
      <p:sp>
        <p:nvSpPr>
          <p:cNvPr id="14" name="Shape 11"/>
          <p:cNvSpPr/>
          <p:nvPr/>
        </p:nvSpPr>
        <p:spPr>
          <a:xfrm>
            <a:off x="1965307" y="2980944"/>
            <a:ext cx="128016" cy="182880"/>
          </a:xfrm>
          <a:prstGeom prst="chevron">
            <a:avLst/>
          </a:prstGeom>
          <a:solidFill>
            <a:srgbClr val="087F73"/>
          </a:solidFill>
          <a:ln w="12700">
            <a:solidFill>
              <a:srgbClr val="087F73">
                <a:alpha val="0"/>
              </a:srgbClr>
            </a:solidFill>
            <a:prstDash val="solid"/>
          </a:ln>
        </p:spPr>
      </p:sp>
      <p:sp>
        <p:nvSpPr>
          <p:cNvPr id="15" name="Text 12"/>
          <p:cNvSpPr/>
          <p:nvPr/>
        </p:nvSpPr>
        <p:spPr>
          <a:xfrm>
            <a:off x="2143615"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02</a:t>
            </a:r>
            <a:endParaRPr lang="ko-KR" sz="1000" dirty="0"/>
          </a:p>
        </p:txBody>
      </p:sp>
      <p:sp>
        <p:nvSpPr>
          <p:cNvPr id="16" name="Shape 13"/>
          <p:cNvSpPr/>
          <p:nvPr/>
        </p:nvSpPr>
        <p:spPr>
          <a:xfrm>
            <a:off x="2143615" y="2743200"/>
            <a:ext cx="1402951" cy="658368"/>
          </a:xfrm>
          <a:prstGeom prst="rect">
            <a:avLst/>
          </a:prstGeom>
          <a:solidFill>
            <a:srgbClr val="EDF2EF"/>
          </a:solidFill>
          <a:ln w="8255">
            <a:solidFill>
              <a:srgbClr val="EDF2EF"/>
            </a:solidFill>
            <a:prstDash val="solid"/>
          </a:ln>
        </p:spPr>
      </p:sp>
      <p:sp>
        <p:nvSpPr>
          <p:cNvPr id="17" name="Text 14"/>
          <p:cNvSpPr/>
          <p:nvPr/>
        </p:nvSpPr>
        <p:spPr>
          <a:xfrm>
            <a:off x="2171047"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DILIGENCE</a:t>
            </a:r>
            <a:endParaRPr lang="ko-KR" sz="1200" dirty="0"/>
          </a:p>
        </p:txBody>
      </p:sp>
      <p:sp>
        <p:nvSpPr>
          <p:cNvPr id="18" name="Shape 15"/>
          <p:cNvSpPr/>
          <p:nvPr/>
        </p:nvSpPr>
        <p:spPr>
          <a:xfrm>
            <a:off x="3587714" y="2980944"/>
            <a:ext cx="128016" cy="182880"/>
          </a:xfrm>
          <a:prstGeom prst="chevron">
            <a:avLst/>
          </a:prstGeom>
          <a:solidFill>
            <a:srgbClr val="087F73"/>
          </a:solidFill>
          <a:ln w="12700">
            <a:solidFill>
              <a:srgbClr val="087F73">
                <a:alpha val="0"/>
              </a:srgbClr>
            </a:solidFill>
            <a:prstDash val="solid"/>
          </a:ln>
        </p:spPr>
      </p:sp>
      <p:sp>
        <p:nvSpPr>
          <p:cNvPr id="19" name="Text 16"/>
          <p:cNvSpPr/>
          <p:nvPr/>
        </p:nvSpPr>
        <p:spPr>
          <a:xfrm>
            <a:off x="3766022"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03</a:t>
            </a:r>
            <a:endParaRPr lang="ko-KR" sz="1000" dirty="0"/>
          </a:p>
        </p:txBody>
      </p:sp>
      <p:sp>
        <p:nvSpPr>
          <p:cNvPr id="20" name="Shape 17"/>
          <p:cNvSpPr/>
          <p:nvPr/>
        </p:nvSpPr>
        <p:spPr>
          <a:xfrm>
            <a:off x="3766022" y="2743200"/>
            <a:ext cx="1402951" cy="658368"/>
          </a:xfrm>
          <a:prstGeom prst="rect">
            <a:avLst/>
          </a:prstGeom>
          <a:solidFill>
            <a:srgbClr val="EDF2EF"/>
          </a:solidFill>
          <a:ln w="8255">
            <a:solidFill>
              <a:srgbClr val="EDF2EF"/>
            </a:solidFill>
            <a:prstDash val="solid"/>
          </a:ln>
        </p:spPr>
      </p:sp>
      <p:sp>
        <p:nvSpPr>
          <p:cNvPr id="21" name="Text 18"/>
          <p:cNvSpPr/>
          <p:nvPr/>
        </p:nvSpPr>
        <p:spPr>
          <a:xfrm>
            <a:off x="3793454"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SECURITY</a:t>
            </a:r>
            <a:endParaRPr lang="ko-KR" sz="1200" dirty="0"/>
          </a:p>
        </p:txBody>
      </p:sp>
      <p:sp>
        <p:nvSpPr>
          <p:cNvPr id="22" name="Shape 19"/>
          <p:cNvSpPr/>
          <p:nvPr/>
        </p:nvSpPr>
        <p:spPr>
          <a:xfrm>
            <a:off x="5210121" y="2980944"/>
            <a:ext cx="128016" cy="182880"/>
          </a:xfrm>
          <a:prstGeom prst="chevron">
            <a:avLst/>
          </a:prstGeom>
          <a:solidFill>
            <a:srgbClr val="087F73"/>
          </a:solidFill>
          <a:ln w="12700">
            <a:solidFill>
              <a:srgbClr val="087F73">
                <a:alpha val="0"/>
              </a:srgbClr>
            </a:solidFill>
            <a:prstDash val="solid"/>
          </a:ln>
        </p:spPr>
      </p:sp>
      <p:sp>
        <p:nvSpPr>
          <p:cNvPr id="23" name="Text 20"/>
          <p:cNvSpPr/>
          <p:nvPr/>
        </p:nvSpPr>
        <p:spPr>
          <a:xfrm>
            <a:off x="5388429"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04</a:t>
            </a:r>
            <a:endParaRPr lang="ko-KR" sz="1000" dirty="0"/>
          </a:p>
        </p:txBody>
      </p:sp>
      <p:sp>
        <p:nvSpPr>
          <p:cNvPr id="24" name="Shape 21"/>
          <p:cNvSpPr/>
          <p:nvPr/>
        </p:nvSpPr>
        <p:spPr>
          <a:xfrm>
            <a:off x="5388429" y="2743200"/>
            <a:ext cx="1402951" cy="658368"/>
          </a:xfrm>
          <a:prstGeom prst="rect">
            <a:avLst/>
          </a:prstGeom>
          <a:solidFill>
            <a:srgbClr val="EDF2EF"/>
          </a:solidFill>
          <a:ln w="8255">
            <a:solidFill>
              <a:srgbClr val="EDF2EF"/>
            </a:solidFill>
            <a:prstDash val="solid"/>
          </a:ln>
        </p:spPr>
      </p:sp>
      <p:sp>
        <p:nvSpPr>
          <p:cNvPr id="25" name="Text 22"/>
          <p:cNvSpPr/>
          <p:nvPr/>
        </p:nvSpPr>
        <p:spPr>
          <a:xfrm>
            <a:off x="5415861"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INITIAL</a:t>
            </a:r>
            <a:endParaRPr lang="ko-KR" sz="1200" dirty="0"/>
          </a:p>
        </p:txBody>
      </p:sp>
      <p:sp>
        <p:nvSpPr>
          <p:cNvPr id="26" name="Shape 23"/>
          <p:cNvSpPr/>
          <p:nvPr/>
        </p:nvSpPr>
        <p:spPr>
          <a:xfrm>
            <a:off x="6832527" y="2980944"/>
            <a:ext cx="128016" cy="182880"/>
          </a:xfrm>
          <a:prstGeom prst="chevron">
            <a:avLst/>
          </a:prstGeom>
          <a:solidFill>
            <a:srgbClr val="087F73"/>
          </a:solidFill>
          <a:ln w="12700">
            <a:solidFill>
              <a:srgbClr val="087F73">
                <a:alpha val="0"/>
              </a:srgbClr>
            </a:solidFill>
            <a:prstDash val="solid"/>
          </a:ln>
        </p:spPr>
      </p:sp>
      <p:sp>
        <p:nvSpPr>
          <p:cNvPr id="27" name="Text 24"/>
          <p:cNvSpPr/>
          <p:nvPr/>
        </p:nvSpPr>
        <p:spPr>
          <a:xfrm>
            <a:off x="7010835"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05</a:t>
            </a:r>
            <a:endParaRPr lang="ko-KR" sz="1000" dirty="0"/>
          </a:p>
        </p:txBody>
      </p:sp>
      <p:sp>
        <p:nvSpPr>
          <p:cNvPr id="28" name="Shape 25"/>
          <p:cNvSpPr/>
          <p:nvPr/>
        </p:nvSpPr>
        <p:spPr>
          <a:xfrm>
            <a:off x="7010835" y="2743200"/>
            <a:ext cx="1402951" cy="658368"/>
          </a:xfrm>
          <a:prstGeom prst="rect">
            <a:avLst/>
          </a:prstGeom>
          <a:solidFill>
            <a:srgbClr val="EDF2EF"/>
          </a:solidFill>
          <a:ln w="8255">
            <a:solidFill>
              <a:srgbClr val="EDF2EF"/>
            </a:solidFill>
            <a:prstDash val="solid"/>
          </a:ln>
        </p:spPr>
      </p:sp>
      <p:sp>
        <p:nvSpPr>
          <p:cNvPr id="29" name="Text 26"/>
          <p:cNvSpPr/>
          <p:nvPr/>
        </p:nvSpPr>
        <p:spPr>
          <a:xfrm>
            <a:off x="7038267"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VENDOR</a:t>
            </a:r>
            <a:endParaRPr lang="ko-KR" sz="1200" dirty="0"/>
          </a:p>
        </p:txBody>
      </p:sp>
      <p:sp>
        <p:nvSpPr>
          <p:cNvPr id="30" name="Shape 27"/>
          <p:cNvSpPr/>
          <p:nvPr/>
        </p:nvSpPr>
        <p:spPr>
          <a:xfrm>
            <a:off x="8454934" y="2980944"/>
            <a:ext cx="128016" cy="182880"/>
          </a:xfrm>
          <a:prstGeom prst="chevron">
            <a:avLst/>
          </a:prstGeom>
          <a:solidFill>
            <a:srgbClr val="087F73"/>
          </a:solidFill>
          <a:ln w="12700">
            <a:solidFill>
              <a:srgbClr val="087F73">
                <a:alpha val="0"/>
              </a:srgbClr>
            </a:solidFill>
            <a:prstDash val="solid"/>
          </a:ln>
        </p:spPr>
      </p:sp>
      <p:sp>
        <p:nvSpPr>
          <p:cNvPr id="31" name="Text 28"/>
          <p:cNvSpPr/>
          <p:nvPr/>
        </p:nvSpPr>
        <p:spPr>
          <a:xfrm>
            <a:off x="8633242"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06</a:t>
            </a:r>
            <a:endParaRPr lang="ko-KR" sz="1000" dirty="0"/>
          </a:p>
        </p:txBody>
      </p:sp>
      <p:sp>
        <p:nvSpPr>
          <p:cNvPr id="32" name="Shape 29"/>
          <p:cNvSpPr/>
          <p:nvPr/>
        </p:nvSpPr>
        <p:spPr>
          <a:xfrm>
            <a:off x="8633242" y="2743200"/>
            <a:ext cx="1402951" cy="658368"/>
          </a:xfrm>
          <a:prstGeom prst="rect">
            <a:avLst/>
          </a:prstGeom>
          <a:solidFill>
            <a:srgbClr val="EDF2EF"/>
          </a:solidFill>
          <a:ln w="8255">
            <a:solidFill>
              <a:srgbClr val="EDF2EF"/>
            </a:solidFill>
            <a:prstDash val="solid"/>
          </a:ln>
        </p:spPr>
      </p:sp>
      <p:sp>
        <p:nvSpPr>
          <p:cNvPr id="33" name="Text 30"/>
          <p:cNvSpPr/>
          <p:nvPr/>
        </p:nvSpPr>
        <p:spPr>
          <a:xfrm>
            <a:off x="8660674"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202B2B"/>
                </a:solidFill>
                <a:latin typeface="Malgun Gothic" pitchFamily="34" charset="0"/>
                <a:ea typeface="Malgun Gothic" pitchFamily="34" charset="-122"/>
                <a:cs typeface="Malgun Gothic" pitchFamily="34" charset="-120"/>
              </a:rPr>
              <a:t>REVIEW</a:t>
            </a:r>
            <a:endParaRPr lang="ko-KR" sz="1200" dirty="0"/>
          </a:p>
        </p:txBody>
      </p:sp>
      <p:sp>
        <p:nvSpPr>
          <p:cNvPr id="34" name="Shape 31"/>
          <p:cNvSpPr/>
          <p:nvPr/>
        </p:nvSpPr>
        <p:spPr>
          <a:xfrm>
            <a:off x="10077341" y="2980944"/>
            <a:ext cx="128016" cy="182880"/>
          </a:xfrm>
          <a:prstGeom prst="chevron">
            <a:avLst/>
          </a:prstGeom>
          <a:solidFill>
            <a:srgbClr val="087F73"/>
          </a:solidFill>
          <a:ln w="12700">
            <a:solidFill>
              <a:srgbClr val="087F73">
                <a:alpha val="0"/>
              </a:srgbClr>
            </a:solidFill>
            <a:prstDash val="solid"/>
          </a:ln>
        </p:spPr>
      </p:sp>
      <p:sp>
        <p:nvSpPr>
          <p:cNvPr id="35" name="Text 32"/>
          <p:cNvSpPr/>
          <p:nvPr/>
        </p:nvSpPr>
        <p:spPr>
          <a:xfrm>
            <a:off x="10255649" y="2441448"/>
            <a:ext cx="1402951"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07</a:t>
            </a:r>
            <a:endParaRPr lang="ko-KR" sz="1000" dirty="0"/>
          </a:p>
        </p:txBody>
      </p:sp>
      <p:sp>
        <p:nvSpPr>
          <p:cNvPr id="36" name="Shape 33"/>
          <p:cNvSpPr/>
          <p:nvPr/>
        </p:nvSpPr>
        <p:spPr>
          <a:xfrm>
            <a:off x="10255649" y="2743200"/>
            <a:ext cx="1402951" cy="658368"/>
          </a:xfrm>
          <a:prstGeom prst="rect">
            <a:avLst/>
          </a:prstGeom>
          <a:solidFill>
            <a:srgbClr val="087F73"/>
          </a:solidFill>
          <a:ln w="8255">
            <a:solidFill>
              <a:srgbClr val="087F73"/>
            </a:solidFill>
            <a:prstDash val="solid"/>
          </a:ln>
        </p:spPr>
      </p:sp>
      <p:sp>
        <p:nvSpPr>
          <p:cNvPr id="37" name="Text 34"/>
          <p:cNvSpPr/>
          <p:nvPr/>
        </p:nvSpPr>
        <p:spPr>
          <a:xfrm>
            <a:off x="10283081" y="2816352"/>
            <a:ext cx="1348087" cy="493776"/>
          </a:xfrm>
          <a:prstGeom prst="rect">
            <a:avLst/>
          </a:prstGeom>
          <a:noFill/>
          <a:ln/>
        </p:spPr>
        <p:txBody>
          <a:bodyPr wrap="square" lIns="0" tIns="0" rIns="0" bIns="0" rtlCol="0" anchor="ctr"/>
          <a:lstStyle/>
          <a:p>
            <a:pPr marL="0" indent="0" algn="ctr">
              <a:buNone/>
            </a:pPr>
            <a:r>
              <a:rPr lang="ko-KR" altLang="en-US" sz="1200" b="1" dirty="0">
                <a:solidFill>
                  <a:srgbClr val="FFFFFF"/>
                </a:solidFill>
                <a:latin typeface="Malgun Gothic" pitchFamily="34" charset="0"/>
                <a:ea typeface="Malgun Gothic" pitchFamily="34" charset="-122"/>
                <a:cs typeface="Malgun Gothic" pitchFamily="34" charset="-120"/>
              </a:rPr>
              <a:t>COMPLETE</a:t>
            </a:r>
            <a:endParaRPr lang="ko-KR" sz="1200" dirty="0"/>
          </a:p>
        </p:txBody>
      </p:sp>
      <p:sp>
        <p:nvSpPr>
          <p:cNvPr id="38" name="Shape 35"/>
          <p:cNvSpPr/>
          <p:nvPr/>
        </p:nvSpPr>
        <p:spPr>
          <a:xfrm>
            <a:off x="521208" y="3913632"/>
            <a:ext cx="45720" cy="1984248"/>
          </a:xfrm>
          <a:prstGeom prst="rect">
            <a:avLst/>
          </a:prstGeom>
          <a:solidFill>
            <a:srgbClr val="087F73"/>
          </a:solidFill>
          <a:ln w="8255">
            <a:solidFill>
              <a:srgbClr val="087F73"/>
            </a:solidFill>
            <a:prstDash val="solid"/>
          </a:ln>
        </p:spPr>
      </p:sp>
      <p:sp>
        <p:nvSpPr>
          <p:cNvPr id="39" name="Text 36"/>
          <p:cNvSpPr/>
          <p:nvPr/>
        </p:nvSpPr>
        <p:spPr>
          <a:xfrm>
            <a:off x="731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담당자별 조회</a:t>
            </a:r>
            <a:endParaRPr lang="ko-KR" sz="2100" dirty="0"/>
          </a:p>
        </p:txBody>
      </p:sp>
      <p:sp>
        <p:nvSpPr>
          <p:cNvPr id="40" name="Text 37"/>
          <p:cNvSpPr/>
          <p:nvPr/>
        </p:nvSpPr>
        <p:spPr>
          <a:xfrm>
            <a:off x="731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InfoSec 권한, 발주 담당자, 공급업체 이메일에 따라 문서 목록 분기</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MYAPP에서 현재 처리 대상 구성</a:t>
            </a:r>
            <a:endParaRPr lang="ko-KR" sz="1600" dirty="0"/>
          </a:p>
        </p:txBody>
      </p:sp>
      <p:sp>
        <p:nvSpPr>
          <p:cNvPr id="41" name="Shape 38"/>
          <p:cNvSpPr/>
          <p:nvPr/>
        </p:nvSpPr>
        <p:spPr>
          <a:xfrm>
            <a:off x="6236208" y="3913632"/>
            <a:ext cx="45720" cy="1984248"/>
          </a:xfrm>
          <a:prstGeom prst="rect">
            <a:avLst/>
          </a:prstGeom>
          <a:solidFill>
            <a:srgbClr val="D95A43"/>
          </a:solidFill>
          <a:ln w="8255">
            <a:solidFill>
              <a:srgbClr val="D95A43"/>
            </a:solidFill>
            <a:prstDash val="solid"/>
          </a:ln>
        </p:spPr>
      </p:sp>
      <p:sp>
        <p:nvSpPr>
          <p:cNvPr id="42" name="Text 39"/>
          <p:cNvSpPr/>
          <p:nvPr/>
        </p:nvSpPr>
        <p:spPr>
          <a:xfrm>
            <a:off x="6446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상태별 알림</a:t>
            </a:r>
            <a:endParaRPr lang="ko-KR" sz="2100" dirty="0"/>
          </a:p>
        </p:txBody>
      </p:sp>
      <p:sp>
        <p:nvSpPr>
          <p:cNvPr id="43" name="Text 40"/>
          <p:cNvSpPr/>
          <p:nvPr/>
        </p:nvSpPr>
        <p:spPr>
          <a:xfrm>
            <a:off x="6446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상태에 맞는 메일 제목·본문 코드를 선택</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VENDOR 단계에서는 별도 접근권한 요청 메일도 호출</a:t>
            </a:r>
            <a:endParaRPr lang="ko-KR"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SCRMCreationScheduler.java  /  MasterService.java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10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정기 작업 | 발주 데이터에서 SCRM 초안 생성</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매일 00·06·12·18시, 처리되지 않은 업체 데이터를 평가 업무로 전환</a:t>
            </a:r>
            <a:endParaRPr lang="ko-KR" sz="1500" dirty="0"/>
          </a:p>
        </p:txBody>
      </p:sp>
      <p:sp>
        <p:nvSpPr>
          <p:cNvPr id="11" name="Text 8"/>
          <p:cNvSpPr/>
          <p:nvPr/>
        </p:nvSpPr>
        <p:spPr>
          <a:xfrm>
            <a:off x="52120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01</a:t>
            </a:r>
            <a:endParaRPr lang="ko-KR" sz="1000" dirty="0"/>
          </a:p>
        </p:txBody>
      </p:sp>
      <p:sp>
        <p:nvSpPr>
          <p:cNvPr id="12" name="Shape 9"/>
          <p:cNvSpPr/>
          <p:nvPr/>
        </p:nvSpPr>
        <p:spPr>
          <a:xfrm>
            <a:off x="521208" y="2743200"/>
            <a:ext cx="2051914" cy="658368"/>
          </a:xfrm>
          <a:prstGeom prst="rect">
            <a:avLst/>
          </a:prstGeom>
          <a:solidFill>
            <a:srgbClr val="EDF2EF"/>
          </a:solidFill>
          <a:ln w="8255">
            <a:solidFill>
              <a:srgbClr val="EDF2EF"/>
            </a:solidFill>
            <a:prstDash val="solid"/>
          </a:ln>
        </p:spPr>
      </p:sp>
      <p:sp>
        <p:nvSpPr>
          <p:cNvPr id="13" name="Text 10"/>
          <p:cNvSpPr/>
          <p:nvPr/>
        </p:nvSpPr>
        <p:spPr>
          <a:xfrm>
            <a:off x="54864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미처리 발주 조회</a:t>
            </a:r>
            <a:endParaRPr lang="ko-KR" sz="1400" dirty="0"/>
          </a:p>
        </p:txBody>
      </p:sp>
      <p:sp>
        <p:nvSpPr>
          <p:cNvPr id="14" name="Shape 11"/>
          <p:cNvSpPr/>
          <p:nvPr/>
        </p:nvSpPr>
        <p:spPr>
          <a:xfrm>
            <a:off x="2614270" y="2980944"/>
            <a:ext cx="128016" cy="182880"/>
          </a:xfrm>
          <a:prstGeom prst="chevron">
            <a:avLst/>
          </a:prstGeom>
          <a:solidFill>
            <a:srgbClr val="087F73"/>
          </a:solidFill>
          <a:ln w="12700">
            <a:solidFill>
              <a:srgbClr val="087F73">
                <a:alpha val="0"/>
              </a:srgbClr>
            </a:solidFill>
            <a:prstDash val="solid"/>
          </a:ln>
        </p:spPr>
      </p:sp>
      <p:sp>
        <p:nvSpPr>
          <p:cNvPr id="15" name="Text 12"/>
          <p:cNvSpPr/>
          <p:nvPr/>
        </p:nvSpPr>
        <p:spPr>
          <a:xfrm>
            <a:off x="279257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02</a:t>
            </a:r>
            <a:endParaRPr lang="ko-KR" sz="1000" dirty="0"/>
          </a:p>
        </p:txBody>
      </p:sp>
      <p:sp>
        <p:nvSpPr>
          <p:cNvPr id="16" name="Shape 13"/>
          <p:cNvSpPr/>
          <p:nvPr/>
        </p:nvSpPr>
        <p:spPr>
          <a:xfrm>
            <a:off x="2792578" y="2743200"/>
            <a:ext cx="2051914" cy="658368"/>
          </a:xfrm>
          <a:prstGeom prst="rect">
            <a:avLst/>
          </a:prstGeom>
          <a:solidFill>
            <a:srgbClr val="EDF2EF"/>
          </a:solidFill>
          <a:ln w="8255">
            <a:solidFill>
              <a:srgbClr val="EDF2EF"/>
            </a:solidFill>
            <a:prstDash val="solid"/>
          </a:ln>
        </p:spPr>
      </p:sp>
      <p:sp>
        <p:nvSpPr>
          <p:cNvPr id="17" name="Text 14"/>
          <p:cNvSpPr/>
          <p:nvPr/>
        </p:nvSpPr>
        <p:spPr>
          <a:xfrm>
            <a:off x="282001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기존 SEC 확인</a:t>
            </a:r>
            <a:endParaRPr lang="ko-KR" sz="1400" dirty="0"/>
          </a:p>
        </p:txBody>
      </p:sp>
      <p:sp>
        <p:nvSpPr>
          <p:cNvPr id="18" name="Shape 15"/>
          <p:cNvSpPr/>
          <p:nvPr/>
        </p:nvSpPr>
        <p:spPr>
          <a:xfrm>
            <a:off x="4885639" y="2980944"/>
            <a:ext cx="128016" cy="182880"/>
          </a:xfrm>
          <a:prstGeom prst="chevron">
            <a:avLst/>
          </a:prstGeom>
          <a:solidFill>
            <a:srgbClr val="087F73"/>
          </a:solidFill>
          <a:ln w="12700">
            <a:solidFill>
              <a:srgbClr val="087F73">
                <a:alpha val="0"/>
              </a:srgbClr>
            </a:solidFill>
            <a:prstDash val="solid"/>
          </a:ln>
        </p:spPr>
      </p:sp>
      <p:sp>
        <p:nvSpPr>
          <p:cNvPr id="19" name="Text 16"/>
          <p:cNvSpPr/>
          <p:nvPr/>
        </p:nvSpPr>
        <p:spPr>
          <a:xfrm>
            <a:off x="506394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03</a:t>
            </a:r>
            <a:endParaRPr lang="ko-KR" sz="1000" dirty="0"/>
          </a:p>
        </p:txBody>
      </p:sp>
      <p:sp>
        <p:nvSpPr>
          <p:cNvPr id="20" name="Shape 17"/>
          <p:cNvSpPr/>
          <p:nvPr/>
        </p:nvSpPr>
        <p:spPr>
          <a:xfrm>
            <a:off x="5063947" y="2743200"/>
            <a:ext cx="2051914" cy="658368"/>
          </a:xfrm>
          <a:prstGeom prst="rect">
            <a:avLst/>
          </a:prstGeom>
          <a:solidFill>
            <a:srgbClr val="EDF2EF"/>
          </a:solidFill>
          <a:ln w="8255">
            <a:solidFill>
              <a:srgbClr val="EDF2EF"/>
            </a:solidFill>
            <a:prstDash val="solid"/>
          </a:ln>
        </p:spPr>
      </p:sp>
      <p:sp>
        <p:nvSpPr>
          <p:cNvPr id="21" name="Text 18"/>
          <p:cNvSpPr/>
          <p:nvPr/>
        </p:nvSpPr>
        <p:spPr>
          <a:xfrm>
            <a:off x="509137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업체 정보 반영</a:t>
            </a:r>
            <a:endParaRPr lang="ko-KR" sz="1400" dirty="0"/>
          </a:p>
        </p:txBody>
      </p:sp>
      <p:sp>
        <p:nvSpPr>
          <p:cNvPr id="22" name="Shape 19"/>
          <p:cNvSpPr/>
          <p:nvPr/>
        </p:nvSpPr>
        <p:spPr>
          <a:xfrm>
            <a:off x="7157009" y="2980944"/>
            <a:ext cx="128016" cy="182880"/>
          </a:xfrm>
          <a:prstGeom prst="chevron">
            <a:avLst/>
          </a:prstGeom>
          <a:solidFill>
            <a:srgbClr val="087F73"/>
          </a:solidFill>
          <a:ln w="12700">
            <a:solidFill>
              <a:srgbClr val="087F73">
                <a:alpha val="0"/>
              </a:srgbClr>
            </a:solidFill>
            <a:prstDash val="solid"/>
          </a:ln>
        </p:spPr>
      </p:sp>
      <p:sp>
        <p:nvSpPr>
          <p:cNvPr id="23" name="Text 20"/>
          <p:cNvSpPr/>
          <p:nvPr/>
        </p:nvSpPr>
        <p:spPr>
          <a:xfrm>
            <a:off x="733531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04</a:t>
            </a:r>
            <a:endParaRPr lang="ko-KR" sz="1000" dirty="0"/>
          </a:p>
        </p:txBody>
      </p:sp>
      <p:sp>
        <p:nvSpPr>
          <p:cNvPr id="24" name="Shape 21"/>
          <p:cNvSpPr/>
          <p:nvPr/>
        </p:nvSpPr>
        <p:spPr>
          <a:xfrm>
            <a:off x="7335317" y="2743200"/>
            <a:ext cx="2051914" cy="658368"/>
          </a:xfrm>
          <a:prstGeom prst="rect">
            <a:avLst/>
          </a:prstGeom>
          <a:solidFill>
            <a:srgbClr val="EDF2EF"/>
          </a:solidFill>
          <a:ln w="8255">
            <a:solidFill>
              <a:srgbClr val="EDF2EF"/>
            </a:solidFill>
            <a:prstDash val="solid"/>
          </a:ln>
        </p:spPr>
      </p:sp>
      <p:sp>
        <p:nvSpPr>
          <p:cNvPr id="25" name="Text 22"/>
          <p:cNvSpPr/>
          <p:nvPr/>
        </p:nvSpPr>
        <p:spPr>
          <a:xfrm>
            <a:off x="736274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SCRM 초안 생성</a:t>
            </a:r>
            <a:endParaRPr lang="ko-KR" sz="1400" dirty="0"/>
          </a:p>
        </p:txBody>
      </p:sp>
      <p:sp>
        <p:nvSpPr>
          <p:cNvPr id="26" name="Shape 23"/>
          <p:cNvSpPr/>
          <p:nvPr/>
        </p:nvSpPr>
        <p:spPr>
          <a:xfrm>
            <a:off x="9428378" y="2980944"/>
            <a:ext cx="128016" cy="182880"/>
          </a:xfrm>
          <a:prstGeom prst="chevron">
            <a:avLst/>
          </a:prstGeom>
          <a:solidFill>
            <a:srgbClr val="087F73"/>
          </a:solidFill>
          <a:ln w="12700">
            <a:solidFill>
              <a:srgbClr val="087F73">
                <a:alpha val="0"/>
              </a:srgbClr>
            </a:solidFill>
            <a:prstDash val="solid"/>
          </a:ln>
        </p:spPr>
      </p:sp>
      <p:sp>
        <p:nvSpPr>
          <p:cNvPr id="27" name="Text 24"/>
          <p:cNvSpPr/>
          <p:nvPr/>
        </p:nvSpPr>
        <p:spPr>
          <a:xfrm>
            <a:off x="9606686"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05</a:t>
            </a:r>
            <a:endParaRPr lang="ko-KR" sz="1000" dirty="0"/>
          </a:p>
        </p:txBody>
      </p:sp>
      <p:sp>
        <p:nvSpPr>
          <p:cNvPr id="28" name="Shape 25"/>
          <p:cNvSpPr/>
          <p:nvPr/>
        </p:nvSpPr>
        <p:spPr>
          <a:xfrm>
            <a:off x="9606686" y="2743200"/>
            <a:ext cx="2051914" cy="658368"/>
          </a:xfrm>
          <a:prstGeom prst="rect">
            <a:avLst/>
          </a:prstGeom>
          <a:solidFill>
            <a:srgbClr val="087F73"/>
          </a:solidFill>
          <a:ln w="8255">
            <a:solidFill>
              <a:srgbClr val="087F73"/>
            </a:solidFill>
            <a:prstDash val="solid"/>
          </a:ln>
        </p:spPr>
      </p:sp>
      <p:sp>
        <p:nvSpPr>
          <p:cNvPr id="29" name="Text 26"/>
          <p:cNvSpPr/>
          <p:nvPr/>
        </p:nvSpPr>
        <p:spPr>
          <a:xfrm>
            <a:off x="9634118"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Malgun Gothic" pitchFamily="34" charset="0"/>
                <a:ea typeface="Malgun Gothic" pitchFamily="34" charset="-122"/>
                <a:cs typeface="Malgun Gothic" pitchFamily="34" charset="-120"/>
              </a:rPr>
              <a:t>RUN 표시</a:t>
            </a:r>
            <a:endParaRPr lang="ko-KR" sz="1400" dirty="0"/>
          </a:p>
        </p:txBody>
      </p:sp>
      <p:sp>
        <p:nvSpPr>
          <p:cNvPr id="30" name="Shape 27"/>
          <p:cNvSpPr/>
          <p:nvPr/>
        </p:nvSpPr>
        <p:spPr>
          <a:xfrm>
            <a:off x="521208" y="3913632"/>
            <a:ext cx="45720" cy="1984248"/>
          </a:xfrm>
          <a:prstGeom prst="rect">
            <a:avLst/>
          </a:prstGeom>
          <a:solidFill>
            <a:srgbClr val="087F73"/>
          </a:solidFill>
          <a:ln w="8255">
            <a:solidFill>
              <a:srgbClr val="087F73"/>
            </a:solidFill>
            <a:prstDash val="solid"/>
          </a:ln>
        </p:spPr>
      </p:sp>
      <p:sp>
        <p:nvSpPr>
          <p:cNvPr id="31" name="Text 28"/>
          <p:cNvSpPr/>
          <p:nvPr/>
        </p:nvSpPr>
        <p:spPr>
          <a:xfrm>
            <a:off x="731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대상과 생성 규칙</a:t>
            </a:r>
            <a:endParaRPr lang="ko-KR" sz="2100" dirty="0"/>
          </a:p>
        </p:txBody>
      </p:sp>
      <p:sp>
        <p:nvSpPr>
          <p:cNvPr id="32" name="Text 29"/>
          <p:cNvSpPr/>
          <p:nvPr/>
        </p:nvSpPr>
        <p:spPr>
          <a:xfrm>
            <a:off x="731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secStatus IS NULL 대상 조회</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최신 SCRM 질문 버전 적용</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SYSTEM 작성자와 DRAFT 상태 저장</a:t>
            </a:r>
            <a:endParaRPr lang="ko-KR" sz="1600" dirty="0"/>
          </a:p>
        </p:txBody>
      </p:sp>
      <p:sp>
        <p:nvSpPr>
          <p:cNvPr id="33" name="Shape 30"/>
          <p:cNvSpPr/>
          <p:nvPr/>
        </p:nvSpPr>
        <p:spPr>
          <a:xfrm>
            <a:off x="6236208" y="3913632"/>
            <a:ext cx="45720" cy="1984248"/>
          </a:xfrm>
          <a:prstGeom prst="rect">
            <a:avLst/>
          </a:prstGeom>
          <a:solidFill>
            <a:srgbClr val="D95A43"/>
          </a:solidFill>
          <a:ln w="8255">
            <a:solidFill>
              <a:srgbClr val="D95A43"/>
            </a:solidFill>
            <a:prstDash val="solid"/>
          </a:ln>
        </p:spPr>
      </p:sp>
      <p:sp>
        <p:nvSpPr>
          <p:cNvPr id="34" name="Text 31"/>
          <p:cNvSpPr/>
          <p:nvPr/>
        </p:nvSpPr>
        <p:spPr>
          <a:xfrm>
            <a:off x="6446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중복 생성을 줄이는 조건</a:t>
            </a:r>
            <a:endParaRPr lang="ko-KR" sz="2100" dirty="0"/>
          </a:p>
        </p:txBody>
      </p:sp>
      <p:sp>
        <p:nvSpPr>
          <p:cNvPr id="35" name="Text 32"/>
          <p:cNvSpPr/>
          <p:nvPr/>
        </p:nvSpPr>
        <p:spPr>
          <a:xfrm>
            <a:off x="6446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기존 업체의 isSEC가 true이면 초안 생성 생략</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완료 건의 secStatus를 RUN으로 변경</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오류 발생 시 업체별 로그 기록</a:t>
            </a:r>
            <a:endParaRPr lang="ko-KR"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SurveyService.java  /  SUPP_SURVEY_HEADER.java  /  SUPP_SURVEY_REQUEST.java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11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Survey | 설문 구조와 대상자 응답을 분리</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하나의 설문을 여러 대상자에게 요청하고 응답을 독립적으로 저장</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설문 정의</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Header → List → Item 구조</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저장 전 부모·자식 참조 연결</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설문 단위로 질문 구조 저장</a:t>
            </a:r>
            <a:endParaRPr lang="ko-KR" sz="165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응답 요청</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대상 이메일마다 Request 생성</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각 Item에 대응하는 빈 Answer 생성</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요청 초기 상태를 DRAFT로 설정</a:t>
            </a:r>
            <a:endParaRPr lang="ko-KR" sz="16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응답 관리</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응답자 이메일로 요청 조회</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요청별 Answer 목록 저장</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설문별 요청 내역 조회</a:t>
            </a:r>
            <a:endParaRPr lang="ko-KR"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SUPP_APRV.java  /  SUPP_FILE_MASTER.java  /  SUPP_SURVEY_HEADER.java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12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데이터 모델 | 업무 문서와 공통 정보를 분리</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업무별 Master와 공통 결재·파일·이력, 설문 관계 모델의 조합</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업무 문서</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SUPP_COM_MASTER</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SUPP_SFC_MASTER</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SUPP_SCRM_MASTER</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업체·평가 문서의 기준 데이터</a:t>
            </a:r>
            <a:endParaRPr lang="ko-KR" sz="165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공통 운영 정보</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SUPP_APRV / SUPP_FILE_MASTER</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SUPP_CHG_HISTORY</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SUPP_TABLE_SCHEMA</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결재·첨부·변경·코드 정보</a:t>
            </a:r>
            <a:endParaRPr lang="ko-KR" sz="16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설문 관계</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HEADER → LIST → ITEM</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HEADER → REQUEST → ANSWER</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ANSWER가 ITEM을 참조</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정의와 응답을 분리한 관계 구조</a:t>
            </a:r>
            <a:endParaRPr lang="ko-KR"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SfcFileService.java  /  FileController.java  /  TableSchemaController.java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13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첨부파일과 기준 코드도 업무 문맥에 맞게</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증빙의 문서 소속과 변경 이력을 관리하고 운영 문구를 데이터로 분리</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파일 관리</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Multipart 업로드와 메타데이터 저장</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docId·docType·module·fileType으로 분류</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UUID·원본명·시각을 조합해 저장명 생성</a:t>
            </a:r>
            <a:endParaRPr lang="ko-KR" sz="160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변경 추적</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첨부 추가·삭제 시 이력 기록 호출</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파일 교체 시 기존 메타데이터 ID 유지</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다운로드 시 경로 정규화·범위 검사</a:t>
            </a:r>
            <a:endParaRPr lang="ko-KR" sz="16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기준 코드</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menu·kind·code 단위 코드 조회</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메일 제목·본문 템플릿을 데이터에서 조회</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관리 화면에서 코드·문구 갱신</a:t>
            </a:r>
            <a:endParaRPr lang="ko-K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ParentCodeController.java  /  SfcMasterService.java  /  build.gradle</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14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SAP 연계 | 포털의 승인 결과를 기준 코드에 연결</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기존 기업 시스템과 SOAP 인터페이스로 연결하는 구현</a:t>
            </a:r>
            <a:endParaRPr lang="ko-KR" sz="1500" dirty="0"/>
          </a:p>
        </p:txBody>
      </p:sp>
      <p:sp>
        <p:nvSpPr>
          <p:cNvPr id="11" name="Text 8"/>
          <p:cNvSpPr/>
          <p:nvPr/>
        </p:nvSpPr>
        <p:spPr>
          <a:xfrm>
            <a:off x="52120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01</a:t>
            </a:r>
            <a:endParaRPr lang="ko-KR" sz="1000" dirty="0"/>
          </a:p>
        </p:txBody>
      </p:sp>
      <p:sp>
        <p:nvSpPr>
          <p:cNvPr id="12" name="Shape 9"/>
          <p:cNvSpPr/>
          <p:nvPr/>
        </p:nvSpPr>
        <p:spPr>
          <a:xfrm>
            <a:off x="521208" y="2743200"/>
            <a:ext cx="2051914" cy="658368"/>
          </a:xfrm>
          <a:prstGeom prst="rect">
            <a:avLst/>
          </a:prstGeom>
          <a:solidFill>
            <a:srgbClr val="EDF2EF"/>
          </a:solidFill>
          <a:ln w="8255">
            <a:solidFill>
              <a:srgbClr val="EDF2EF"/>
            </a:solidFill>
            <a:prstDash val="solid"/>
          </a:ln>
        </p:spPr>
      </p:sp>
      <p:sp>
        <p:nvSpPr>
          <p:cNvPr id="13" name="Text 10"/>
          <p:cNvSpPr/>
          <p:nvPr/>
        </p:nvSpPr>
        <p:spPr>
          <a:xfrm>
            <a:off x="54864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포털 업무 요청</a:t>
            </a:r>
            <a:endParaRPr lang="ko-KR" sz="1400" dirty="0"/>
          </a:p>
        </p:txBody>
      </p:sp>
      <p:sp>
        <p:nvSpPr>
          <p:cNvPr id="14" name="Shape 11"/>
          <p:cNvSpPr/>
          <p:nvPr/>
        </p:nvSpPr>
        <p:spPr>
          <a:xfrm>
            <a:off x="2614270" y="2980944"/>
            <a:ext cx="128016" cy="182880"/>
          </a:xfrm>
          <a:prstGeom prst="chevron">
            <a:avLst/>
          </a:prstGeom>
          <a:solidFill>
            <a:srgbClr val="087F73"/>
          </a:solidFill>
          <a:ln w="12700">
            <a:solidFill>
              <a:srgbClr val="087F73">
                <a:alpha val="0"/>
              </a:srgbClr>
            </a:solidFill>
            <a:prstDash val="solid"/>
          </a:ln>
        </p:spPr>
      </p:sp>
      <p:sp>
        <p:nvSpPr>
          <p:cNvPr id="15" name="Text 12"/>
          <p:cNvSpPr/>
          <p:nvPr/>
        </p:nvSpPr>
        <p:spPr>
          <a:xfrm>
            <a:off x="279257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02</a:t>
            </a:r>
            <a:endParaRPr lang="ko-KR" sz="1000" dirty="0"/>
          </a:p>
        </p:txBody>
      </p:sp>
      <p:sp>
        <p:nvSpPr>
          <p:cNvPr id="16" name="Shape 13"/>
          <p:cNvSpPr/>
          <p:nvPr/>
        </p:nvSpPr>
        <p:spPr>
          <a:xfrm>
            <a:off x="2792578" y="2743200"/>
            <a:ext cx="2051914" cy="658368"/>
          </a:xfrm>
          <a:prstGeom prst="rect">
            <a:avLst/>
          </a:prstGeom>
          <a:solidFill>
            <a:srgbClr val="EDF2EF"/>
          </a:solidFill>
          <a:ln w="8255">
            <a:solidFill>
              <a:srgbClr val="EDF2EF"/>
            </a:solidFill>
            <a:prstDash val="solid"/>
          </a:ln>
        </p:spPr>
      </p:sp>
      <p:sp>
        <p:nvSpPr>
          <p:cNvPr id="17" name="Text 14"/>
          <p:cNvSpPr/>
          <p:nvPr/>
        </p:nvSpPr>
        <p:spPr>
          <a:xfrm>
            <a:off x="282001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SOAP 메시지 구성</a:t>
            </a:r>
            <a:endParaRPr lang="ko-KR" sz="1400" dirty="0"/>
          </a:p>
        </p:txBody>
      </p:sp>
      <p:sp>
        <p:nvSpPr>
          <p:cNvPr id="18" name="Shape 15"/>
          <p:cNvSpPr/>
          <p:nvPr/>
        </p:nvSpPr>
        <p:spPr>
          <a:xfrm>
            <a:off x="4885639" y="2980944"/>
            <a:ext cx="128016" cy="182880"/>
          </a:xfrm>
          <a:prstGeom prst="chevron">
            <a:avLst/>
          </a:prstGeom>
          <a:solidFill>
            <a:srgbClr val="087F73"/>
          </a:solidFill>
          <a:ln w="12700">
            <a:solidFill>
              <a:srgbClr val="087F73">
                <a:alpha val="0"/>
              </a:srgbClr>
            </a:solidFill>
            <a:prstDash val="solid"/>
          </a:ln>
        </p:spPr>
      </p:sp>
      <p:sp>
        <p:nvSpPr>
          <p:cNvPr id="19" name="Text 16"/>
          <p:cNvSpPr/>
          <p:nvPr/>
        </p:nvSpPr>
        <p:spPr>
          <a:xfrm>
            <a:off x="506394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03</a:t>
            </a:r>
            <a:endParaRPr lang="ko-KR" sz="1000" dirty="0"/>
          </a:p>
        </p:txBody>
      </p:sp>
      <p:sp>
        <p:nvSpPr>
          <p:cNvPr id="20" name="Shape 17"/>
          <p:cNvSpPr/>
          <p:nvPr/>
        </p:nvSpPr>
        <p:spPr>
          <a:xfrm>
            <a:off x="5063947" y="2743200"/>
            <a:ext cx="2051914" cy="658368"/>
          </a:xfrm>
          <a:prstGeom prst="rect">
            <a:avLst/>
          </a:prstGeom>
          <a:solidFill>
            <a:srgbClr val="EDF2EF"/>
          </a:solidFill>
          <a:ln w="8255">
            <a:solidFill>
              <a:srgbClr val="EDF2EF"/>
            </a:solidFill>
            <a:prstDash val="solid"/>
          </a:ln>
        </p:spPr>
      </p:sp>
      <p:sp>
        <p:nvSpPr>
          <p:cNvPr id="21" name="Text 18"/>
          <p:cNvSpPr/>
          <p:nvPr/>
        </p:nvSpPr>
        <p:spPr>
          <a:xfrm>
            <a:off x="509137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SAP 호출</a:t>
            </a:r>
            <a:endParaRPr lang="ko-KR" sz="1400" dirty="0"/>
          </a:p>
        </p:txBody>
      </p:sp>
      <p:sp>
        <p:nvSpPr>
          <p:cNvPr id="22" name="Shape 19"/>
          <p:cNvSpPr/>
          <p:nvPr/>
        </p:nvSpPr>
        <p:spPr>
          <a:xfrm>
            <a:off x="7157009" y="2980944"/>
            <a:ext cx="128016" cy="182880"/>
          </a:xfrm>
          <a:prstGeom prst="chevron">
            <a:avLst/>
          </a:prstGeom>
          <a:solidFill>
            <a:srgbClr val="087F73"/>
          </a:solidFill>
          <a:ln w="12700">
            <a:solidFill>
              <a:srgbClr val="087F73">
                <a:alpha val="0"/>
              </a:srgbClr>
            </a:solidFill>
            <a:prstDash val="solid"/>
          </a:ln>
        </p:spPr>
      </p:sp>
      <p:sp>
        <p:nvSpPr>
          <p:cNvPr id="23" name="Text 20"/>
          <p:cNvSpPr/>
          <p:nvPr/>
        </p:nvSpPr>
        <p:spPr>
          <a:xfrm>
            <a:off x="733531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04</a:t>
            </a:r>
            <a:endParaRPr lang="ko-KR" sz="1000" dirty="0"/>
          </a:p>
        </p:txBody>
      </p:sp>
      <p:sp>
        <p:nvSpPr>
          <p:cNvPr id="24" name="Shape 21"/>
          <p:cNvSpPr/>
          <p:nvPr/>
        </p:nvSpPr>
        <p:spPr>
          <a:xfrm>
            <a:off x="7335317" y="2743200"/>
            <a:ext cx="2051914" cy="658368"/>
          </a:xfrm>
          <a:prstGeom prst="rect">
            <a:avLst/>
          </a:prstGeom>
          <a:solidFill>
            <a:srgbClr val="EDF2EF"/>
          </a:solidFill>
          <a:ln w="8255">
            <a:solidFill>
              <a:srgbClr val="EDF2EF"/>
            </a:solidFill>
            <a:prstDash val="solid"/>
          </a:ln>
        </p:spPr>
      </p:sp>
      <p:sp>
        <p:nvSpPr>
          <p:cNvPr id="25" name="Text 22"/>
          <p:cNvSpPr/>
          <p:nvPr/>
        </p:nvSpPr>
        <p:spPr>
          <a:xfrm>
            <a:off x="736274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응답 처리</a:t>
            </a:r>
            <a:endParaRPr lang="ko-KR" sz="1400" dirty="0"/>
          </a:p>
        </p:txBody>
      </p:sp>
      <p:sp>
        <p:nvSpPr>
          <p:cNvPr id="26" name="Shape 23"/>
          <p:cNvSpPr/>
          <p:nvPr/>
        </p:nvSpPr>
        <p:spPr>
          <a:xfrm>
            <a:off x="9428378" y="2980944"/>
            <a:ext cx="128016" cy="182880"/>
          </a:xfrm>
          <a:prstGeom prst="chevron">
            <a:avLst/>
          </a:prstGeom>
          <a:solidFill>
            <a:srgbClr val="087F73"/>
          </a:solidFill>
          <a:ln w="12700">
            <a:solidFill>
              <a:srgbClr val="087F73">
                <a:alpha val="0"/>
              </a:srgbClr>
            </a:solidFill>
            <a:prstDash val="solid"/>
          </a:ln>
        </p:spPr>
      </p:sp>
      <p:sp>
        <p:nvSpPr>
          <p:cNvPr id="27" name="Text 24"/>
          <p:cNvSpPr/>
          <p:nvPr/>
        </p:nvSpPr>
        <p:spPr>
          <a:xfrm>
            <a:off x="9606686"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05</a:t>
            </a:r>
            <a:endParaRPr lang="ko-KR" sz="1000" dirty="0"/>
          </a:p>
        </p:txBody>
      </p:sp>
      <p:sp>
        <p:nvSpPr>
          <p:cNvPr id="28" name="Shape 25"/>
          <p:cNvSpPr/>
          <p:nvPr/>
        </p:nvSpPr>
        <p:spPr>
          <a:xfrm>
            <a:off x="9606686" y="2743200"/>
            <a:ext cx="2051914" cy="658368"/>
          </a:xfrm>
          <a:prstGeom prst="rect">
            <a:avLst/>
          </a:prstGeom>
          <a:solidFill>
            <a:srgbClr val="087F73"/>
          </a:solidFill>
          <a:ln w="8255">
            <a:solidFill>
              <a:srgbClr val="087F73"/>
            </a:solidFill>
            <a:prstDash val="solid"/>
          </a:ln>
        </p:spPr>
      </p:sp>
      <p:sp>
        <p:nvSpPr>
          <p:cNvPr id="29" name="Text 26"/>
          <p:cNvSpPr/>
          <p:nvPr/>
        </p:nvSpPr>
        <p:spPr>
          <a:xfrm>
            <a:off x="9634118"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Malgun Gothic" pitchFamily="34" charset="0"/>
                <a:ea typeface="Malgun Gothic" pitchFamily="34" charset="-122"/>
                <a:cs typeface="Malgun Gothic" pitchFamily="34" charset="-120"/>
              </a:rPr>
              <a:t>코드 반영</a:t>
            </a:r>
            <a:endParaRPr lang="ko-KR" sz="1400" dirty="0"/>
          </a:p>
        </p:txBody>
      </p:sp>
      <p:sp>
        <p:nvSpPr>
          <p:cNvPr id="30" name="Shape 27"/>
          <p:cNvSpPr/>
          <p:nvPr/>
        </p:nvSpPr>
        <p:spPr>
          <a:xfrm>
            <a:off x="521208" y="3913632"/>
            <a:ext cx="45720" cy="1984248"/>
          </a:xfrm>
          <a:prstGeom prst="rect">
            <a:avLst/>
          </a:prstGeom>
          <a:solidFill>
            <a:srgbClr val="087F73"/>
          </a:solidFill>
          <a:ln w="8255">
            <a:solidFill>
              <a:srgbClr val="087F73"/>
            </a:solidFill>
            <a:prstDash val="solid"/>
          </a:ln>
        </p:spPr>
      </p:sp>
      <p:sp>
        <p:nvSpPr>
          <p:cNvPr id="31" name="Text 28"/>
          <p:cNvSpPr/>
          <p:nvPr/>
        </p:nvSpPr>
        <p:spPr>
          <a:xfrm>
            <a:off x="731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연계 범위</a:t>
            </a:r>
            <a:endParaRPr lang="ko-KR" sz="2100" dirty="0"/>
          </a:p>
        </p:txBody>
      </p:sp>
      <p:sp>
        <p:nvSpPr>
          <p:cNvPr id="32" name="Text 29"/>
          <p:cNvSpPr/>
          <p:nvPr/>
        </p:nvSpPr>
        <p:spPr>
          <a:xfrm>
            <a:off x="731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상위 업체 코드 생성·명칭 조회</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상위 코드 및 업체 상태 변경</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SFC 완료 시 코드 발급 호출</a:t>
            </a:r>
            <a:endParaRPr lang="ko-KR" sz="1600" dirty="0"/>
          </a:p>
        </p:txBody>
      </p:sp>
      <p:sp>
        <p:nvSpPr>
          <p:cNvPr id="33" name="Shape 30"/>
          <p:cNvSpPr/>
          <p:nvPr/>
        </p:nvSpPr>
        <p:spPr>
          <a:xfrm>
            <a:off x="6236208" y="3913632"/>
            <a:ext cx="45720" cy="1984248"/>
          </a:xfrm>
          <a:prstGeom prst="rect">
            <a:avLst/>
          </a:prstGeom>
          <a:solidFill>
            <a:srgbClr val="D95A43"/>
          </a:solidFill>
          <a:ln w="8255">
            <a:solidFill>
              <a:srgbClr val="D95A43"/>
            </a:solidFill>
            <a:prstDash val="solid"/>
          </a:ln>
        </p:spPr>
      </p:sp>
      <p:sp>
        <p:nvSpPr>
          <p:cNvPr id="34" name="Text 31"/>
          <p:cNvSpPr/>
          <p:nvPr/>
        </p:nvSpPr>
        <p:spPr>
          <a:xfrm>
            <a:off x="6446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구현 방식</a:t>
            </a:r>
            <a:endParaRPr lang="ko-KR" sz="2100" dirty="0"/>
          </a:p>
        </p:txBody>
      </p:sp>
      <p:sp>
        <p:nvSpPr>
          <p:cNvPr id="35" name="Text 32"/>
          <p:cNvSpPr/>
          <p:nvPr/>
        </p:nvSpPr>
        <p:spPr>
          <a:xfrm>
            <a:off x="6446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Jakarta SOAP / SAAJ 사용</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환경별 endpoint 설정 선택</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SOAPAction과 업무 파라미터 구성</a:t>
            </a:r>
            <a:endParaRPr lang="ko-KR"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EffwRepository.java  /  EffwService.java  /  EffwController.java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15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EFFW | 출하 데이터를 연계용 레코드로 변환</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출하일로 조회한 데이터를 포워더 연계 형식으로 가공</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조회</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shipDate를 정수로 변환해 조회</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REQUIRES_NEW 읽기 전용 트랜잭션</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JPA 캐시 retrieve/store BYPASS 힌트</a:t>
            </a:r>
            <a:endParaRPr lang="ko-KR" sz="160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변환</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550" dirty="0">
                <a:solidFill>
                  <a:srgbClr val="202B2B"/>
                </a:solidFill>
                <a:latin typeface="Malgun Gothic" pitchFamily="34" charset="0"/>
                <a:ea typeface="Malgun Gothic" pitchFamily="34" charset="-122"/>
                <a:cs typeface="Malgun Gothic" pitchFamily="34" charset="-120"/>
              </a:rPr>
              <a:t>Entity → DTO 변환</a:t>
            </a:r>
            <a:endParaRPr lang="ko-KR" sz="1550" dirty="0"/>
          </a:p>
          <a:p>
            <a:pPr marL="0" indent="0">
              <a:buNone/>
            </a:pPr>
            <a:r>
              <a:rPr lang="ko-KR" altLang="en-US" sz="1550" dirty="0">
                <a:solidFill>
                  <a:srgbClr val="202B2B"/>
                </a:solidFill>
                <a:latin typeface="Malgun Gothic" pitchFamily="34" charset="0"/>
                <a:ea typeface="Malgun Gothic" pitchFamily="34" charset="-122"/>
                <a:cs typeface="Malgun Gothic" pitchFamily="34" charset="-120"/>
              </a:rPr>
              <a:t>일부 빈 문자열을 문자열 null로 치환</a:t>
            </a:r>
            <a:endParaRPr lang="ko-KR" sz="1550" dirty="0"/>
          </a:p>
          <a:p>
            <a:pPr marL="0" indent="0">
              <a:buNone/>
            </a:pPr>
            <a:r>
              <a:rPr lang="ko-KR" altLang="en-US" sz="1550" dirty="0">
                <a:solidFill>
                  <a:srgbClr val="202B2B"/>
                </a:solidFill>
                <a:latin typeface="Malgun Gothic" pitchFamily="34" charset="0"/>
                <a:ea typeface="Malgun Gothic" pitchFamily="34" charset="-122"/>
                <a:cs typeface="Malgun Gothic" pitchFamily="34" charset="-120"/>
              </a:rPr>
              <a:t>출하일·고객·송장·중량 등 12개 필드를 콜론으로 연결</a:t>
            </a:r>
            <a:endParaRPr lang="ko-KR" sz="15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구현 의도</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요청별 별도 트랜잭션 경계 사용</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캐시 사용을 피하는 조회 의도</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외부 시스템이 소비할 레코드 목록 반환</a:t>
            </a:r>
            <a:endParaRPr lang="ko-KR"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CSPNonceFilter.java  /  index.js  /  FileController.java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16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보안 구현 | 브라우저 정책과 파일 경계 검증</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실제로 확인한 방어 로직과 추가 검증이 필요한 인증 영역을 구분</a:t>
            </a:r>
            <a:endParaRPr lang="ko-KR" sz="1500" dirty="0"/>
          </a:p>
        </p:txBody>
      </p:sp>
      <p:sp>
        <p:nvSpPr>
          <p:cNvPr id="11" name="Text 8"/>
          <p:cNvSpPr/>
          <p:nvPr/>
        </p:nvSpPr>
        <p:spPr>
          <a:xfrm>
            <a:off x="521208"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01</a:t>
            </a:r>
            <a:endParaRPr lang="ko-KR" sz="3300" dirty="0"/>
          </a:p>
        </p:txBody>
      </p:sp>
      <p:sp>
        <p:nvSpPr>
          <p:cNvPr id="12" name="Shape 9"/>
          <p:cNvSpPr/>
          <p:nvPr/>
        </p:nvSpPr>
        <p:spPr>
          <a:xfrm>
            <a:off x="521208" y="3273552"/>
            <a:ext cx="3438144" cy="0"/>
          </a:xfrm>
          <a:prstGeom prst="line">
            <a:avLst/>
          </a:prstGeom>
          <a:noFill/>
          <a:ln w="12700">
            <a:solidFill>
              <a:srgbClr val="D7E1DD"/>
            </a:solidFill>
            <a:prstDash val="solid"/>
          </a:ln>
        </p:spPr>
      </p:sp>
      <p:sp>
        <p:nvSpPr>
          <p:cNvPr id="13" name="Text 10"/>
          <p:cNvSpPr/>
          <p:nvPr/>
        </p:nvSpPr>
        <p:spPr>
          <a:xfrm>
            <a:off x="521208"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CSP와 nonce</a:t>
            </a:r>
            <a:endParaRPr lang="ko-KR" sz="2000" dirty="0"/>
          </a:p>
        </p:txBody>
      </p:sp>
      <p:sp>
        <p:nvSpPr>
          <p:cNvPr id="14" name="Text 11"/>
          <p:cNvSpPr/>
          <p:nvPr/>
        </p:nvSpPr>
        <p:spPr>
          <a:xfrm>
            <a:off x="521208"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SecureRandom 기반 요청별 nonce 생성</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HTML의 nonce placeholder 치환</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Emotion CacheProvider에 nonce 전달</a:t>
            </a:r>
            <a:endParaRPr lang="ko-KR" sz="1650" dirty="0"/>
          </a:p>
        </p:txBody>
      </p:sp>
      <p:sp>
        <p:nvSpPr>
          <p:cNvPr id="15" name="Text 12"/>
          <p:cNvSpPr/>
          <p:nvPr/>
        </p:nvSpPr>
        <p:spPr>
          <a:xfrm>
            <a:off x="4370832" y="2578608"/>
            <a:ext cx="3438144" cy="512064"/>
          </a:xfrm>
          <a:prstGeom prst="rect">
            <a:avLst/>
          </a:prstGeom>
          <a:noFill/>
          <a:ln/>
        </p:spPr>
        <p:txBody>
          <a:bodyPr wrap="square" lIns="0" tIns="0" rIns="0" bIns="0" rtlCol="0" anchor="ctr"/>
          <a:lstStyle/>
          <a:p>
            <a:pPr marL="0" indent="0">
              <a:buNone/>
            </a:pPr>
            <a:r>
              <a:rPr lang="ko-KR" altLang="en-US" sz="3300" dirty="0">
                <a:solidFill>
                  <a:srgbClr val="D95A43"/>
                </a:solidFill>
                <a:latin typeface="Bahnschrift" pitchFamily="34" charset="0"/>
                <a:ea typeface="Bahnschrift" pitchFamily="34" charset="-122"/>
                <a:cs typeface="Bahnschrift" pitchFamily="34" charset="-120"/>
              </a:rPr>
              <a:t>02</a:t>
            </a:r>
            <a:endParaRPr lang="ko-KR" sz="3300" dirty="0"/>
          </a:p>
        </p:txBody>
      </p:sp>
      <p:sp>
        <p:nvSpPr>
          <p:cNvPr id="16" name="Shape 13"/>
          <p:cNvSpPr/>
          <p:nvPr/>
        </p:nvSpPr>
        <p:spPr>
          <a:xfrm>
            <a:off x="4370832" y="3273552"/>
            <a:ext cx="3438144" cy="0"/>
          </a:xfrm>
          <a:prstGeom prst="line">
            <a:avLst/>
          </a:prstGeom>
          <a:noFill/>
          <a:ln w="12700">
            <a:solidFill>
              <a:srgbClr val="D7E1DD"/>
            </a:solidFill>
            <a:prstDash val="solid"/>
          </a:ln>
        </p:spPr>
      </p:sp>
      <p:sp>
        <p:nvSpPr>
          <p:cNvPr id="17" name="Text 14"/>
          <p:cNvSpPr/>
          <p:nvPr/>
        </p:nvSpPr>
        <p:spPr>
          <a:xfrm>
            <a:off x="4370832"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응답·파일 보호</a:t>
            </a:r>
            <a:endParaRPr lang="ko-KR" sz="2000" dirty="0"/>
          </a:p>
        </p:txBody>
      </p:sp>
      <p:sp>
        <p:nvSpPr>
          <p:cNvPr id="18" name="Text 15"/>
          <p:cNvSpPr/>
          <p:nvPr/>
        </p:nvSpPr>
        <p:spPr>
          <a:xfrm>
            <a:off x="4370832"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frame-ancestors / object-src 제한</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nosniff 및 Referrer-Policy 설정</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다운로드 대상이 기준 경로 안인지 검사</a:t>
            </a:r>
            <a:endParaRPr lang="ko-KR" sz="1650" dirty="0"/>
          </a:p>
        </p:txBody>
      </p:sp>
      <p:sp>
        <p:nvSpPr>
          <p:cNvPr id="19" name="Text 16"/>
          <p:cNvSpPr/>
          <p:nvPr/>
        </p:nvSpPr>
        <p:spPr>
          <a:xfrm>
            <a:off x="8220456" y="2578608"/>
            <a:ext cx="3438144" cy="512064"/>
          </a:xfrm>
          <a:prstGeom prst="rect">
            <a:avLst/>
          </a:prstGeom>
          <a:noFill/>
          <a:ln/>
        </p:spPr>
        <p:txBody>
          <a:bodyPr wrap="square" lIns="0" tIns="0" rIns="0" bIns="0" rtlCol="0" anchor="ctr"/>
          <a:lstStyle/>
          <a:p>
            <a:pPr marL="0" indent="0">
              <a:buNone/>
            </a:pPr>
            <a:r>
              <a:rPr lang="ko-KR" altLang="en-US" sz="3300" dirty="0">
                <a:solidFill>
                  <a:srgbClr val="087F73"/>
                </a:solidFill>
                <a:latin typeface="Bahnschrift" pitchFamily="34" charset="0"/>
                <a:ea typeface="Bahnschrift" pitchFamily="34" charset="-122"/>
                <a:cs typeface="Bahnschrift" pitchFamily="34" charset="-120"/>
              </a:rPr>
              <a:t>03</a:t>
            </a:r>
            <a:endParaRPr lang="ko-KR" sz="3300" dirty="0"/>
          </a:p>
        </p:txBody>
      </p:sp>
      <p:sp>
        <p:nvSpPr>
          <p:cNvPr id="20" name="Shape 17"/>
          <p:cNvSpPr/>
          <p:nvPr/>
        </p:nvSpPr>
        <p:spPr>
          <a:xfrm>
            <a:off x="8220456" y="3273552"/>
            <a:ext cx="3438144" cy="0"/>
          </a:xfrm>
          <a:prstGeom prst="line">
            <a:avLst/>
          </a:prstGeom>
          <a:noFill/>
          <a:ln w="12700">
            <a:solidFill>
              <a:srgbClr val="D7E1DD"/>
            </a:solidFill>
            <a:prstDash val="solid"/>
          </a:ln>
        </p:spPr>
      </p:sp>
      <p:sp>
        <p:nvSpPr>
          <p:cNvPr id="21" name="Text 18"/>
          <p:cNvSpPr/>
          <p:nvPr/>
        </p:nvSpPr>
        <p:spPr>
          <a:xfrm>
            <a:off x="8220456" y="3456432"/>
            <a:ext cx="3438144" cy="621792"/>
          </a:xfrm>
          <a:prstGeom prst="rect">
            <a:avLst/>
          </a:prstGeom>
          <a:noFill/>
          <a:ln/>
        </p:spPr>
        <p:txBody>
          <a:bodyPr wrap="square" lIns="0" tIns="0" rIns="0" bIns="0" rtlCol="0" anchor="t"/>
          <a:lstStyle/>
          <a:p>
            <a:pPr marL="0" indent="0">
              <a:buNone/>
            </a:pPr>
            <a:r>
              <a:rPr lang="ko-KR" altLang="en-US" sz="2000" b="1" dirty="0">
                <a:solidFill>
                  <a:srgbClr val="202B2B"/>
                </a:solidFill>
                <a:latin typeface="Malgun Gothic" pitchFamily="34" charset="0"/>
                <a:ea typeface="Malgun Gothic" pitchFamily="34" charset="-122"/>
                <a:cs typeface="Malgun Gothic" pitchFamily="34" charset="-120"/>
              </a:rPr>
              <a:t>추가 검증 영역</a:t>
            </a:r>
            <a:endParaRPr lang="ko-KR" sz="2000" dirty="0"/>
          </a:p>
        </p:txBody>
      </p:sp>
      <p:sp>
        <p:nvSpPr>
          <p:cNvPr id="22" name="Text 19"/>
          <p:cNvSpPr/>
          <p:nvPr/>
        </p:nvSpPr>
        <p:spPr>
          <a:xfrm>
            <a:off x="8220456" y="4270248"/>
            <a:ext cx="3438144" cy="1728216"/>
          </a:xfrm>
          <a:prstGeom prst="rect">
            <a:avLst/>
          </a:prstGeom>
          <a:noFill/>
          <a:ln/>
        </p:spPr>
        <p:txBody>
          <a:bodyPr wrap="square" lIns="0" tIns="0" rIns="0" bIns="0" rtlCol="0" anchor="t"/>
          <a:lstStyle/>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UI 권한 분기는 서버 인가와 별개</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로그인·세션의 서버 검증 강화</a:t>
            </a:r>
            <a:endParaRPr lang="ko-KR" sz="1650" dirty="0"/>
          </a:p>
          <a:p>
            <a:pPr marL="0" indent="0">
              <a:buNone/>
            </a:pPr>
            <a:r>
              <a:rPr lang="ko-KR" altLang="en-US" sz="1650" dirty="0">
                <a:solidFill>
                  <a:srgbClr val="202B2B"/>
                </a:solidFill>
                <a:latin typeface="Malgun Gothic" pitchFamily="34" charset="0"/>
                <a:ea typeface="Malgun Gothic" pitchFamily="34" charset="-122"/>
                <a:cs typeface="Malgun Gothic" pitchFamily="34" charset="-120"/>
              </a:rPr>
              <a:t>연계 키 외부화 및 문서별 권한 점검</a:t>
            </a:r>
            <a:endParaRPr lang="ko-KR"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develop_ci_npm_gradle.yml  /  main_ci_cd_npm_gradle.yml  /  codeql.yml</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17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CI/CD | 브랜치 이벤트에서 빌드·전달까지</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GitHub Actions 재사용 워크플로를 호출하는 빌드·배포 구성</a:t>
            </a:r>
            <a:endParaRPr lang="ko-KR" sz="1500" dirty="0"/>
          </a:p>
        </p:txBody>
      </p:sp>
      <p:sp>
        <p:nvSpPr>
          <p:cNvPr id="11" name="Text 8"/>
          <p:cNvSpPr/>
          <p:nvPr/>
        </p:nvSpPr>
        <p:spPr>
          <a:xfrm>
            <a:off x="52120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01</a:t>
            </a:r>
            <a:endParaRPr lang="ko-KR" sz="1000" dirty="0"/>
          </a:p>
        </p:txBody>
      </p:sp>
      <p:sp>
        <p:nvSpPr>
          <p:cNvPr id="12" name="Shape 9"/>
          <p:cNvSpPr/>
          <p:nvPr/>
        </p:nvSpPr>
        <p:spPr>
          <a:xfrm>
            <a:off x="521208" y="2743200"/>
            <a:ext cx="2051914" cy="658368"/>
          </a:xfrm>
          <a:prstGeom prst="rect">
            <a:avLst/>
          </a:prstGeom>
          <a:solidFill>
            <a:srgbClr val="EDF2EF"/>
          </a:solidFill>
          <a:ln w="8255">
            <a:solidFill>
              <a:srgbClr val="EDF2EF"/>
            </a:solidFill>
            <a:prstDash val="solid"/>
          </a:ln>
        </p:spPr>
      </p:sp>
      <p:sp>
        <p:nvSpPr>
          <p:cNvPr id="13" name="Text 10"/>
          <p:cNvSpPr/>
          <p:nvPr/>
        </p:nvSpPr>
        <p:spPr>
          <a:xfrm>
            <a:off x="54864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PR 이벤트</a:t>
            </a:r>
            <a:endParaRPr lang="ko-KR" sz="1400" dirty="0"/>
          </a:p>
        </p:txBody>
      </p:sp>
      <p:sp>
        <p:nvSpPr>
          <p:cNvPr id="14" name="Shape 11"/>
          <p:cNvSpPr/>
          <p:nvPr/>
        </p:nvSpPr>
        <p:spPr>
          <a:xfrm>
            <a:off x="2614270" y="2980944"/>
            <a:ext cx="128016" cy="182880"/>
          </a:xfrm>
          <a:prstGeom prst="chevron">
            <a:avLst/>
          </a:prstGeom>
          <a:solidFill>
            <a:srgbClr val="087F73"/>
          </a:solidFill>
          <a:ln w="12700">
            <a:solidFill>
              <a:srgbClr val="087F73">
                <a:alpha val="0"/>
              </a:srgbClr>
            </a:solidFill>
            <a:prstDash val="solid"/>
          </a:ln>
        </p:spPr>
      </p:sp>
      <p:sp>
        <p:nvSpPr>
          <p:cNvPr id="15" name="Text 12"/>
          <p:cNvSpPr/>
          <p:nvPr/>
        </p:nvSpPr>
        <p:spPr>
          <a:xfrm>
            <a:off x="2792578"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02</a:t>
            </a:r>
            <a:endParaRPr lang="ko-KR" sz="1000" dirty="0"/>
          </a:p>
        </p:txBody>
      </p:sp>
      <p:sp>
        <p:nvSpPr>
          <p:cNvPr id="16" name="Shape 13"/>
          <p:cNvSpPr/>
          <p:nvPr/>
        </p:nvSpPr>
        <p:spPr>
          <a:xfrm>
            <a:off x="2792578" y="2743200"/>
            <a:ext cx="2051914" cy="658368"/>
          </a:xfrm>
          <a:prstGeom prst="rect">
            <a:avLst/>
          </a:prstGeom>
          <a:solidFill>
            <a:srgbClr val="EDF2EF"/>
          </a:solidFill>
          <a:ln w="8255">
            <a:solidFill>
              <a:srgbClr val="EDF2EF"/>
            </a:solidFill>
            <a:prstDash val="solid"/>
          </a:ln>
        </p:spPr>
      </p:sp>
      <p:sp>
        <p:nvSpPr>
          <p:cNvPr id="17" name="Text 14"/>
          <p:cNvSpPr/>
          <p:nvPr/>
        </p:nvSpPr>
        <p:spPr>
          <a:xfrm>
            <a:off x="2820010"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React 빌드</a:t>
            </a:r>
            <a:endParaRPr lang="ko-KR" sz="1400" dirty="0"/>
          </a:p>
        </p:txBody>
      </p:sp>
      <p:sp>
        <p:nvSpPr>
          <p:cNvPr id="18" name="Shape 15"/>
          <p:cNvSpPr/>
          <p:nvPr/>
        </p:nvSpPr>
        <p:spPr>
          <a:xfrm>
            <a:off x="4885639" y="2980944"/>
            <a:ext cx="128016" cy="182880"/>
          </a:xfrm>
          <a:prstGeom prst="chevron">
            <a:avLst/>
          </a:prstGeom>
          <a:solidFill>
            <a:srgbClr val="087F73"/>
          </a:solidFill>
          <a:ln w="12700">
            <a:solidFill>
              <a:srgbClr val="087F73">
                <a:alpha val="0"/>
              </a:srgbClr>
            </a:solidFill>
            <a:prstDash val="solid"/>
          </a:ln>
        </p:spPr>
      </p:sp>
      <p:sp>
        <p:nvSpPr>
          <p:cNvPr id="19" name="Text 16"/>
          <p:cNvSpPr/>
          <p:nvPr/>
        </p:nvSpPr>
        <p:spPr>
          <a:xfrm>
            <a:off x="506394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03</a:t>
            </a:r>
            <a:endParaRPr lang="ko-KR" sz="1000" dirty="0"/>
          </a:p>
        </p:txBody>
      </p:sp>
      <p:sp>
        <p:nvSpPr>
          <p:cNvPr id="20" name="Shape 17"/>
          <p:cNvSpPr/>
          <p:nvPr/>
        </p:nvSpPr>
        <p:spPr>
          <a:xfrm>
            <a:off x="5063947" y="2743200"/>
            <a:ext cx="2051914" cy="658368"/>
          </a:xfrm>
          <a:prstGeom prst="rect">
            <a:avLst/>
          </a:prstGeom>
          <a:solidFill>
            <a:srgbClr val="EDF2EF"/>
          </a:solidFill>
          <a:ln w="8255">
            <a:solidFill>
              <a:srgbClr val="EDF2EF"/>
            </a:solidFill>
            <a:prstDash val="solid"/>
          </a:ln>
        </p:spPr>
      </p:sp>
      <p:sp>
        <p:nvSpPr>
          <p:cNvPr id="21" name="Text 18"/>
          <p:cNvSpPr/>
          <p:nvPr/>
        </p:nvSpPr>
        <p:spPr>
          <a:xfrm>
            <a:off x="509137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정적 리소스 통합</a:t>
            </a:r>
            <a:endParaRPr lang="ko-KR" sz="1400" dirty="0"/>
          </a:p>
        </p:txBody>
      </p:sp>
      <p:sp>
        <p:nvSpPr>
          <p:cNvPr id="22" name="Shape 19"/>
          <p:cNvSpPr/>
          <p:nvPr/>
        </p:nvSpPr>
        <p:spPr>
          <a:xfrm>
            <a:off x="7157009" y="2980944"/>
            <a:ext cx="128016" cy="182880"/>
          </a:xfrm>
          <a:prstGeom prst="chevron">
            <a:avLst/>
          </a:prstGeom>
          <a:solidFill>
            <a:srgbClr val="087F73"/>
          </a:solidFill>
          <a:ln w="12700">
            <a:solidFill>
              <a:srgbClr val="087F73">
                <a:alpha val="0"/>
              </a:srgbClr>
            </a:solidFill>
            <a:prstDash val="solid"/>
          </a:ln>
        </p:spPr>
      </p:sp>
      <p:sp>
        <p:nvSpPr>
          <p:cNvPr id="23" name="Text 20"/>
          <p:cNvSpPr/>
          <p:nvPr/>
        </p:nvSpPr>
        <p:spPr>
          <a:xfrm>
            <a:off x="7335317"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04</a:t>
            </a:r>
            <a:endParaRPr lang="ko-KR" sz="1000" dirty="0"/>
          </a:p>
        </p:txBody>
      </p:sp>
      <p:sp>
        <p:nvSpPr>
          <p:cNvPr id="24" name="Shape 21"/>
          <p:cNvSpPr/>
          <p:nvPr/>
        </p:nvSpPr>
        <p:spPr>
          <a:xfrm>
            <a:off x="7335317" y="2743200"/>
            <a:ext cx="2051914" cy="658368"/>
          </a:xfrm>
          <a:prstGeom prst="rect">
            <a:avLst/>
          </a:prstGeom>
          <a:solidFill>
            <a:srgbClr val="EDF2EF"/>
          </a:solidFill>
          <a:ln w="8255">
            <a:solidFill>
              <a:srgbClr val="EDF2EF"/>
            </a:solidFill>
            <a:prstDash val="solid"/>
          </a:ln>
        </p:spPr>
      </p:sp>
      <p:sp>
        <p:nvSpPr>
          <p:cNvPr id="25" name="Text 22"/>
          <p:cNvSpPr/>
          <p:nvPr/>
        </p:nvSpPr>
        <p:spPr>
          <a:xfrm>
            <a:off x="7362749"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202B2B"/>
                </a:solidFill>
                <a:latin typeface="Malgun Gothic" pitchFamily="34" charset="0"/>
                <a:ea typeface="Malgun Gothic" pitchFamily="34" charset="-122"/>
                <a:cs typeface="Malgun Gothic" pitchFamily="34" charset="-120"/>
              </a:rPr>
              <a:t>Gradle 패키징</a:t>
            </a:r>
            <a:endParaRPr lang="ko-KR" sz="1400" dirty="0"/>
          </a:p>
        </p:txBody>
      </p:sp>
      <p:sp>
        <p:nvSpPr>
          <p:cNvPr id="26" name="Shape 23"/>
          <p:cNvSpPr/>
          <p:nvPr/>
        </p:nvSpPr>
        <p:spPr>
          <a:xfrm>
            <a:off x="9428378" y="2980944"/>
            <a:ext cx="128016" cy="182880"/>
          </a:xfrm>
          <a:prstGeom prst="chevron">
            <a:avLst/>
          </a:prstGeom>
          <a:solidFill>
            <a:srgbClr val="087F73"/>
          </a:solidFill>
          <a:ln w="12700">
            <a:solidFill>
              <a:srgbClr val="087F73">
                <a:alpha val="0"/>
              </a:srgbClr>
            </a:solidFill>
            <a:prstDash val="solid"/>
          </a:ln>
        </p:spPr>
      </p:sp>
      <p:sp>
        <p:nvSpPr>
          <p:cNvPr id="27" name="Text 24"/>
          <p:cNvSpPr/>
          <p:nvPr/>
        </p:nvSpPr>
        <p:spPr>
          <a:xfrm>
            <a:off x="9606686" y="2441448"/>
            <a:ext cx="2051914" cy="192024"/>
          </a:xfrm>
          <a:prstGeom prst="rect">
            <a:avLst/>
          </a:prstGeom>
          <a:noFill/>
          <a:ln/>
        </p:spPr>
        <p:txBody>
          <a:bodyPr wrap="square" lIns="0" tIns="0" rIns="0" bIns="0" rtlCol="0" anchor="ctr"/>
          <a:lstStyle/>
          <a:p>
            <a:pPr marL="0" indent="0">
              <a:buNone/>
            </a:pPr>
            <a:r>
              <a:rPr lang="ko-KR" altLang="en-US" sz="1000" dirty="0">
                <a:solidFill>
                  <a:srgbClr val="60706C"/>
                </a:solidFill>
                <a:latin typeface="Bahnschrift" pitchFamily="34" charset="0"/>
                <a:ea typeface="Bahnschrift" pitchFamily="34" charset="-122"/>
                <a:cs typeface="Bahnschrift" pitchFamily="34" charset="-120"/>
              </a:rPr>
              <a:t>05</a:t>
            </a:r>
            <a:endParaRPr lang="ko-KR" sz="1000" dirty="0"/>
          </a:p>
        </p:txBody>
      </p:sp>
      <p:sp>
        <p:nvSpPr>
          <p:cNvPr id="28" name="Shape 25"/>
          <p:cNvSpPr/>
          <p:nvPr/>
        </p:nvSpPr>
        <p:spPr>
          <a:xfrm>
            <a:off x="9606686" y="2743200"/>
            <a:ext cx="2051914" cy="658368"/>
          </a:xfrm>
          <a:prstGeom prst="rect">
            <a:avLst/>
          </a:prstGeom>
          <a:solidFill>
            <a:srgbClr val="087F73"/>
          </a:solidFill>
          <a:ln w="8255">
            <a:solidFill>
              <a:srgbClr val="087F73"/>
            </a:solidFill>
            <a:prstDash val="solid"/>
          </a:ln>
        </p:spPr>
      </p:sp>
      <p:sp>
        <p:nvSpPr>
          <p:cNvPr id="29" name="Text 26"/>
          <p:cNvSpPr/>
          <p:nvPr/>
        </p:nvSpPr>
        <p:spPr>
          <a:xfrm>
            <a:off x="9634118" y="2816352"/>
            <a:ext cx="1997050" cy="493776"/>
          </a:xfrm>
          <a:prstGeom prst="rect">
            <a:avLst/>
          </a:prstGeom>
          <a:noFill/>
          <a:ln/>
        </p:spPr>
        <p:txBody>
          <a:bodyPr wrap="square" lIns="0" tIns="0" rIns="0" bIns="0" rtlCol="0" anchor="ctr"/>
          <a:lstStyle/>
          <a:p>
            <a:pPr marL="0" indent="0" algn="ctr">
              <a:buNone/>
            </a:pPr>
            <a:r>
              <a:rPr lang="ko-KR" altLang="en-US" sz="1400" b="1" dirty="0">
                <a:solidFill>
                  <a:srgbClr val="FFFFFF"/>
                </a:solidFill>
                <a:latin typeface="Malgun Gothic" pitchFamily="34" charset="0"/>
                <a:ea typeface="Malgun Gothic" pitchFamily="34" charset="-122"/>
                <a:cs typeface="Malgun Gothic" pitchFamily="34" charset="-120"/>
              </a:rPr>
              <a:t>산출물 전달</a:t>
            </a:r>
            <a:endParaRPr lang="ko-KR" sz="1400" dirty="0"/>
          </a:p>
        </p:txBody>
      </p:sp>
      <p:sp>
        <p:nvSpPr>
          <p:cNvPr id="30" name="Shape 27"/>
          <p:cNvSpPr/>
          <p:nvPr/>
        </p:nvSpPr>
        <p:spPr>
          <a:xfrm>
            <a:off x="521208" y="3913632"/>
            <a:ext cx="45720" cy="1984248"/>
          </a:xfrm>
          <a:prstGeom prst="rect">
            <a:avLst/>
          </a:prstGeom>
          <a:solidFill>
            <a:srgbClr val="087F73"/>
          </a:solidFill>
          <a:ln w="8255">
            <a:solidFill>
              <a:srgbClr val="087F73"/>
            </a:solidFill>
            <a:prstDash val="solid"/>
          </a:ln>
        </p:spPr>
      </p:sp>
      <p:sp>
        <p:nvSpPr>
          <p:cNvPr id="31" name="Text 28"/>
          <p:cNvSpPr/>
          <p:nvPr/>
        </p:nvSpPr>
        <p:spPr>
          <a:xfrm>
            <a:off x="731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구성된 자동화</a:t>
            </a:r>
            <a:endParaRPr lang="ko-KR" sz="2100" dirty="0"/>
          </a:p>
        </p:txBody>
      </p:sp>
      <p:sp>
        <p:nvSpPr>
          <p:cNvPr id="32" name="Text 29"/>
          <p:cNvSpPr/>
          <p:nvPr/>
        </p:nvSpPr>
        <p:spPr>
          <a:xfrm>
            <a:off x="731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develop PR: 빌드 워크플로 호출</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main 병합: 빌드 후 운영 산출물 전달</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Actions·Java·JavaScript CodeQL 구성</a:t>
            </a:r>
            <a:endParaRPr lang="ko-KR" sz="1600" dirty="0"/>
          </a:p>
        </p:txBody>
      </p:sp>
      <p:sp>
        <p:nvSpPr>
          <p:cNvPr id="33" name="Shape 30"/>
          <p:cNvSpPr/>
          <p:nvPr/>
        </p:nvSpPr>
        <p:spPr>
          <a:xfrm>
            <a:off x="6236208" y="3913632"/>
            <a:ext cx="45720" cy="1984248"/>
          </a:xfrm>
          <a:prstGeom prst="rect">
            <a:avLst/>
          </a:prstGeom>
          <a:solidFill>
            <a:srgbClr val="D95A43"/>
          </a:solidFill>
          <a:ln w="8255">
            <a:solidFill>
              <a:srgbClr val="D95A43"/>
            </a:solidFill>
            <a:prstDash val="solid"/>
          </a:ln>
        </p:spPr>
      </p:sp>
      <p:sp>
        <p:nvSpPr>
          <p:cNvPr id="34" name="Text 31"/>
          <p:cNvSpPr/>
          <p:nvPr/>
        </p:nvSpPr>
        <p:spPr>
          <a:xfrm>
            <a:off x="6446520" y="3904488"/>
            <a:ext cx="5120640" cy="502920"/>
          </a:xfrm>
          <a:prstGeom prst="rect">
            <a:avLst/>
          </a:prstGeom>
          <a:noFill/>
          <a:ln/>
        </p:spPr>
        <p:txBody>
          <a:bodyPr wrap="square" lIns="0" tIns="0" rIns="0" bIns="0" rtlCol="0" anchor="ctr"/>
          <a:lstStyle/>
          <a:p>
            <a:pPr marL="0" indent="0">
              <a:buNone/>
            </a:pPr>
            <a:r>
              <a:rPr lang="ko-KR" altLang="en-US" sz="2100" b="1" dirty="0">
                <a:solidFill>
                  <a:srgbClr val="202B2B"/>
                </a:solidFill>
                <a:latin typeface="Malgun Gothic" pitchFamily="34" charset="0"/>
                <a:ea typeface="Malgun Gothic" pitchFamily="34" charset="-122"/>
                <a:cs typeface="Malgun Gothic" pitchFamily="34" charset="-120"/>
              </a:rPr>
              <a:t>확인해야 할 운영 조건</a:t>
            </a:r>
            <a:endParaRPr lang="ko-KR" sz="2100" dirty="0"/>
          </a:p>
        </p:txBody>
      </p:sp>
      <p:sp>
        <p:nvSpPr>
          <p:cNvPr id="35" name="Text 32"/>
          <p:cNvSpPr/>
          <p:nvPr/>
        </p:nvSpPr>
        <p:spPr>
          <a:xfrm>
            <a:off x="6446520" y="4608576"/>
            <a:ext cx="5029200" cy="1307592"/>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설정은 GitHub Secrets로 전달</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재사용 워크플로를 커밋 SHA로 고정</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Java 21과 일부 Java 8 설정 불일치 점검</a:t>
            </a:r>
            <a:endParaRPr lang="ko-KR"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SfcMasterService.java  /  SUPP_APRV.java  /  SCRMCreationScheduler.java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18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코드에서 드러나는 설계 선택과 트레이드오프</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업무를 구현하는 선택에는 유지보수와 운영 측면의 후속 과제가 따른다</a:t>
            </a:r>
            <a:endParaRPr lang="ko-KR" sz="1500" dirty="0"/>
          </a:p>
        </p:txBody>
      </p:sp>
      <p:sp>
        <p:nvSpPr>
          <p:cNvPr id="11" name="Shape 8"/>
          <p:cNvSpPr/>
          <p:nvPr/>
        </p:nvSpPr>
        <p:spPr>
          <a:xfrm>
            <a:off x="521208" y="2532888"/>
            <a:ext cx="11137392" cy="0"/>
          </a:xfrm>
          <a:prstGeom prst="line">
            <a:avLst/>
          </a:prstGeom>
          <a:noFill/>
          <a:ln w="12700">
            <a:solidFill>
              <a:srgbClr val="D7E1DD"/>
            </a:solidFill>
            <a:prstDash val="solid"/>
          </a:ln>
        </p:spPr>
      </p:sp>
      <p:sp>
        <p:nvSpPr>
          <p:cNvPr id="12" name="Text 9"/>
          <p:cNvSpPr/>
          <p:nvPr/>
        </p:nvSpPr>
        <p:spPr>
          <a:xfrm>
            <a:off x="621792" y="2788920"/>
            <a:ext cx="3995928" cy="548640"/>
          </a:xfrm>
          <a:prstGeom prst="rect">
            <a:avLst/>
          </a:prstGeom>
          <a:noFill/>
          <a:ln/>
        </p:spPr>
        <p:txBody>
          <a:bodyPr wrap="square" lIns="0" tIns="0" rIns="0" bIns="0" rtlCol="0" anchor="ctr"/>
          <a:lstStyle/>
          <a:p>
            <a:pPr marL="0" indent="0">
              <a:buNone/>
            </a:pPr>
            <a:r>
              <a:rPr lang="ko-KR" altLang="en-US" sz="2100" b="1" dirty="0">
                <a:solidFill>
                  <a:srgbClr val="087F73"/>
                </a:solidFill>
                <a:latin typeface="Malgun Gothic" pitchFamily="34" charset="0"/>
                <a:ea typeface="Malgun Gothic" pitchFamily="34" charset="-122"/>
                <a:cs typeface="Malgun Gothic" pitchFamily="34" charset="-120"/>
              </a:rPr>
              <a:t>명시적인 상태 전이</a:t>
            </a:r>
            <a:endParaRPr lang="ko-KR" sz="2100" dirty="0"/>
          </a:p>
        </p:txBody>
      </p:sp>
      <p:sp>
        <p:nvSpPr>
          <p:cNvPr id="13" name="Text 10"/>
          <p:cNvSpPr/>
          <p:nvPr/>
        </p:nvSpPr>
        <p:spPr>
          <a:xfrm>
            <a:off x="4809744" y="2715768"/>
            <a:ext cx="6565392" cy="95097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장점: 단계와 다음 상태를 쉽게 추적</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과제: 허용 전이 테스트와 동시 승인 제어</a:t>
            </a:r>
            <a:endParaRPr lang="ko-KR" sz="1600" dirty="0"/>
          </a:p>
        </p:txBody>
      </p:sp>
      <p:sp>
        <p:nvSpPr>
          <p:cNvPr id="14" name="Shape 11"/>
          <p:cNvSpPr/>
          <p:nvPr/>
        </p:nvSpPr>
        <p:spPr>
          <a:xfrm>
            <a:off x="521208" y="3721608"/>
            <a:ext cx="11137392" cy="0"/>
          </a:xfrm>
          <a:prstGeom prst="line">
            <a:avLst/>
          </a:prstGeom>
          <a:noFill/>
          <a:ln w="12700">
            <a:solidFill>
              <a:srgbClr val="D7E1DD"/>
            </a:solidFill>
            <a:prstDash val="solid"/>
          </a:ln>
        </p:spPr>
      </p:sp>
      <p:sp>
        <p:nvSpPr>
          <p:cNvPr id="15" name="Text 12"/>
          <p:cNvSpPr/>
          <p:nvPr/>
        </p:nvSpPr>
        <p:spPr>
          <a:xfrm>
            <a:off x="621792" y="3977640"/>
            <a:ext cx="3995928" cy="548640"/>
          </a:xfrm>
          <a:prstGeom prst="rect">
            <a:avLst/>
          </a:prstGeom>
          <a:noFill/>
          <a:ln/>
        </p:spPr>
        <p:txBody>
          <a:bodyPr wrap="square" lIns="0" tIns="0" rIns="0" bIns="0" rtlCol="0" anchor="ctr"/>
          <a:lstStyle/>
          <a:p>
            <a:pPr marL="0" indent="0">
              <a:buNone/>
            </a:pPr>
            <a:r>
              <a:rPr lang="ko-KR" altLang="en-US" sz="2100" b="1" dirty="0">
                <a:solidFill>
                  <a:srgbClr val="D95A43"/>
                </a:solidFill>
                <a:latin typeface="Malgun Gothic" pitchFamily="34" charset="0"/>
                <a:ea typeface="Malgun Gothic" pitchFamily="34" charset="-122"/>
                <a:cs typeface="Malgun Gothic" pitchFamily="34" charset="-120"/>
              </a:rPr>
              <a:t>공통 결재·파일 모델</a:t>
            </a:r>
            <a:endParaRPr lang="ko-KR" sz="2100" dirty="0"/>
          </a:p>
        </p:txBody>
      </p:sp>
      <p:sp>
        <p:nvSpPr>
          <p:cNvPr id="16" name="Text 13"/>
          <p:cNvSpPr/>
          <p:nvPr/>
        </p:nvSpPr>
        <p:spPr>
          <a:xfrm>
            <a:off x="4809744" y="3904488"/>
            <a:ext cx="6565392" cy="95097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장점: 여러 업무에서 이력 구조 재사용</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과제: 문서 타입·ID 정합성 검증 강화</a:t>
            </a:r>
            <a:endParaRPr lang="ko-KR" sz="1600" dirty="0"/>
          </a:p>
        </p:txBody>
      </p:sp>
      <p:sp>
        <p:nvSpPr>
          <p:cNvPr id="17" name="Shape 14"/>
          <p:cNvSpPr/>
          <p:nvPr/>
        </p:nvSpPr>
        <p:spPr>
          <a:xfrm>
            <a:off x="521208" y="4910328"/>
            <a:ext cx="11137392" cy="0"/>
          </a:xfrm>
          <a:prstGeom prst="line">
            <a:avLst/>
          </a:prstGeom>
          <a:noFill/>
          <a:ln w="12700">
            <a:solidFill>
              <a:srgbClr val="D7E1DD"/>
            </a:solidFill>
            <a:prstDash val="solid"/>
          </a:ln>
        </p:spPr>
      </p:sp>
      <p:sp>
        <p:nvSpPr>
          <p:cNvPr id="18" name="Text 15"/>
          <p:cNvSpPr/>
          <p:nvPr/>
        </p:nvSpPr>
        <p:spPr>
          <a:xfrm>
            <a:off x="621792" y="5166360"/>
            <a:ext cx="3995928" cy="548640"/>
          </a:xfrm>
          <a:prstGeom prst="rect">
            <a:avLst/>
          </a:prstGeom>
          <a:noFill/>
          <a:ln/>
        </p:spPr>
        <p:txBody>
          <a:bodyPr wrap="square" lIns="0" tIns="0" rIns="0" bIns="0" rtlCol="0" anchor="ctr"/>
          <a:lstStyle/>
          <a:p>
            <a:pPr marL="0" indent="0">
              <a:buNone/>
            </a:pPr>
            <a:r>
              <a:rPr lang="ko-KR" altLang="en-US" sz="2100" b="1" dirty="0">
                <a:solidFill>
                  <a:srgbClr val="087F73"/>
                </a:solidFill>
                <a:latin typeface="Malgun Gothic" pitchFamily="34" charset="0"/>
                <a:ea typeface="Malgun Gothic" pitchFamily="34" charset="-122"/>
                <a:cs typeface="Malgun Gothic" pitchFamily="34" charset="-120"/>
              </a:rPr>
              <a:t>배치와 외부 연계</a:t>
            </a:r>
            <a:endParaRPr lang="ko-KR" sz="2100" dirty="0"/>
          </a:p>
        </p:txBody>
      </p:sp>
      <p:sp>
        <p:nvSpPr>
          <p:cNvPr id="19" name="Text 16"/>
          <p:cNvSpPr/>
          <p:nvPr/>
        </p:nvSpPr>
        <p:spPr>
          <a:xfrm>
            <a:off x="4809744" y="5093208"/>
            <a:ext cx="6565392" cy="95097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장점: 발주·SAP 데이터를 업무에 연결</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과제: 재시도·실패 복구·중복 처리 방지</a:t>
            </a:r>
            <a:endParaRPr lang="ko-KR"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9"/>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087F73"/>
          </a:solidFill>
          <a:ln w="8255">
            <a:solidFill>
              <a:srgbClr val="087F73"/>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202B2B"/>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D7E1DD"/>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60706C"/>
                </a:solidFill>
                <a:latin typeface="Bahnschrift" pitchFamily="34" charset="0"/>
                <a:ea typeface="Bahnschrift" pitchFamily="34" charset="-122"/>
                <a:cs typeface="Bahnschrift" pitchFamily="34" charset="-120"/>
              </a:rPr>
              <a:t>SOURCE  SurveyStatistics.jsx  /  SurveyService.java  /  SfcMasterController.java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60706C"/>
                </a:solidFill>
                <a:latin typeface="Bahnschrift" pitchFamily="34" charset="0"/>
                <a:ea typeface="Bahnschrift" pitchFamily="34" charset="-122"/>
                <a:cs typeface="Bahnschrift" pitchFamily="34" charset="-120"/>
              </a:rPr>
              <a:t>19 / 20</a:t>
            </a:r>
            <a:endParaRPr lang="ko-KR" sz="1000" dirty="0"/>
          </a:p>
        </p:txBody>
      </p:sp>
      <p:sp>
        <p:nvSpPr>
          <p:cNvPr id="9" name="Text 6"/>
          <p:cNvSpPr/>
          <p:nvPr/>
        </p:nvSpPr>
        <p:spPr>
          <a:xfrm>
            <a:off x="502920" y="795528"/>
            <a:ext cx="11155680" cy="841248"/>
          </a:xfrm>
          <a:prstGeom prst="rect">
            <a:avLst/>
          </a:prstGeom>
          <a:noFill/>
          <a:ln/>
        </p:spPr>
        <p:txBody>
          <a:bodyPr wrap="square" lIns="0" tIns="0" rIns="0" bIns="0" rtlCol="0" anchor="t"/>
          <a:lstStyle/>
          <a:p>
            <a:pPr marL="0" indent="0">
              <a:buNone/>
            </a:pPr>
            <a:r>
              <a:rPr lang="ko-KR" altLang="en-US" sz="2700" b="1" dirty="0">
                <a:solidFill>
                  <a:srgbClr val="202B2B"/>
                </a:solidFill>
                <a:latin typeface="Malgun Gothic" pitchFamily="34" charset="0"/>
                <a:ea typeface="Malgun Gothic" pitchFamily="34" charset="-122"/>
                <a:cs typeface="Malgun Gothic" pitchFamily="34" charset="-120"/>
              </a:rPr>
              <a:t>다음 개선은 신뢰성과 검증 가능성에 집중</a:t>
            </a:r>
            <a:endParaRPr lang="ko-KR" sz="2700" dirty="0"/>
          </a:p>
        </p:txBody>
      </p:sp>
      <p:sp>
        <p:nvSpPr>
          <p:cNvPr id="10" name="Text 7"/>
          <p:cNvSpPr/>
          <p:nvPr/>
        </p:nvSpPr>
        <p:spPr>
          <a:xfrm>
            <a:off x="521208" y="1773936"/>
            <a:ext cx="10972800" cy="457200"/>
          </a:xfrm>
          <a:prstGeom prst="rect">
            <a:avLst/>
          </a:prstGeom>
          <a:noFill/>
          <a:ln/>
        </p:spPr>
        <p:txBody>
          <a:bodyPr wrap="square" lIns="0" tIns="0" rIns="0" bIns="0" rtlCol="0" anchor="ctr"/>
          <a:lstStyle/>
          <a:p>
            <a:pPr marL="0" indent="0">
              <a:buNone/>
            </a:pPr>
            <a:r>
              <a:rPr lang="ko-KR" altLang="en-US" sz="1500" dirty="0">
                <a:solidFill>
                  <a:srgbClr val="60706C"/>
                </a:solidFill>
                <a:latin typeface="Malgun Gothic" pitchFamily="34" charset="0"/>
                <a:ea typeface="Malgun Gothic" pitchFamily="34" charset="-122"/>
                <a:cs typeface="Malgun Gothic" pitchFamily="34" charset="-120"/>
              </a:rPr>
              <a:t>기능 구현을 운영 품질로 이어 가기 위한 후속 과제</a:t>
            </a:r>
            <a:endParaRPr lang="ko-KR" sz="1500" dirty="0"/>
          </a:p>
        </p:txBody>
      </p:sp>
      <p:sp>
        <p:nvSpPr>
          <p:cNvPr id="11" name="Shape 8"/>
          <p:cNvSpPr/>
          <p:nvPr/>
        </p:nvSpPr>
        <p:spPr>
          <a:xfrm>
            <a:off x="521208" y="2532888"/>
            <a:ext cx="11137392" cy="0"/>
          </a:xfrm>
          <a:prstGeom prst="line">
            <a:avLst/>
          </a:prstGeom>
          <a:noFill/>
          <a:ln w="12700">
            <a:solidFill>
              <a:srgbClr val="D7E1DD"/>
            </a:solidFill>
            <a:prstDash val="solid"/>
          </a:ln>
        </p:spPr>
      </p:sp>
      <p:sp>
        <p:nvSpPr>
          <p:cNvPr id="12" name="Text 9"/>
          <p:cNvSpPr/>
          <p:nvPr/>
        </p:nvSpPr>
        <p:spPr>
          <a:xfrm>
            <a:off x="621792" y="2788920"/>
            <a:ext cx="3995928" cy="548640"/>
          </a:xfrm>
          <a:prstGeom prst="rect">
            <a:avLst/>
          </a:prstGeom>
          <a:noFill/>
          <a:ln/>
        </p:spPr>
        <p:txBody>
          <a:bodyPr wrap="square" lIns="0" tIns="0" rIns="0" bIns="0" rtlCol="0" anchor="ctr"/>
          <a:lstStyle/>
          <a:p>
            <a:pPr marL="0" indent="0">
              <a:buNone/>
            </a:pPr>
            <a:r>
              <a:rPr lang="ko-KR" altLang="en-US" sz="2100" b="1" dirty="0">
                <a:solidFill>
                  <a:srgbClr val="087F73"/>
                </a:solidFill>
                <a:latin typeface="Malgun Gothic" pitchFamily="34" charset="0"/>
                <a:ea typeface="Malgun Gothic" pitchFamily="34" charset="-122"/>
                <a:cs typeface="Malgun Gothic" pitchFamily="34" charset="-120"/>
              </a:rPr>
              <a:t>01  인증·환경 정합성</a:t>
            </a:r>
            <a:endParaRPr lang="ko-KR" sz="2100" dirty="0"/>
          </a:p>
        </p:txBody>
      </p:sp>
      <p:sp>
        <p:nvSpPr>
          <p:cNvPr id="13" name="Text 10"/>
          <p:cNvSpPr/>
          <p:nvPr/>
        </p:nvSpPr>
        <p:spPr>
          <a:xfrm>
            <a:off x="4809744" y="2715768"/>
            <a:ext cx="6565392" cy="95097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서버 인증·문서별 인가 검증 강화</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연계 키를 외부 설정으로 이동</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CI와 프로젝트 Java 버전 정합화</a:t>
            </a:r>
            <a:endParaRPr lang="ko-KR" sz="1600" dirty="0"/>
          </a:p>
        </p:txBody>
      </p:sp>
      <p:sp>
        <p:nvSpPr>
          <p:cNvPr id="14" name="Shape 11"/>
          <p:cNvSpPr/>
          <p:nvPr/>
        </p:nvSpPr>
        <p:spPr>
          <a:xfrm>
            <a:off x="521208" y="3721608"/>
            <a:ext cx="11137392" cy="0"/>
          </a:xfrm>
          <a:prstGeom prst="line">
            <a:avLst/>
          </a:prstGeom>
          <a:noFill/>
          <a:ln w="12700">
            <a:solidFill>
              <a:srgbClr val="D7E1DD"/>
            </a:solidFill>
            <a:prstDash val="solid"/>
          </a:ln>
        </p:spPr>
      </p:sp>
      <p:sp>
        <p:nvSpPr>
          <p:cNvPr id="15" name="Text 12"/>
          <p:cNvSpPr/>
          <p:nvPr/>
        </p:nvSpPr>
        <p:spPr>
          <a:xfrm>
            <a:off x="621792" y="3977640"/>
            <a:ext cx="3995928" cy="548640"/>
          </a:xfrm>
          <a:prstGeom prst="rect">
            <a:avLst/>
          </a:prstGeom>
          <a:noFill/>
          <a:ln/>
        </p:spPr>
        <p:txBody>
          <a:bodyPr wrap="square" lIns="0" tIns="0" rIns="0" bIns="0" rtlCol="0" anchor="ctr"/>
          <a:lstStyle/>
          <a:p>
            <a:pPr marL="0" indent="0">
              <a:buNone/>
            </a:pPr>
            <a:r>
              <a:rPr lang="ko-KR" altLang="en-US" sz="2100" b="1" dirty="0">
                <a:solidFill>
                  <a:srgbClr val="D95A43"/>
                </a:solidFill>
                <a:latin typeface="Malgun Gothic" pitchFamily="34" charset="0"/>
                <a:ea typeface="Malgun Gothic" pitchFamily="34" charset="-122"/>
                <a:cs typeface="Malgun Gothic" pitchFamily="34" charset="-120"/>
              </a:rPr>
              <a:t>02  핵심 흐름 테스트</a:t>
            </a:r>
            <a:endParaRPr lang="ko-KR" sz="2100" dirty="0"/>
          </a:p>
        </p:txBody>
      </p:sp>
      <p:sp>
        <p:nvSpPr>
          <p:cNvPr id="16" name="Text 13"/>
          <p:cNvSpPr/>
          <p:nvPr/>
        </p:nvSpPr>
        <p:spPr>
          <a:xfrm>
            <a:off x="4809744" y="3904488"/>
            <a:ext cx="6565392" cy="95097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SFC·SCRM 상태 전이와 반려 테스트</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배치 중복·실패 복구 테스트</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첨부 경로·외부 연계 예외 테스트</a:t>
            </a:r>
            <a:endParaRPr lang="ko-KR" sz="1600" dirty="0"/>
          </a:p>
        </p:txBody>
      </p:sp>
      <p:sp>
        <p:nvSpPr>
          <p:cNvPr id="17" name="Shape 14"/>
          <p:cNvSpPr/>
          <p:nvPr/>
        </p:nvSpPr>
        <p:spPr>
          <a:xfrm>
            <a:off x="521208" y="4910328"/>
            <a:ext cx="11137392" cy="0"/>
          </a:xfrm>
          <a:prstGeom prst="line">
            <a:avLst/>
          </a:prstGeom>
          <a:noFill/>
          <a:ln w="12700">
            <a:solidFill>
              <a:srgbClr val="D7E1DD"/>
            </a:solidFill>
            <a:prstDash val="solid"/>
          </a:ln>
        </p:spPr>
      </p:sp>
      <p:sp>
        <p:nvSpPr>
          <p:cNvPr id="18" name="Text 15"/>
          <p:cNvSpPr/>
          <p:nvPr/>
        </p:nvSpPr>
        <p:spPr>
          <a:xfrm>
            <a:off x="621792" y="5166360"/>
            <a:ext cx="3995928" cy="548640"/>
          </a:xfrm>
          <a:prstGeom prst="rect">
            <a:avLst/>
          </a:prstGeom>
          <a:noFill/>
          <a:ln/>
        </p:spPr>
        <p:txBody>
          <a:bodyPr wrap="square" lIns="0" tIns="0" rIns="0" bIns="0" rtlCol="0" anchor="ctr"/>
          <a:lstStyle/>
          <a:p>
            <a:pPr marL="0" indent="0">
              <a:buNone/>
            </a:pPr>
            <a:r>
              <a:rPr lang="ko-KR" altLang="en-US" sz="2100" b="1" dirty="0">
                <a:solidFill>
                  <a:srgbClr val="087F73"/>
                </a:solidFill>
                <a:latin typeface="Malgun Gothic" pitchFamily="34" charset="0"/>
                <a:ea typeface="Malgun Gothic" pitchFamily="34" charset="-122"/>
                <a:cs typeface="Malgun Gothic" pitchFamily="34" charset="-120"/>
              </a:rPr>
              <a:t>03  품질과 관측</a:t>
            </a:r>
            <a:endParaRPr lang="ko-KR" sz="2100" dirty="0"/>
          </a:p>
        </p:txBody>
      </p:sp>
      <p:sp>
        <p:nvSpPr>
          <p:cNvPr id="19" name="Text 16"/>
          <p:cNvSpPr/>
          <p:nvPr/>
        </p:nvSpPr>
        <p:spPr>
          <a:xfrm>
            <a:off x="4809744" y="5093208"/>
            <a:ext cx="6565392" cy="950976"/>
          </a:xfrm>
          <a:prstGeom prst="rect">
            <a:avLst/>
          </a:prstGeom>
          <a:noFill/>
          <a:ln/>
        </p:spPr>
        <p:txBody>
          <a:bodyPr wrap="square" lIns="0" tIns="0" rIns="0" bIns="0" rtlCol="0" anchor="t"/>
          <a:lstStyle/>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승인 처리 트랜잭션 경계 정리</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설문 통계·메일 경로 완성도 점검</a:t>
            </a:r>
            <a:endParaRPr lang="ko-KR" sz="1600" dirty="0"/>
          </a:p>
          <a:p>
            <a:pPr marL="0" indent="0">
              <a:buNone/>
            </a:pPr>
            <a:r>
              <a:rPr lang="ko-KR" altLang="en-US" sz="1600" dirty="0">
                <a:solidFill>
                  <a:srgbClr val="202B2B"/>
                </a:solidFill>
                <a:latin typeface="Malgun Gothic" pitchFamily="34" charset="0"/>
                <a:ea typeface="Malgun Gothic" pitchFamily="34" charset="-122"/>
                <a:cs typeface="Malgun Gothic" pitchFamily="34" charset="-120"/>
              </a:rPr>
              <a:t>처리시간·실패율·지연 지표 수집</a:t>
            </a:r>
            <a:endParaRPr lang="ko-KR"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02B2B"/>
        </a:solidFill>
        <a:effectLst/>
      </p:bgPr>
    </p:bg>
    <p:spTree>
      <p:nvGrpSpPr>
        <p:cNvPr id="1" name=""/>
        <p:cNvGrpSpPr/>
        <p:nvPr/>
      </p:nvGrpSpPr>
      <p:grpSpPr>
        <a:xfrm>
          <a:off x="0" y="0"/>
          <a:ext cx="0" cy="0"/>
          <a:chOff x="0" y="0"/>
          <a:chExt cx="0" cy="0"/>
        </a:xfrm>
      </p:grpSpPr>
      <p:sp>
        <p:nvSpPr>
          <p:cNvPr id="2" name="Shape 0"/>
          <p:cNvSpPr/>
          <p:nvPr/>
        </p:nvSpPr>
        <p:spPr>
          <a:xfrm>
            <a:off x="502920" y="329184"/>
            <a:ext cx="128016" cy="128016"/>
          </a:xfrm>
          <a:prstGeom prst="rect">
            <a:avLst/>
          </a:prstGeom>
          <a:solidFill>
            <a:srgbClr val="8EDCC1"/>
          </a:solidFill>
          <a:ln w="8255">
            <a:solidFill>
              <a:srgbClr val="8EDCC1"/>
            </a:solidFill>
            <a:prstDash val="solid"/>
          </a:ln>
        </p:spPr>
      </p:sp>
      <p:sp>
        <p:nvSpPr>
          <p:cNvPr id="3" name="Text 1"/>
          <p:cNvSpPr/>
          <p:nvPr/>
        </p:nvSpPr>
        <p:spPr>
          <a:xfrm>
            <a:off x="740664" y="283464"/>
            <a:ext cx="3657600" cy="228600"/>
          </a:xfrm>
          <a:prstGeom prst="rect">
            <a:avLst/>
          </a:prstGeom>
          <a:noFill/>
          <a:ln/>
        </p:spPr>
        <p:txBody>
          <a:bodyPr wrap="square" lIns="0" tIns="0" rIns="0" bIns="0" rtlCol="0" anchor="ctr"/>
          <a:lstStyle/>
          <a:p>
            <a:pPr marL="0" indent="0">
              <a:buNone/>
            </a:pPr>
            <a:r>
              <a:rPr lang="ko-KR" altLang="en-US" sz="1100" b="1" dirty="0">
                <a:solidFill>
                  <a:srgbClr val="FFFFFF"/>
                </a:solidFill>
                <a:latin typeface="Bahnschrift" pitchFamily="34" charset="0"/>
                <a:ea typeface="Bahnschrift" pitchFamily="34" charset="-122"/>
                <a:cs typeface="Bahnschrift" pitchFamily="34" charset="-120"/>
              </a:rPr>
              <a:t>SUPPLIER PORTAL</a:t>
            </a:r>
            <a:endParaRPr lang="ko-KR" sz="1100" dirty="0"/>
          </a:p>
        </p:txBody>
      </p:sp>
      <p:sp>
        <p:nvSpPr>
          <p:cNvPr id="4" name="Text 2"/>
          <p:cNvSpPr/>
          <p:nvPr/>
        </p:nvSpPr>
        <p:spPr>
          <a:xfrm>
            <a:off x="8275320" y="283464"/>
            <a:ext cx="3401568" cy="228600"/>
          </a:xfrm>
          <a:prstGeom prst="rect">
            <a:avLst/>
          </a:prstGeom>
          <a:noFill/>
          <a:ln/>
        </p:spPr>
        <p:txBody>
          <a:bodyPr wrap="square" lIns="0" tIns="0" rIns="0" bIns="0" rtlCol="0" anchor="ctr"/>
          <a:lstStyle/>
          <a:p>
            <a:pPr marL="0" indent="0" algn="r">
              <a:buNone/>
            </a:pPr>
            <a:r>
              <a:rPr lang="ko-KR" altLang="en-US" sz="1000" dirty="0">
                <a:solidFill>
                  <a:srgbClr val="B4C8BF"/>
                </a:solidFill>
                <a:latin typeface="Bahnschrift" pitchFamily="34" charset="0"/>
                <a:ea typeface="Bahnschrift" pitchFamily="34" charset="-122"/>
                <a:cs typeface="Bahnschrift" pitchFamily="34" charset="-120"/>
              </a:rPr>
              <a:t>PROJECT PORTFOLIO</a:t>
            </a:r>
            <a:endParaRPr lang="ko-KR" sz="1000" dirty="0"/>
          </a:p>
        </p:txBody>
      </p:sp>
      <p:sp>
        <p:nvSpPr>
          <p:cNvPr id="5" name="Shape 3"/>
          <p:cNvSpPr/>
          <p:nvPr/>
        </p:nvSpPr>
        <p:spPr>
          <a:xfrm>
            <a:off x="502920" y="6373368"/>
            <a:ext cx="11173968" cy="0"/>
          </a:xfrm>
          <a:prstGeom prst="line">
            <a:avLst/>
          </a:prstGeom>
          <a:noFill/>
          <a:ln w="9525">
            <a:solidFill>
              <a:srgbClr val="476055"/>
            </a:solidFill>
            <a:prstDash val="solid"/>
          </a:ln>
        </p:spPr>
      </p:sp>
      <p:sp>
        <p:nvSpPr>
          <p:cNvPr id="6" name="Text 4"/>
          <p:cNvSpPr/>
          <p:nvPr/>
        </p:nvSpPr>
        <p:spPr>
          <a:xfrm>
            <a:off x="502920" y="6473952"/>
            <a:ext cx="9921240" cy="146304"/>
          </a:xfrm>
          <a:prstGeom prst="rect">
            <a:avLst/>
          </a:prstGeom>
          <a:noFill/>
          <a:ln/>
        </p:spPr>
        <p:txBody>
          <a:bodyPr wrap="square" lIns="0" tIns="0" rIns="0" bIns="0" rtlCol="0" anchor="ctr"/>
          <a:lstStyle/>
          <a:p>
            <a:pPr marL="0" indent="0">
              <a:buNone/>
            </a:pPr>
            <a:r>
              <a:rPr lang="ko-KR" altLang="en-US" sz="800" dirty="0">
                <a:solidFill>
                  <a:srgbClr val="B4C8BF"/>
                </a:solidFill>
                <a:latin typeface="Bahnschrift" pitchFamily="34" charset="0"/>
                <a:ea typeface="Bahnschrift" pitchFamily="34" charset="-122"/>
                <a:cs typeface="Bahnschrift" pitchFamily="34" charset="-120"/>
              </a:rPr>
              <a:t>SOURCE  routes.js  /  SfcMasterService.java  /  SCRMCreationScheduler.java</a:t>
            </a:r>
            <a:endParaRPr lang="ko-KR" sz="800" dirty="0"/>
          </a:p>
        </p:txBody>
      </p:sp>
      <p:sp>
        <p:nvSpPr>
          <p:cNvPr id="7" name="Text 5"/>
          <p:cNvSpPr/>
          <p:nvPr/>
        </p:nvSpPr>
        <p:spPr>
          <a:xfrm>
            <a:off x="10789920" y="6437376"/>
            <a:ext cx="868680" cy="219456"/>
          </a:xfrm>
          <a:prstGeom prst="rect">
            <a:avLst/>
          </a:prstGeom>
          <a:noFill/>
          <a:ln/>
        </p:spPr>
        <p:txBody>
          <a:bodyPr wrap="square" lIns="0" tIns="0" rIns="0" bIns="0" rtlCol="0" anchor="ctr"/>
          <a:lstStyle/>
          <a:p>
            <a:pPr marL="0" indent="0" algn="r">
              <a:buNone/>
            </a:pPr>
            <a:r>
              <a:rPr lang="ko-KR" altLang="en-US" sz="1000" dirty="0">
                <a:solidFill>
                  <a:srgbClr val="B4C8BF"/>
                </a:solidFill>
                <a:latin typeface="Bahnschrift" pitchFamily="34" charset="0"/>
                <a:ea typeface="Bahnschrift" pitchFamily="34" charset="-122"/>
                <a:cs typeface="Bahnschrift" pitchFamily="34" charset="-120"/>
              </a:rPr>
              <a:t>20 / 20</a:t>
            </a:r>
            <a:endParaRPr lang="ko-KR" sz="1000" dirty="0"/>
          </a:p>
        </p:txBody>
      </p:sp>
      <p:sp>
        <p:nvSpPr>
          <p:cNvPr id="9" name="Text 6"/>
          <p:cNvSpPr/>
          <p:nvPr/>
        </p:nvSpPr>
        <p:spPr>
          <a:xfrm>
            <a:off x="585216" y="1033272"/>
            <a:ext cx="10972800" cy="292608"/>
          </a:xfrm>
          <a:prstGeom prst="rect">
            <a:avLst/>
          </a:prstGeom>
          <a:noFill/>
          <a:ln/>
        </p:spPr>
        <p:txBody>
          <a:bodyPr wrap="square" lIns="0" tIns="0" rIns="0" bIns="0" rtlCol="0" anchor="ctr"/>
          <a:lstStyle/>
          <a:p>
            <a:pPr marL="0" indent="0">
              <a:buNone/>
            </a:pPr>
            <a:r>
              <a:rPr lang="ko-KR" altLang="en-US" sz="1200" dirty="0">
                <a:solidFill>
                  <a:srgbClr val="8EDCC1"/>
                </a:solidFill>
                <a:latin typeface="Bahnschrift" pitchFamily="34" charset="0"/>
                <a:ea typeface="Bahnschrift" pitchFamily="34" charset="-122"/>
                <a:cs typeface="Bahnschrift" pitchFamily="34" charset="-120"/>
              </a:rPr>
              <a:t>WORKFLOW  /  FULL STACK  /  OPERATIONS</a:t>
            </a:r>
            <a:endParaRPr lang="ko-KR" sz="1200" dirty="0"/>
          </a:p>
        </p:txBody>
      </p:sp>
      <p:sp>
        <p:nvSpPr>
          <p:cNvPr id="10" name="Text 7"/>
          <p:cNvSpPr/>
          <p:nvPr/>
        </p:nvSpPr>
        <p:spPr>
          <a:xfrm>
            <a:off x="539496" y="1673352"/>
            <a:ext cx="10917936" cy="1362456"/>
          </a:xfrm>
          <a:prstGeom prst="rect">
            <a:avLst/>
          </a:prstGeom>
          <a:noFill/>
          <a:ln/>
        </p:spPr>
        <p:txBody>
          <a:bodyPr wrap="square" lIns="0" tIns="0" rIns="0" bIns="0" rtlCol="0" anchor="ctr"/>
          <a:lstStyle/>
          <a:p>
            <a:pPr marL="0" indent="0">
              <a:buNone/>
            </a:pPr>
            <a:r>
              <a:rPr lang="ko-KR" altLang="en-US" sz="3600" b="1" dirty="0">
                <a:solidFill>
                  <a:srgbClr val="FFFFFF"/>
                </a:solidFill>
                <a:latin typeface="Malgun Gothic" pitchFamily="34" charset="0"/>
                <a:ea typeface="Malgun Gothic" pitchFamily="34" charset="-122"/>
                <a:cs typeface="Malgun Gothic" pitchFamily="34" charset="-120"/>
              </a:rPr>
              <a:t>업무 흐름을 이해하고,</a:t>
            </a:r>
            <a:endParaRPr lang="ko-KR" sz="3600" dirty="0"/>
          </a:p>
          <a:p>
            <a:pPr marL="0" indent="0">
              <a:buNone/>
            </a:pPr>
            <a:r>
              <a:rPr lang="ko-KR" altLang="en-US" sz="3600" b="1" dirty="0">
                <a:solidFill>
                  <a:srgbClr val="FFFFFF"/>
                </a:solidFill>
                <a:latin typeface="Malgun Gothic" pitchFamily="34" charset="0"/>
                <a:ea typeface="Malgun Gothic" pitchFamily="34" charset="-122"/>
                <a:cs typeface="Malgun Gothic" pitchFamily="34" charset="-120"/>
              </a:rPr>
              <a:t>시스템으로 연결하는 구현</a:t>
            </a:r>
            <a:endParaRPr lang="ko-KR" sz="3600" dirty="0"/>
          </a:p>
        </p:txBody>
      </p:sp>
      <p:sp>
        <p:nvSpPr>
          <p:cNvPr id="11" name="Text 8"/>
          <p:cNvSpPr/>
          <p:nvPr/>
        </p:nvSpPr>
        <p:spPr>
          <a:xfrm>
            <a:off x="585216" y="3346704"/>
            <a:ext cx="10789920" cy="1005840"/>
          </a:xfrm>
          <a:prstGeom prst="rect">
            <a:avLst/>
          </a:prstGeom>
          <a:noFill/>
          <a:ln/>
        </p:spPr>
        <p:txBody>
          <a:bodyPr wrap="square" lIns="0" tIns="0" rIns="0" bIns="0" rtlCol="0" anchor="ctr"/>
          <a:lstStyle/>
          <a:p>
            <a:pPr marL="0" indent="0">
              <a:buNone/>
            </a:pPr>
            <a:r>
              <a:rPr lang="ko-KR" altLang="en-US" sz="2300" dirty="0">
                <a:solidFill>
                  <a:srgbClr val="DCE9E2"/>
                </a:solidFill>
                <a:latin typeface="Malgun Gothic" pitchFamily="34" charset="0"/>
                <a:ea typeface="Malgun Gothic" pitchFamily="34" charset="-122"/>
                <a:cs typeface="Malgun Gothic" pitchFamily="34" charset="-120"/>
              </a:rPr>
              <a:t>Supplier Portal의 핵심은 화면 수가 아니라</a:t>
            </a:r>
            <a:endParaRPr lang="ko-KR" sz="2300" dirty="0"/>
          </a:p>
          <a:p>
            <a:pPr marL="0" indent="0">
              <a:buNone/>
            </a:pPr>
            <a:r>
              <a:rPr lang="ko-KR" altLang="en-US" sz="2300" dirty="0">
                <a:solidFill>
                  <a:srgbClr val="DCE9E2"/>
                </a:solidFill>
                <a:latin typeface="Malgun Gothic" pitchFamily="34" charset="0"/>
                <a:ea typeface="Malgun Gothic" pitchFamily="34" charset="-122"/>
                <a:cs typeface="Malgun Gothic" pitchFamily="34" charset="-120"/>
              </a:rPr>
              <a:t>업체 정보·평가·결재·외부 시스템을 잇는 과정입니다.</a:t>
            </a:r>
            <a:endParaRPr lang="ko-KR" sz="2300" dirty="0"/>
          </a:p>
        </p:txBody>
      </p:sp>
      <p:sp>
        <p:nvSpPr>
          <p:cNvPr id="12" name="Shape 9"/>
          <p:cNvSpPr/>
          <p:nvPr/>
        </p:nvSpPr>
        <p:spPr>
          <a:xfrm>
            <a:off x="585216" y="4919472"/>
            <a:ext cx="3456432" cy="0"/>
          </a:xfrm>
          <a:prstGeom prst="line">
            <a:avLst/>
          </a:prstGeom>
          <a:noFill/>
          <a:ln w="25400">
            <a:solidFill>
              <a:srgbClr val="8EDCC1"/>
            </a:solidFill>
            <a:prstDash val="solid"/>
          </a:ln>
        </p:spPr>
      </p:sp>
      <p:sp>
        <p:nvSpPr>
          <p:cNvPr id="13" name="Text 10"/>
          <p:cNvSpPr/>
          <p:nvPr/>
        </p:nvSpPr>
        <p:spPr>
          <a:xfrm>
            <a:off x="585216" y="5129784"/>
            <a:ext cx="3447288" cy="365760"/>
          </a:xfrm>
          <a:prstGeom prst="rect">
            <a:avLst/>
          </a:prstGeom>
          <a:noFill/>
          <a:ln/>
        </p:spPr>
        <p:txBody>
          <a:bodyPr wrap="square" lIns="0" tIns="0" rIns="0" bIns="0" rtlCol="0" anchor="ctr"/>
          <a:lstStyle/>
          <a:p>
            <a:pPr marL="0" indent="0">
              <a:buNone/>
            </a:pPr>
            <a:r>
              <a:rPr lang="ko-KR" altLang="en-US" sz="2000" b="1" dirty="0">
                <a:solidFill>
                  <a:srgbClr val="FFFFFF"/>
                </a:solidFill>
                <a:latin typeface="Malgun Gothic" pitchFamily="34" charset="0"/>
                <a:ea typeface="Malgun Gothic" pitchFamily="34" charset="-122"/>
                <a:cs typeface="Malgun Gothic" pitchFamily="34" charset="-120"/>
              </a:rPr>
              <a:t>업무 모델링</a:t>
            </a:r>
            <a:endParaRPr lang="ko-KR" sz="2000" dirty="0"/>
          </a:p>
        </p:txBody>
      </p:sp>
      <p:sp>
        <p:nvSpPr>
          <p:cNvPr id="14" name="Text 11"/>
          <p:cNvSpPr/>
          <p:nvPr/>
        </p:nvSpPr>
        <p:spPr>
          <a:xfrm>
            <a:off x="585216" y="5614416"/>
            <a:ext cx="3447288" cy="457200"/>
          </a:xfrm>
          <a:prstGeom prst="rect">
            <a:avLst/>
          </a:prstGeom>
          <a:noFill/>
          <a:ln/>
        </p:spPr>
        <p:txBody>
          <a:bodyPr wrap="square" lIns="0" tIns="0" rIns="0" bIns="0" rtlCol="0" anchor="ctr"/>
          <a:lstStyle/>
          <a:p>
            <a:pPr marL="0" indent="0">
              <a:buNone/>
            </a:pPr>
            <a:r>
              <a:rPr lang="ko-KR" altLang="en-US" sz="1350" dirty="0">
                <a:solidFill>
                  <a:srgbClr val="BDD1C6"/>
                </a:solidFill>
                <a:latin typeface="Malgun Gothic" pitchFamily="34" charset="0"/>
                <a:ea typeface="Malgun Gothic" pitchFamily="34" charset="-122"/>
                <a:cs typeface="Malgun Gothic" pitchFamily="34" charset="-120"/>
              </a:rPr>
              <a:t>역할과 상태에 따른 평가·승인 흐름</a:t>
            </a:r>
            <a:endParaRPr lang="ko-KR" sz="1350" dirty="0"/>
          </a:p>
        </p:txBody>
      </p:sp>
      <p:sp>
        <p:nvSpPr>
          <p:cNvPr id="15" name="Shape 12"/>
          <p:cNvSpPr/>
          <p:nvPr/>
        </p:nvSpPr>
        <p:spPr>
          <a:xfrm>
            <a:off x="4379976" y="4919472"/>
            <a:ext cx="3456432" cy="0"/>
          </a:xfrm>
          <a:prstGeom prst="line">
            <a:avLst/>
          </a:prstGeom>
          <a:noFill/>
          <a:ln w="25400">
            <a:solidFill>
              <a:srgbClr val="D95A43"/>
            </a:solidFill>
            <a:prstDash val="solid"/>
          </a:ln>
        </p:spPr>
      </p:sp>
      <p:sp>
        <p:nvSpPr>
          <p:cNvPr id="16" name="Text 13"/>
          <p:cNvSpPr/>
          <p:nvPr/>
        </p:nvSpPr>
        <p:spPr>
          <a:xfrm>
            <a:off x="4379976" y="5129784"/>
            <a:ext cx="3447288" cy="365760"/>
          </a:xfrm>
          <a:prstGeom prst="rect">
            <a:avLst/>
          </a:prstGeom>
          <a:noFill/>
          <a:ln/>
        </p:spPr>
        <p:txBody>
          <a:bodyPr wrap="square" lIns="0" tIns="0" rIns="0" bIns="0" rtlCol="0" anchor="ctr"/>
          <a:lstStyle/>
          <a:p>
            <a:pPr marL="0" indent="0">
              <a:buNone/>
            </a:pPr>
            <a:r>
              <a:rPr lang="ko-KR" altLang="en-US" sz="2000" b="1" dirty="0">
                <a:solidFill>
                  <a:srgbClr val="FFFFFF"/>
                </a:solidFill>
                <a:latin typeface="Malgun Gothic" pitchFamily="34" charset="0"/>
                <a:ea typeface="Malgun Gothic" pitchFamily="34" charset="-122"/>
                <a:cs typeface="Malgun Gothic" pitchFamily="34" charset="-120"/>
              </a:rPr>
              <a:t>풀스택 연결</a:t>
            </a:r>
            <a:endParaRPr lang="ko-KR" sz="2000" dirty="0"/>
          </a:p>
        </p:txBody>
      </p:sp>
      <p:sp>
        <p:nvSpPr>
          <p:cNvPr id="17" name="Text 14"/>
          <p:cNvSpPr/>
          <p:nvPr/>
        </p:nvSpPr>
        <p:spPr>
          <a:xfrm>
            <a:off x="4379976" y="5614416"/>
            <a:ext cx="3447288" cy="457200"/>
          </a:xfrm>
          <a:prstGeom prst="rect">
            <a:avLst/>
          </a:prstGeom>
          <a:noFill/>
          <a:ln/>
        </p:spPr>
        <p:txBody>
          <a:bodyPr wrap="square" lIns="0" tIns="0" rIns="0" bIns="0" rtlCol="0" anchor="ctr"/>
          <a:lstStyle/>
          <a:p>
            <a:pPr marL="0" indent="0">
              <a:buNone/>
            </a:pPr>
            <a:r>
              <a:rPr lang="ko-KR" altLang="en-US" sz="1350" dirty="0">
                <a:solidFill>
                  <a:srgbClr val="BDD1C6"/>
                </a:solidFill>
                <a:latin typeface="Malgun Gothic" pitchFamily="34" charset="0"/>
                <a:ea typeface="Malgun Gothic" pitchFamily="34" charset="-122"/>
                <a:cs typeface="Malgun Gothic" pitchFamily="34" charset="-120"/>
              </a:rPr>
              <a:t>React UI부터 JPA 저장·SAP 연계까지</a:t>
            </a:r>
            <a:endParaRPr lang="ko-KR" sz="1350" dirty="0"/>
          </a:p>
        </p:txBody>
      </p:sp>
      <p:sp>
        <p:nvSpPr>
          <p:cNvPr id="18" name="Shape 15"/>
          <p:cNvSpPr/>
          <p:nvPr/>
        </p:nvSpPr>
        <p:spPr>
          <a:xfrm>
            <a:off x="8174736" y="4919472"/>
            <a:ext cx="3456432" cy="0"/>
          </a:xfrm>
          <a:prstGeom prst="line">
            <a:avLst/>
          </a:prstGeom>
          <a:noFill/>
          <a:ln w="25400">
            <a:solidFill>
              <a:srgbClr val="8EDCC1"/>
            </a:solidFill>
            <a:prstDash val="solid"/>
          </a:ln>
        </p:spPr>
      </p:sp>
      <p:sp>
        <p:nvSpPr>
          <p:cNvPr id="19" name="Text 16"/>
          <p:cNvSpPr/>
          <p:nvPr/>
        </p:nvSpPr>
        <p:spPr>
          <a:xfrm>
            <a:off x="8174736" y="5129784"/>
            <a:ext cx="3447288" cy="365760"/>
          </a:xfrm>
          <a:prstGeom prst="rect">
            <a:avLst/>
          </a:prstGeom>
          <a:noFill/>
          <a:ln/>
        </p:spPr>
        <p:txBody>
          <a:bodyPr wrap="square" lIns="0" tIns="0" rIns="0" bIns="0" rtlCol="0" anchor="ctr"/>
          <a:lstStyle/>
          <a:p>
            <a:pPr marL="0" indent="0">
              <a:buNone/>
            </a:pPr>
            <a:r>
              <a:rPr lang="ko-KR" altLang="en-US" sz="2000" b="1" dirty="0">
                <a:solidFill>
                  <a:srgbClr val="FFFFFF"/>
                </a:solidFill>
                <a:latin typeface="Malgun Gothic" pitchFamily="34" charset="0"/>
                <a:ea typeface="Malgun Gothic" pitchFamily="34" charset="-122"/>
                <a:cs typeface="Malgun Gothic" pitchFamily="34" charset="-120"/>
              </a:rPr>
              <a:t>운영 관점</a:t>
            </a:r>
            <a:endParaRPr lang="ko-KR" sz="2000" dirty="0"/>
          </a:p>
        </p:txBody>
      </p:sp>
      <p:sp>
        <p:nvSpPr>
          <p:cNvPr id="20" name="Text 17"/>
          <p:cNvSpPr/>
          <p:nvPr/>
        </p:nvSpPr>
        <p:spPr>
          <a:xfrm>
            <a:off x="8174736" y="5614416"/>
            <a:ext cx="3447288" cy="457200"/>
          </a:xfrm>
          <a:prstGeom prst="rect">
            <a:avLst/>
          </a:prstGeom>
          <a:noFill/>
          <a:ln/>
        </p:spPr>
        <p:txBody>
          <a:bodyPr wrap="square" lIns="0" tIns="0" rIns="0" bIns="0" rtlCol="0" anchor="ctr"/>
          <a:lstStyle/>
          <a:p>
            <a:pPr marL="0" indent="0">
              <a:buNone/>
            </a:pPr>
            <a:r>
              <a:rPr lang="ko-KR" altLang="en-US" sz="1350" dirty="0">
                <a:solidFill>
                  <a:srgbClr val="BDD1C6"/>
                </a:solidFill>
                <a:latin typeface="Malgun Gothic" pitchFamily="34" charset="0"/>
                <a:ea typeface="Malgun Gothic" pitchFamily="34" charset="-122"/>
                <a:cs typeface="Malgun Gothic" pitchFamily="34" charset="-120"/>
              </a:rPr>
              <a:t>정기 작업, 이력, 보안 헤더, CI/CD 구성</a:t>
            </a:r>
            <a:endParaRPr lang="ko-KR"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6353</Words>
  <Application>Microsoft Office PowerPoint</Application>
  <PresentationFormat>와이드스크린</PresentationFormat>
  <Paragraphs>471</Paragraphs>
  <Slides>20</Slides>
  <Notes>20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Malgun Gothic</vt:lpstr>
      <vt:lpstr>Arial</vt:lpstr>
      <vt:lpstr>Bahnschrift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Supplier Portal | 프로젝트 포트폴리오</dc:title>
  <dc:subject>Code-grounded project portfolio</dc:subject>
  <dc:creator>Supplier Portal Project</dc:creator>
  <cp:lastModifiedBy>JunSeok Kwon</cp:lastModifiedBy>
  <cp:revision>2</cp:revision>
  <dcterms:created xsi:type="dcterms:W3CDTF">2026-10-09T14:32:36Z</dcterms:created>
  <dcterms:modified xsi:type="dcterms:W3CDTF">2026-10-09T14:33:41Z</dcterms:modified>
</cp:coreProperties>
</file>