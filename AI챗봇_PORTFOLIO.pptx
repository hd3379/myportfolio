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범위는 프로젝트 구현 전체다. 개인별 기여율과 기간은 확인되지 않아 표기하지 않았다.</a:t>
            </a:r>
          </a:p>
          <a:p>
            <a:r>
              <a:t>제공된 포털 화면과 저장소 React 데모 UI는 구분한다. 외부 공개 전 화면의 계정명과 WI 내용에 대한 공개 승인을 확인해야 한다.</a:t>
            </a:r>
          </a:p>
          <a:p/>
          <a:p>
            <a:r>
              <a:t>근거 문서: PORTFOLIO.md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RAG는 모델 재학습이 아니라 질문마다 검색한 문서를 생성 모델에 근거로 제공하는 방식이다. 업무 시간 절감의 정량 실험은 아직 없다.</a:t>
            </a:r>
          </a:p>
          <a:p/>
          <a:p>
            <a:r>
              <a:t>근거 문서: PORTFOLIO.md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질문: flux 작업시 주의사항에 대한 지침이 있어?</a:t>
            </a:r>
          </a:p>
          <a:p>
            <a:r>
              <a:t>Flux warming up 시간표와 설비 화면, 작업 확인사항 이미지 및 WI 번호·개정 출처가 표시된다. 화면만으로 답변의 완전성이나 문서 최신성을 검증하지는 않았다.</a:t>
            </a:r>
          </a:p>
          <a:p/>
          <a:p>
            <a:r>
              <a:t>근거 문서: PORTFOLIO.md</a:t>
            </a:r>
          </a:p>
          <a:p>
            <a:r>
              <a:t>backend\scripts\2026-10-09 13 25 54.png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질문마다 원본 문서를 다시 파싱하지 않는다. 검색 인덱스와 이미지 저장소를 분리한다. 이 도식은 현재 주요 코드 경로의 개념도이며 운영 배포 성공을 나타내지는 않는다.</a:t>
            </a:r>
          </a:p>
          <a:p/>
          <a:p>
            <a:r>
              <a:t>근거 문서: PORTFOLIO.md</a:t>
            </a:r>
          </a:p>
          <a:p>
            <a:r>
              <a:t>backend/doc2fabric/core.py</a:t>
            </a:r>
          </a:p>
          <a:p>
            <a:r>
              <a:t>backend/services/azure_rag.py</a:t>
            </a:r>
          </a:p>
          <a:p>
            <a:r>
              <a:t>backend/app.py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텍스트 파싱 지원 형식과 이미지 추출 범위는 동일하지 않으며 이미지 추출은 주로 Office 문서를 대상으로 한다. LlamaParse 실패를 로컬 파서로 조용히 대체하지 않는다.</a:t>
            </a:r>
          </a:p>
          <a:p/>
          <a:p>
            <a:r>
              <a:t>근거 문서: PORTFOLIO.md</a:t>
            </a:r>
          </a:p>
          <a:p>
            <a:r>
              <a:t>backend/doc2fabric/_parser.py</a:t>
            </a:r>
          </a:p>
          <a:p>
            <a:r>
              <a:t>backend/doc2fabric/chunker/chunker.py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이미지 설명은 한 번의 문서 처리 안에서 파일명 기준 캐시를 사용한다. 일반 JSON 응답에서 단락별 관련성을 계산하고 인라인 이미지는 하단 갤러리와 중복하지 않도록 한다. SSE의 후처리와 완전히 동일하지는 않다.</a:t>
            </a:r>
          </a:p>
          <a:p/>
          <a:p>
            <a:r>
              <a:t>근거 문서: PORTFOLIO.md</a:t>
            </a:r>
          </a:p>
          <a:p>
            <a:r>
              <a:t>backend/doc2fabric/vlm/vlm.py</a:t>
            </a:r>
          </a:p>
          <a:p>
            <a:r>
              <a:t>backend/scripts/fabric_upload_images_to_azure_search.py</a:t>
            </a:r>
          </a:p>
          <a:p>
            <a:r>
              <a:t>backend/controllers/wi_ask_controller.py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RRF는 여러 질의의 순위를 합산하는 방식이다. 중요 문서를 앞뒤에 배치하는 것은 Lost-in-the-Middle 완화 목적이며 실험으로 검증한 향상률은 없다. Confidence는 검색 점수의 sigmoid 변환으로, 보정된 정답 확률이 아니다.</a:t>
            </a:r>
          </a:p>
          <a:p/>
          <a:p>
            <a:r>
              <a:t>근거 문서: PORTFOLIO.md</a:t>
            </a:r>
          </a:p>
          <a:p>
            <a:r>
              <a:t>backend/controllers/wi_ask_controller.py</a:t>
            </a:r>
          </a:p>
          <a:p>
            <a:r>
              <a:t>backend/services/azure_rag.py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user_id가 있으면 Redis의 서버 측 이력을 사용한다. 저장소 React 데모 UI는 제공된 사내 포털 UI와 별개다. 부서 필터는 사용자 권한 검증을 대신하지 않는다.</a:t>
            </a:r>
          </a:p>
          <a:p/>
          <a:p>
            <a:r>
              <a:t>근거 문서: PORTFOLIO.md</a:t>
            </a:r>
          </a:p>
          <a:p>
            <a:r>
              <a:t>backend/app.py</a:t>
            </a:r>
          </a:p>
          <a:p>
            <a:r>
              <a:t>backend/models.py</a:t>
            </a:r>
          </a:p>
          <a:p>
            <a:r>
              <a:t>backend/services/redis_history.py</a:t>
            </a:r>
          </a:p>
          <a:p>
            <a:r>
              <a:t>frontend/src/components/ChatUI.jsx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다운로드 처리 단계별 예외와 로그가 존재한다. mergeOrUpload는 같은 키를 갱신하지만 사라진 청크나 삭제 문서의 인덱스 정리를 자동 보장하지 않는다.</a:t>
            </a:r>
          </a:p>
          <a:p/>
          <a:p>
            <a:r>
              <a:t>근거 문서: PORTFOLIO.md</a:t>
            </a:r>
          </a:p>
          <a:p>
            <a:r>
              <a:t>backend/doc2fabric/core.py</a:t>
            </a:r>
          </a:p>
          <a:p>
            <a:r>
              <a:t>backend/scripts/fabric_upload_to_azure_search.py</a:t>
            </a:r>
          </a:p>
          <a:p>
            <a:r>
              <a:t>backend/scripts/fabric_upload_images_to_azure_search.py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등록 API에는 시작(R)·실패(F) 상태 콜백이 있고, 오류 로그의 일부 민감정보를 마스킹한다. 실제 배포 성공이나 전체 보안 검증 완료를 주장하지 않는다.</a:t>
            </a:r>
          </a:p>
          <a:p/>
          <a:p>
            <a:r>
              <a:t>근거 문서: PORTFOLIO.md</a:t>
            </a:r>
          </a:p>
          <a:p>
            <a:r>
              <a:t>fabric_notebooks/fabric_incremental_sync.ipynb</a:t>
            </a:r>
          </a:p>
          <a:p>
            <a:r>
              <a:t>.github/workflows/release_ci_cd_python.yml</a:t>
            </a:r>
          </a:p>
          <a:p>
            <a:r>
              <a:t>.github/workflows/release_ci_cd_npm.yml</a:t>
            </a:r>
          </a:p>
          <a:p>
            <a:r>
              <a:t>backend/observability.py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PORTFOLIO.md 작성 시점인 2026-10-09에 19 passed in 2.56s를 확인했다. PPT 생성 과정에서 백엔드 테스트를 재실행한 것은 아니다. 업로드 건수는 재집계나 재적재 결과가 아니며 중복 없는 원본 이미지 수로 해석하면 안 된다.</a:t>
            </a:r>
          </a:p>
          <a:p>
            <a:r>
              <a:t>실행 명령: .\.venv\Scripts\python.exe -m pytest backend/tests/test_doc2fabric_core.py backend/tests/test_azure_rag.py -q</a:t>
            </a:r>
          </a:p>
          <a:p/>
          <a:p>
            <a:r>
              <a:t>근거 문서: PORTFOLIO.md</a:t>
            </a:r>
          </a:p>
          <a:p>
            <a:r>
              <a:t>upload_result.txt</a:t>
            </a:r>
          </a:p>
          <a:p>
            <a:r>
              <a:t>upload_images_result.txt</a:t>
            </a:r>
          </a:p>
          <a:p>
            <a:r>
              <a:t>upload_chunks_log2.txt</a:t>
            </a:r>
          </a:p>
          <a:p>
            <a:r>
              <a:t>backend/tests/test_doc2fabric_core.py</a:t>
            </a:r>
          </a:p>
          <a:p>
            <a:r>
              <a:t>backend/tests/test_azure_rag.py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개인별 기여율·개발 기간·운영 사용자 수·정답률·업무 시간 절감률은 확인되지 않아 넣지 않았다. 상세 구현 및 근거 링크는 PORTFOLIO.md에 있다. 공개 전 결과 화면의 계정명 및 내부 WI 자료 공개 정책을 확인해야 한다.</a:t>
            </a:r>
          </a:p>
          <a:p/>
          <a:p>
            <a:r>
              <a:t>근거 문서: PORTFOLIO.md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ENGINEERING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Amkor WI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06984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40"/>
              </a:lnSpc>
              <a:spcAft>
                <a:spcPts val="0"/>
              </a:spcAft>
            </a:pPr>
            <a:r>
              <a:rPr sz="3100" b="1">
                <a:solidFill>
                  <a:srgbClr val="202A30"/>
                </a:solidFill>
                <a:latin typeface="맑은 고딕"/>
                <a:ea typeface="맑은 고딕"/>
              </a:rPr>
              <a:t>제조 작업표준서</a:t>
            </a:r>
          </a:p>
          <a:p>
            <a:pPr>
              <a:lnSpc>
                <a:spcPts val="4340"/>
              </a:lnSpc>
              <a:spcAft>
                <a:spcPts val="0"/>
              </a:spcAft>
            </a:pPr>
            <a:r>
              <a:rPr sz="3100" b="1">
                <a:solidFill>
                  <a:srgbClr val="202A30"/>
                </a:solidFill>
                <a:latin typeface="맑은 고딕"/>
                <a:ea typeface="맑은 고딕"/>
              </a:rPr>
              <a:t>이미지 연계 RAG 챗봇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55264"/>
            <a:ext cx="2816352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10"/>
              </a:lnSpc>
              <a:spcAft>
                <a:spcPts val="0"/>
              </a:spcAft>
            </a:pPr>
            <a:r>
              <a:rPr sz="2150" b="1">
                <a:solidFill>
                  <a:srgbClr val="007D77"/>
                </a:solidFill>
                <a:latin typeface="맑은 고딕"/>
                <a:ea typeface="맑은 고딕"/>
              </a:rPr>
              <a:t>질문에서 출처까지,</a:t>
            </a:r>
          </a:p>
          <a:p>
            <a:pPr>
              <a:lnSpc>
                <a:spcPts val="3010"/>
              </a:lnSpc>
              <a:spcAft>
                <a:spcPts val="0"/>
              </a:spcAft>
            </a:pPr>
            <a:r>
              <a:rPr sz="2150" b="1">
                <a:solidFill>
                  <a:srgbClr val="007D77"/>
                </a:solidFill>
                <a:latin typeface="맑은 고딕"/>
                <a:ea typeface="맑은 고딕"/>
              </a:rPr>
              <a:t>작업 근거를 연결하다.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26864"/>
            <a:ext cx="288036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Aft>
                <a:spcPts val="0"/>
              </a:spcAft>
            </a:pPr>
            <a:r>
              <a:rPr sz="1600" b="0">
                <a:solidFill>
                  <a:srgbClr val="5D6D73"/>
                </a:solidFill>
                <a:latin typeface="맑은 고딕"/>
                <a:ea typeface="맑은 고딕"/>
              </a:rPr>
              <a:t>문서 수집 · 검색 · 답변 API</a:t>
            </a:r>
          </a:p>
          <a:p>
            <a:pPr>
              <a:lnSpc>
                <a:spcPts val="2240"/>
              </a:lnSpc>
              <a:spcAft>
                <a:spcPts val="0"/>
              </a:spcAft>
            </a:pPr>
            <a:r>
              <a:rPr sz="1600" b="0">
                <a:solidFill>
                  <a:srgbClr val="5D6D73"/>
                </a:solidFill>
                <a:latin typeface="맑은 고딕"/>
                <a:ea typeface="맑은 고딕"/>
              </a:rPr>
              <a:t>이미지 제공 · 운영 구성</a:t>
            </a:r>
          </a:p>
        </p:txBody>
      </p:sp>
      <p:pic>
        <p:nvPicPr>
          <p:cNvPr id="11" name="Picture 10" descr="2026-10-09 13 25 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7" y="2907792"/>
            <a:ext cx="7882127" cy="3444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문서를 찾는 것과 작업 근거를 찾는 것은 다르다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작업표준서는 텍스트, 표, 설비 화면과 사진이 결합된 비정형 자료다.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4480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5D6D73"/>
                </a:solidFill>
                <a:latin typeface="맑은 고딕"/>
                <a:ea typeface="맑은 고딕"/>
              </a:rPr>
              <a:t>업무의 어려움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04872"/>
            <a:ext cx="49377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007D77"/>
                </a:solidFill>
                <a:latin typeface="맑은 고딕"/>
                <a:ea typeface="맑은 고딕"/>
              </a:rPr>
              <a:t>구현한 접근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621024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4800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0">
                <a:solidFill>
                  <a:srgbClr val="202A30"/>
                </a:solidFill>
                <a:latin typeface="맑은 고딕"/>
                <a:ea typeface="맑은 고딕"/>
              </a:rPr>
              <a:t>형식이 다른 파일을 개별 확인</a:t>
            </a:r>
          </a:p>
        </p:txBody>
      </p:sp>
      <p:sp>
        <p:nvSpPr>
          <p:cNvPr id="13" name="Chevron 12"/>
          <p:cNvSpPr/>
          <p:nvPr/>
        </p:nvSpPr>
        <p:spPr>
          <a:xfrm>
            <a:off x="5788152" y="3108960"/>
            <a:ext cx="329184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99232"/>
            <a:ext cx="5120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Office·PDF를 공통 JSONL로 변환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489703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67911"/>
            <a:ext cx="4800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텍스트만으로 작업 이미지를 이해하기 어려움</a:t>
            </a:r>
          </a:p>
        </p:txBody>
      </p:sp>
      <p:sp>
        <p:nvSpPr>
          <p:cNvPr id="17" name="Chevron 16"/>
          <p:cNvSpPr/>
          <p:nvPr/>
        </p:nvSpPr>
        <p:spPr>
          <a:xfrm>
            <a:off x="5788152" y="3977639"/>
            <a:ext cx="329184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67911"/>
            <a:ext cx="5120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VLM 이미지 설명을 별도로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358383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4800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90"/>
              </a:lnSpc>
              <a:spcAft>
                <a:spcPts val="0"/>
              </a:spcAft>
            </a:pPr>
            <a:r>
              <a:rPr sz="1850" b="0">
                <a:solidFill>
                  <a:srgbClr val="202A30"/>
                </a:solidFill>
                <a:latin typeface="맑은 고딕"/>
                <a:ea typeface="맑은 고딕"/>
              </a:rPr>
              <a:t>답변의 원문과 개정 정보를 확인하기 어려움</a:t>
            </a:r>
          </a:p>
        </p:txBody>
      </p:sp>
      <p:sp>
        <p:nvSpPr>
          <p:cNvPr id="21" name="Chevron 20"/>
          <p:cNvSpPr/>
          <p:nvPr/>
        </p:nvSpPr>
        <p:spPr>
          <a:xfrm>
            <a:off x="5788152" y="4846320"/>
            <a:ext cx="329184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36592"/>
            <a:ext cx="5120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답변에 이미지·WI 출처를 함께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02  / 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질문 한 번으로, 작업 이미지와 WI 출처까지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03 / 12</a:t>
            </a:r>
          </a:p>
        </p:txBody>
      </p:sp>
      <p:pic>
        <p:nvPicPr>
          <p:cNvPr id="8" name="Picture 7" descr="2026-10-09 13 25 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17904"/>
            <a:ext cx="10597896" cy="46316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90488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제공된 포털 결과 화면  |  Confidence 86%는 검색 점수 기반 보조 지표이며 정답률이 아님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03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수집과 응답을 분리한 데이터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007D77"/>
                </a:solidFill>
                <a:latin typeface="맑은 고딕"/>
                <a:ea typeface="맑은 고딕"/>
              </a:rPr>
              <a:t>수집 · 인덱싱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04288"/>
            <a:ext cx="1920240" cy="960120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WI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4378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파일 / URL</a:t>
            </a:r>
          </a:p>
        </p:txBody>
      </p:sp>
      <p:sp>
        <p:nvSpPr>
          <p:cNvPr id="12" name="Chevron 11"/>
          <p:cNvSpPr/>
          <p:nvPr/>
        </p:nvSpPr>
        <p:spPr>
          <a:xfrm>
            <a:off x="2587752" y="2651760"/>
            <a:ext cx="182880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2304288"/>
            <a:ext cx="1920240" cy="960120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423160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파싱 · 청킹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4378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0"/>
              </a:lnSpc>
              <a:spcAft>
                <a:spcPts val="0"/>
              </a:spcAft>
            </a:pPr>
            <a:r>
              <a:rPr sz="1050" b="0">
                <a:solidFill>
                  <a:srgbClr val="5D6D73"/>
                </a:solidFill>
                <a:latin typeface="맑은 고딕"/>
                <a:ea typeface="맑은 고딕"/>
              </a:rPr>
              <a:t>LlamaParse + 메타데이터</a:t>
            </a:r>
          </a:p>
        </p:txBody>
      </p:sp>
      <p:sp>
        <p:nvSpPr>
          <p:cNvPr id="16" name="Chevron 15"/>
          <p:cNvSpPr/>
          <p:nvPr/>
        </p:nvSpPr>
        <p:spPr>
          <a:xfrm>
            <a:off x="4855464" y="2651760"/>
            <a:ext cx="182880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2304288"/>
            <a:ext cx="1920240" cy="960120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423160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OneLake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4378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JSONL 저장</a:t>
            </a:r>
          </a:p>
        </p:txBody>
      </p:sp>
      <p:sp>
        <p:nvSpPr>
          <p:cNvPr id="20" name="Chevron 19"/>
          <p:cNvSpPr/>
          <p:nvPr/>
        </p:nvSpPr>
        <p:spPr>
          <a:xfrm>
            <a:off x="7123176" y="2651760"/>
            <a:ext cx="182880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2304288"/>
            <a:ext cx="1920240" cy="960120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2423160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인덱싱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84378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정규화 + 배치 업로드</a:t>
            </a:r>
          </a:p>
        </p:txBody>
      </p:sp>
      <p:sp>
        <p:nvSpPr>
          <p:cNvPr id="24" name="Chevron 23"/>
          <p:cNvSpPr/>
          <p:nvPr/>
        </p:nvSpPr>
        <p:spPr>
          <a:xfrm>
            <a:off x="9390888" y="2651760"/>
            <a:ext cx="182880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5208" y="2304288"/>
            <a:ext cx="1920240" cy="960120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2423160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AI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84378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텍스트 / 이미지 설명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529584"/>
            <a:ext cx="108813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Aft>
                <a:spcPts val="0"/>
              </a:spcAft>
            </a:pPr>
            <a:r>
              <a:rPr sz="1600" b="0">
                <a:solidFill>
                  <a:srgbClr val="5D6D73"/>
                </a:solidFill>
                <a:latin typeface="맑은 고딕"/>
                <a:ea typeface="맑은 고딕"/>
              </a:rPr>
              <a:t>이미지 분기: Office 이미지 추출 → VLM 설명 생성 → JSONL에 연결 / 원본 이미지는 Blob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15384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1767AC"/>
                </a:solidFill>
                <a:latin typeface="맑은 고딕"/>
                <a:ea typeface="맑은 고딕"/>
              </a:rPr>
              <a:t>질의응답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800600"/>
            <a:ext cx="1920240" cy="9601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19472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사용자 질문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00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9"/>
              </a:lnSpc>
              <a:spcAft>
                <a:spcPts val="0"/>
              </a:spcAft>
            </a:pPr>
            <a:r>
              <a:rPr sz="1150" b="0">
                <a:solidFill>
                  <a:srgbClr val="5D6D73"/>
                </a:solidFill>
                <a:latin typeface="맑은 고딕"/>
                <a:ea typeface="맑은 고딕"/>
              </a:rPr>
              <a:t>FastAPI + 선택적 Redis</a:t>
            </a:r>
          </a:p>
        </p:txBody>
      </p:sp>
      <p:sp>
        <p:nvSpPr>
          <p:cNvPr id="33" name="Chevron 32"/>
          <p:cNvSpPr/>
          <p:nvPr/>
        </p:nvSpPr>
        <p:spPr>
          <a:xfrm>
            <a:off x="2587752" y="5157216"/>
            <a:ext cx="182880" cy="274320"/>
          </a:xfrm>
          <a:prstGeom prst="chevron">
            <a:avLst/>
          </a:prstGeom>
          <a:solidFill>
            <a:srgbClr val="17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62072" y="4800600"/>
            <a:ext cx="1920240" cy="9601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9232" y="4919472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질의 확장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53400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이전 질문 반영</a:t>
            </a:r>
          </a:p>
        </p:txBody>
      </p:sp>
      <p:sp>
        <p:nvSpPr>
          <p:cNvPr id="37" name="Chevron 36"/>
          <p:cNvSpPr/>
          <p:nvPr/>
        </p:nvSpPr>
        <p:spPr>
          <a:xfrm>
            <a:off x="4855464" y="5157216"/>
            <a:ext cx="182880" cy="274320"/>
          </a:xfrm>
          <a:prstGeom prst="chevron">
            <a:avLst/>
          </a:prstGeom>
          <a:solidFill>
            <a:srgbClr val="17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29784" y="4800600"/>
            <a:ext cx="1920240" cy="9601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6944" y="4919472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AI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944" y="53400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문서와 이미지 조회</a:t>
            </a:r>
          </a:p>
        </p:txBody>
      </p:sp>
      <p:sp>
        <p:nvSpPr>
          <p:cNvPr id="41" name="Chevron 40"/>
          <p:cNvSpPr/>
          <p:nvPr/>
        </p:nvSpPr>
        <p:spPr>
          <a:xfrm>
            <a:off x="7123176" y="5157216"/>
            <a:ext cx="182880" cy="274320"/>
          </a:xfrm>
          <a:prstGeom prst="chevron">
            <a:avLst/>
          </a:prstGeom>
          <a:solidFill>
            <a:srgbClr val="17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97496" y="4800600"/>
            <a:ext cx="1920240" cy="9601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6" y="4919472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6" y="53400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문서 근거 기반 답변</a:t>
            </a:r>
          </a:p>
        </p:txBody>
      </p:sp>
      <p:sp>
        <p:nvSpPr>
          <p:cNvPr id="45" name="Chevron 44"/>
          <p:cNvSpPr/>
          <p:nvPr/>
        </p:nvSpPr>
        <p:spPr>
          <a:xfrm>
            <a:off x="9390888" y="5157216"/>
            <a:ext cx="182880" cy="274320"/>
          </a:xfrm>
          <a:prstGeom prst="chevron">
            <a:avLst/>
          </a:prstGeom>
          <a:solidFill>
            <a:srgbClr val="17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65208" y="4800600"/>
            <a:ext cx="1920240" cy="9601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2368" y="4919472"/>
            <a:ext cx="1645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응답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02368" y="53400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답변 + 이미지 + 출처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980176"/>
            <a:ext cx="10881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0">
                <a:solidFill>
                  <a:srgbClr val="5D6D73"/>
                </a:solidFill>
                <a:latin typeface="맑은 고딕"/>
                <a:ea typeface="맑은 고딕"/>
              </a:rPr>
              <a:t>이미지 바이너리는 백엔드 프록시를 통해 Blob Storage에서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04  / 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문서 구조를 살리고, 검색 메타데이터를 남기다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5"/>
            <a:ext cx="3291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90"/>
              </a:lnSpc>
              <a:spcAft>
                <a:spcPts val="0"/>
              </a:spcAft>
            </a:pPr>
            <a:r>
              <a:rPr sz="3350" b="1">
                <a:solidFill>
                  <a:srgbClr val="007D7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61488"/>
            <a:ext cx="3337560" cy="22860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3337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202A30"/>
                </a:solidFill>
                <a:latin typeface="맑은 고딕"/>
                <a:ea typeface="맑은 고딕"/>
              </a:rPr>
              <a:t>다운로드·파싱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31336"/>
            <a:ext cx="3374136" cy="144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Office·PDF·ZIP 입력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빈 파일·로그인 HTML 거부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파일 시그니처로 형식 추론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11095"/>
            <a:ext cx="3291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90"/>
              </a:lnSpc>
              <a:spcAft>
                <a:spcPts val="0"/>
              </a:spcAft>
            </a:pPr>
            <a:r>
              <a:rPr sz="3350" b="1">
                <a:solidFill>
                  <a:srgbClr val="1767A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761488"/>
            <a:ext cx="3337560" cy="22860"/>
          </a:xfrm>
          <a:prstGeom prst="rect">
            <a:avLst/>
          </a:prstGeom>
          <a:solidFill>
            <a:srgbClr val="17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081528"/>
            <a:ext cx="3337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202A30"/>
                </a:solidFill>
                <a:latin typeface="맑은 고딕"/>
                <a:ea typeface="맑은 고딕"/>
              </a:rPr>
              <a:t>구조 기반 청킹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831336"/>
            <a:ext cx="3374136" cy="144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표: 행 묶음 + 헤더 반복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절차: 번호 섹션 + 중첩 문맥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슬라이드: 인식 단위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911095"/>
            <a:ext cx="3291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90"/>
              </a:lnSpc>
              <a:spcAft>
                <a:spcPts val="0"/>
              </a:spcAft>
            </a:pPr>
            <a:r>
              <a:rPr sz="3350" b="1">
                <a:solidFill>
                  <a:srgbClr val="007D7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2761488"/>
            <a:ext cx="3337560" cy="22860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081528"/>
            <a:ext cx="3337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202A30"/>
                </a:solidFill>
                <a:latin typeface="맑은 고딕"/>
                <a:ea typeface="맑은 고딕"/>
              </a:rPr>
              <a:t>업무 메타데이터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831336"/>
            <a:ext cx="3374136" cy="144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문서 ID · WI 번호 · 개정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부서 · 고객사 · 작업 구분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출처 파일 · 이미지 참조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650992"/>
            <a:ext cx="11000232" cy="521207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79008"/>
            <a:ext cx="10607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0">
                <a:solidFill>
                  <a:srgbClr val="202A30"/>
                </a:solidFill>
                <a:latin typeface="맑은 고딕"/>
                <a:ea typeface="맑은 고딕"/>
              </a:rPr>
              <a:t>기본 청킹 설정  2,000자 / 중첩 150자   ·   구조 보존 경로에서는 초과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05  /  IMAGE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이미지를 설명으로 바꾸어 검색에 연결하다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432304" cy="1033271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1"/>
            <a:ext cx="215798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이미지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5"/>
            <a:ext cx="21579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표 · 사진 · 설비 화면</a:t>
            </a:r>
          </a:p>
        </p:txBody>
      </p:sp>
      <p:sp>
        <p:nvSpPr>
          <p:cNvPr id="11" name="Chevron 10"/>
          <p:cNvSpPr/>
          <p:nvPr/>
        </p:nvSpPr>
        <p:spPr>
          <a:xfrm>
            <a:off x="3136391" y="2267712"/>
            <a:ext cx="210312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1874519"/>
            <a:ext cx="2432304" cy="1033271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1"/>
            <a:ext cx="215798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VLM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414015"/>
            <a:ext cx="21579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한국어 의미 설명 생성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9320" y="2267712"/>
            <a:ext cx="210312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216" y="1874519"/>
            <a:ext cx="2432304" cy="1033271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993391"/>
            <a:ext cx="215798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별도 인덱스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414015"/>
            <a:ext cx="21579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이미지 단위 레코드</a:t>
            </a:r>
          </a:p>
        </p:txBody>
      </p:sp>
      <p:sp>
        <p:nvSpPr>
          <p:cNvPr id="19" name="Chevron 18"/>
          <p:cNvSpPr/>
          <p:nvPr/>
        </p:nvSpPr>
        <p:spPr>
          <a:xfrm>
            <a:off x="8842248" y="2267712"/>
            <a:ext cx="210312" cy="274320"/>
          </a:xfrm>
          <a:prstGeom prst="chevron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874519"/>
            <a:ext cx="2432304" cy="1033271"/>
          </a:xfrm>
          <a:prstGeom prst="rect">
            <a:avLst/>
          </a:prstGeom>
          <a:solidFill>
            <a:srgbClr val="ED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993391"/>
            <a:ext cx="215798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관련성 선별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414015"/>
            <a:ext cx="21579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79"/>
              </a:lnSpc>
              <a:spcAft>
                <a:spcPts val="0"/>
              </a:spcAft>
            </a:pPr>
            <a:r>
              <a:rPr sz="1200" b="0">
                <a:solidFill>
                  <a:srgbClr val="5D6D73"/>
                </a:solidFill>
                <a:latin typeface="맑은 고딕"/>
                <a:ea typeface="맑은 고딕"/>
              </a:rPr>
              <a:t>WI 참조 + 질의 관련성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83864"/>
            <a:ext cx="3931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007D77"/>
                </a:solidFill>
                <a:latin typeface="맑은 고딕"/>
                <a:ea typeface="맑은 고딕"/>
              </a:rPr>
              <a:t>검색 시점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40"/>
            <a:ext cx="585216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0">
                <a:solidFill>
                  <a:srgbClr val="202A30"/>
                </a:solidFill>
                <a:latin typeface="맑은 고딕"/>
                <a:ea typeface="맑은 고딕"/>
              </a:rPr>
              <a:t>문서 검색으로 WI 번호·개정 참조 확보</a:t>
            </a:r>
          </a:p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0">
                <a:solidFill>
                  <a:srgbClr val="202A30"/>
                </a:solidFill>
                <a:latin typeface="맑은 고딕"/>
                <a:ea typeface="맑은 고딕"/>
              </a:rPr>
              <a:t>이미지 검색 점수와 설명의 관련성 평가</a:t>
            </a:r>
          </a:p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0">
                <a:solidFill>
                  <a:srgbClr val="202A30"/>
                </a:solidFill>
                <a:latin typeface="맑은 고딕"/>
                <a:ea typeface="맑은 고딕"/>
              </a:rPr>
              <a:t>후보가 없으면 청크의 이미지 정보 활용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474720"/>
            <a:ext cx="22860" cy="2295144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483864"/>
            <a:ext cx="40233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1767AC"/>
                </a:solidFill>
                <a:latin typeface="맑은 고딕"/>
                <a:ea typeface="맑은 고딕"/>
              </a:rPr>
              <a:t>응답 시점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206240"/>
            <a:ext cx="42062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관련 이미지 최대 5개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JSON 응답은 단락 사이 배치 가능</a:t>
            </a:r>
          </a:p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원본은 Blob 프록시로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44184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0">
                <a:solidFill>
                  <a:srgbClr val="5D6D73"/>
                </a:solidFill>
                <a:latin typeface="맑은 고딕"/>
                <a:ea typeface="맑은 고딕"/>
              </a:rPr>
              <a:t>이미지 벡터 직접 검색이 아닌, VLM이 생성한 설명을 활용한 검색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06  / 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질의 확장 → 결과 결합 → 근거 중심 컨텍스트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11018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0">
                <a:solidFill>
                  <a:srgbClr val="5D6D73"/>
                </a:solidFill>
                <a:latin typeface="맑은 고딕"/>
                <a:ea typeface="맑은 고딕"/>
              </a:rPr>
              <a:t>이전 질문을 반영한 후보 검색을 RRF로 결합하고, 중요 문서를 컨텍스트 앞뒤에 배치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11000232" cy="594360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242316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9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검색 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816352"/>
            <a:ext cx="242316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9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최대 질의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816352"/>
            <a:ext cx="242316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9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Top-K / 병합 상한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2816352"/>
            <a:ext cx="242316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9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컨텍스트 상한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1000232" cy="62179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19856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419856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419856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3419856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41064"/>
            <a:ext cx="110002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069080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069080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4069080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590288"/>
            <a:ext cx="11000232" cy="62179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18303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deep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4718303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18303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4718303"/>
            <a:ext cx="2423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202A30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86400"/>
            <a:ext cx="51663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0"/>
              </a:lnSpc>
              <a:spcAft>
                <a:spcPts val="0"/>
              </a:spcAft>
            </a:pPr>
            <a:r>
              <a:rPr sz="2100" b="1">
                <a:solidFill>
                  <a:srgbClr val="007D77"/>
                </a:solidFill>
                <a:latin typeface="맑은 고딕"/>
                <a:ea typeface="맑은 고딕"/>
              </a:rPr>
              <a:t>근거가 약하면 응답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5120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0"/>
              </a:lnSpc>
              <a:spcAft>
                <a:spcPts val="0"/>
              </a:spcAft>
            </a:pPr>
            <a:r>
              <a:rPr sz="2100" b="1">
                <a:solidFill>
                  <a:srgbClr val="1767AC"/>
                </a:solidFill>
                <a:latin typeface="맑은 고딕"/>
                <a:ea typeface="맑은 고딕"/>
              </a:rPr>
              <a:t>구체적 사실 뒤에 [출처N]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071616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0">
                <a:solidFill>
                  <a:srgbClr val="5D6D73"/>
                </a:solidFill>
                <a:latin typeface="맑은 고딕"/>
                <a:ea typeface="맑은 고딕"/>
              </a:rPr>
              <a:t>실제 질의 수는 중복 제거 후 달라질 수 있음. 검색 개선 폭과 정답률은 별도 측정 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07  /  API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질문부터 후속 대화까지 연결하는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007D77"/>
                </a:solidFill>
                <a:latin typeface="맑은 고딕"/>
                <a:ea typeface="맑은 고딕"/>
              </a:rPr>
              <a:t>응답 인터페이스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5486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90"/>
              </a:lnSpc>
              <a:spcAft>
                <a:spcPts val="0"/>
              </a:spcAft>
            </a:pPr>
            <a:r>
              <a:rPr sz="2350" b="1">
                <a:solidFill>
                  <a:srgbClr val="202A30"/>
                </a:solidFill>
                <a:latin typeface="맑은 고딕"/>
                <a:ea typeface="맑은 고딕"/>
              </a:rPr>
              <a:t>POST /api/wi/ask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571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JSON: 답변 · 출처 · 이미지 ·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68496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202A30"/>
                </a:solidFill>
                <a:latin typeface="맑은 고딕"/>
                <a:ea typeface="맑은 고딕"/>
              </a:rPr>
              <a:t>POST /api/wi/ask/stream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35424"/>
            <a:ext cx="571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SSE: 토큰 이벤트 + 완료 메타데이터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8232" y="1883664"/>
            <a:ext cx="22860" cy="3602736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874519"/>
            <a:ext cx="4700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1767AC"/>
                </a:solidFill>
                <a:latin typeface="맑은 고딕"/>
                <a:ea typeface="맑은 고딕"/>
              </a:rPr>
              <a:t>대화와 표현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706624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응답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200400"/>
            <a:ext cx="4700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precise / standard /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977639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Redis 사용자별 이력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4471416"/>
            <a:ext cx="4700016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기본 TTL 30분 / 최대 40개 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98464"/>
            <a:ext cx="1099108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9"/>
              </a:lnSpc>
              <a:spcAft>
                <a:spcPts val="0"/>
              </a:spcAft>
            </a:pPr>
            <a:r>
              <a:rPr sz="1400" b="0">
                <a:solidFill>
                  <a:srgbClr val="5D6D73"/>
                </a:solidFill>
                <a:latin typeface="맑은 고딕"/>
                <a:ea typeface="맑은 고딕"/>
              </a:rPr>
              <a:t>React 데모는 JSON API 사용. JSON과 SSE의 이미지 배치·후처리는 현재 동일하지 않음.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08  /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실제 연동 문제를 처리 가능한 단위로 나누다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7"/>
            <a:ext cx="685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9"/>
              </a:lnSpc>
              <a:spcAft>
                <a:spcPts val="0"/>
              </a:spcAft>
            </a:pPr>
            <a:r>
              <a:rPr sz="2800" b="1">
                <a:solidFill>
                  <a:srgbClr val="007D7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892807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문서 대신 로그인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395728"/>
            <a:ext cx="9966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빈 응답·HTML 검사와 파일 시그니처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779776"/>
            <a:ext cx="9966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1767AC"/>
                </a:solidFill>
                <a:latin typeface="맑은 고딕"/>
                <a:ea typeface="맑은 고딕"/>
              </a:rPr>
              <a:t>다운로드 실패와 파싱 실패를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7904" y="3145536"/>
            <a:ext cx="10021824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685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9"/>
              </a:lnSpc>
              <a:spcAft>
                <a:spcPts val="0"/>
              </a:spcAft>
            </a:pPr>
            <a:r>
              <a:rPr sz="2800" b="1">
                <a:solidFill>
                  <a:srgbClr val="007D7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3246120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저장소와 인덱스의 스키마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749039"/>
            <a:ext cx="9966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wi_id 매핑, ID·고객사 타입 정규화, 허용 필드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133087"/>
            <a:ext cx="9966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1767AC"/>
                </a:solidFill>
                <a:latin typeface="맑은 고딕"/>
                <a:ea typeface="맑은 고딕"/>
              </a:rPr>
              <a:t>업로드 전에 데이터 계약을 정리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7904" y="4498848"/>
            <a:ext cx="10021824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99431"/>
            <a:ext cx="685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9"/>
              </a:lnSpc>
              <a:spcAft>
                <a:spcPts val="0"/>
              </a:spcAft>
            </a:pPr>
            <a:r>
              <a:rPr sz="2800" b="1">
                <a:solidFill>
                  <a:srgbClr val="007D7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599431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대용량 배치의 요청 크기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5102351"/>
            <a:ext cx="9966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0">
                <a:solidFill>
                  <a:srgbClr val="5D6D73"/>
                </a:solidFill>
                <a:latin typeface="맑은 고딕"/>
                <a:ea typeface="맑은 고딕"/>
              </a:rPr>
              <a:t>배치를 재귀 분할하고 성공 건수·실패 키 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486399"/>
            <a:ext cx="9966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1767AC"/>
                </a:solidFill>
                <a:latin typeface="맑은 고딕"/>
                <a:ea typeface="맑은 고딕"/>
              </a:rPr>
              <a:t>부분 실패를 식별하고 재처리 대상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09  /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적재 이후의 동기화·배포·관측까지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동기화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337413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Fabric 증분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11296"/>
            <a:ext cx="3401568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수정 시각 + 업로드 레지스트리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신규·변경·이전 실패 파일 선택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전체 재업로드 옵션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20240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배포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633472"/>
            <a:ext cx="337413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511296"/>
            <a:ext cx="3401568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릴리스 PR 병합 후 테스트·빌드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원격 백업·전송·서비스 재시작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Linux / Gunicorn /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920240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Aft>
                <a:spcPts val="0"/>
              </a:spcAft>
            </a:pPr>
            <a:r>
              <a:rPr sz="1900" b="1">
                <a:solidFill>
                  <a:srgbClr val="007D77"/>
                </a:solidFill>
                <a:latin typeface="맑은 고딕"/>
                <a:ea typeface="맑은 고딕"/>
              </a:rPr>
              <a:t>관측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633472"/>
            <a:ext cx="337413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202A30"/>
                </a:solidFill>
                <a:latin typeface="맑은 고딕"/>
                <a:ea typeface="맑은 고딕"/>
              </a:rPr>
              <a:t>오류와 추적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511296"/>
            <a:ext cx="3401568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처리 단계·error_id·실패 키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검색 시간·질의 수·출처 수</a:t>
            </a:r>
          </a:p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0">
                <a:solidFill>
                  <a:srgbClr val="5D6D73"/>
                </a:solidFill>
                <a:latin typeface="맑은 고딕"/>
                <a:ea typeface="맑은 고딕"/>
              </a:rPr>
              <a:t>선택적 OpenTelemetry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458968"/>
            <a:ext cx="11000232" cy="7315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559552"/>
            <a:ext cx="10607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1">
                <a:solidFill>
                  <a:srgbClr val="A05C18"/>
                </a:solidFill>
                <a:latin typeface="맑은 고딕"/>
                <a:ea typeface="맑은 고딕"/>
              </a:rPr>
              <a:t>구현된 구성과 실제 운영 성과는 구분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907024"/>
            <a:ext cx="10607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0"/>
              </a:lnSpc>
              <a:spcAft>
                <a:spcPts val="0"/>
              </a:spcAft>
            </a:pPr>
            <a:r>
              <a:rPr sz="1050" b="0">
                <a:solidFill>
                  <a:srgbClr val="5D6D73"/>
                </a:solidFill>
                <a:latin typeface="맑은 고딕"/>
                <a:ea typeface="맑은 고딕"/>
              </a:rPr>
              <a:t>스케줄 등록·배포 성공 이력은 미검증. CLI·노트북의 스키마 통합 검증이 필요함.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10  /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로그와 테스트로 확인한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3429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80"/>
              </a:lnSpc>
              <a:spcAft>
                <a:spcPts val="0"/>
              </a:spcAft>
            </a:pPr>
            <a:r>
              <a:rPr sz="4200" b="1">
                <a:solidFill>
                  <a:srgbClr val="007D77"/>
                </a:solidFill>
                <a:latin typeface="맑은 고딕"/>
                <a:ea typeface="맑은 고딕"/>
              </a:rPr>
              <a:t>88,996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1256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텍스트 청크 업로드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9"/>
              </a:lnSpc>
              <a:spcAft>
                <a:spcPts val="0"/>
              </a:spcAft>
            </a:pPr>
            <a:r>
              <a:rPr sz="1400" b="0">
                <a:solidFill>
                  <a:srgbClr val="5D6D73"/>
                </a:solidFill>
                <a:latin typeface="맑은 고딕"/>
                <a:ea typeface="맑은 고딕"/>
              </a:rPr>
              <a:t>88,996 / 88,996건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075688"/>
            <a:ext cx="3429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80"/>
              </a:lnSpc>
              <a:spcAft>
                <a:spcPts val="0"/>
              </a:spcAft>
            </a:pPr>
            <a:r>
              <a:rPr sz="4200" b="1">
                <a:solidFill>
                  <a:srgbClr val="1767AC"/>
                </a:solidFill>
                <a:latin typeface="맑은 고딕"/>
                <a:ea typeface="맑은 고딕"/>
              </a:rPr>
              <a:t>226,586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3191256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이미지 검색 레코드 업로드 성공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703320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9"/>
              </a:lnSpc>
              <a:spcAft>
                <a:spcPts val="0"/>
              </a:spcAft>
            </a:pPr>
            <a:r>
              <a:rPr sz="1400" b="0">
                <a:solidFill>
                  <a:srgbClr val="5D6D73"/>
                </a:solidFill>
                <a:latin typeface="맑은 고딕"/>
                <a:ea typeface="맑은 고딕"/>
              </a:rPr>
              <a:t>226,586 / 226,586건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075688"/>
            <a:ext cx="3429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80"/>
              </a:lnSpc>
              <a:spcAft>
                <a:spcPts val="0"/>
              </a:spcAft>
            </a:pPr>
            <a:r>
              <a:rPr sz="4200" b="1">
                <a:solidFill>
                  <a:srgbClr val="007D77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3191256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9"/>
              </a:lnSpc>
              <a:spcAft>
                <a:spcPts val="0"/>
              </a:spcAft>
            </a:pPr>
            <a:r>
              <a:rPr sz="1700" b="1">
                <a:solidFill>
                  <a:srgbClr val="202A30"/>
                </a:solidFill>
                <a:latin typeface="맑은 고딕"/>
                <a:ea typeface="맑은 고딕"/>
              </a:rPr>
              <a:t>기존 단위 테스트 통과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703320"/>
            <a:ext cx="34290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9"/>
              </a:lnSpc>
              <a:spcAft>
                <a:spcPts val="0"/>
              </a:spcAft>
            </a:pPr>
            <a:r>
              <a:rPr sz="1400" b="0">
                <a:solidFill>
                  <a:srgbClr val="5D6D73"/>
                </a:solidFill>
                <a:latin typeface="맑은 고딕"/>
                <a:ea typeface="맑은 고딕"/>
              </a:rPr>
              <a:t>파싱·검색 관련 2개 테스트 파일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53712"/>
            <a:ext cx="11000232" cy="14630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55464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</a:pPr>
            <a:r>
              <a:rPr sz="1800" b="1">
                <a:solidFill>
                  <a:srgbClr val="202A30"/>
                </a:solidFill>
                <a:latin typeface="맑은 고딕"/>
                <a:ea typeface="맑은 고딕"/>
              </a:rPr>
              <a:t>해석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846320"/>
            <a:ext cx="91440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5D6D73"/>
                </a:solidFill>
                <a:latin typeface="맑은 고딕"/>
                <a:ea typeface="맑은 고딕"/>
              </a:rPr>
              <a:t>업로드 수치는 저장된 개별 실행 로그. 원본 파일 수·현재 인덱스 수와는 다름.</a:t>
            </a:r>
          </a:p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5D6D73"/>
                </a:solidFill>
                <a:latin typeface="맑은 고딕"/>
                <a:ea typeface="맑은 고딕"/>
              </a:rPr>
              <a:t>테스트는 외부 API 모킹 기반. 실제 클라우드 연동·정답률·처리량 검증은 아님.</a:t>
            </a:r>
          </a:p>
          <a:p>
            <a:pPr>
              <a:lnSpc>
                <a:spcPts val="2100"/>
              </a:lnSpc>
              <a:spcAft>
                <a:spcPts val="0"/>
              </a:spcAft>
            </a:pPr>
            <a:r>
              <a:rPr sz="1500" b="0">
                <a:solidFill>
                  <a:srgbClr val="5D6D73"/>
                </a:solidFill>
                <a:latin typeface="맑은 고딕"/>
                <a:ea typeface="맑은 고딕"/>
              </a:rPr>
              <a:t>별도 텍스트 실행에는 88,997건 중 1건 실패 기록도 존재.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10789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9"/>
              </a:lnSpc>
              <a:spcAft>
                <a:spcPts val="0"/>
              </a:spcAft>
            </a:pPr>
            <a:r>
              <a:rPr sz="1100" b="1">
                <a:solidFill>
                  <a:srgbClr val="007D77"/>
                </a:solidFill>
                <a:latin typeface="맑은 고딕"/>
                <a:ea typeface="맑은 고딕"/>
              </a:rPr>
              <a:t>11  /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185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</a:pPr>
            <a:r>
              <a:rPr sz="3000" b="1">
                <a:solidFill>
                  <a:srgbClr val="202A30"/>
                </a:solidFill>
                <a:latin typeface="맑은 고딕"/>
                <a:ea typeface="맑은 고딕"/>
              </a:rPr>
              <a:t>답변 생성보다 중요한 것은, 확인 가능한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</a:pPr>
            <a:r>
              <a:rPr sz="900" b="0">
                <a:solidFill>
                  <a:srgbClr val="5D6D73"/>
                </a:solidFill>
                <a:latin typeface="맑은 고딕"/>
                <a:ea typeface="맑은 고딕"/>
              </a:rPr>
              <a:t>AMKOR WI CHATBOT  /  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sz="1000" b="0">
                <a:solidFill>
                  <a:srgbClr val="5D6D73"/>
                </a:solidFill>
                <a:latin typeface="맑은 고딕"/>
                <a:ea typeface="맑은 고딕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00232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9"/>
              </a:lnSpc>
              <a:spcAft>
                <a:spcPts val="0"/>
              </a:spcAft>
            </a:pPr>
            <a:r>
              <a:rPr sz="2200" b="1">
                <a:solidFill>
                  <a:srgbClr val="007D77"/>
                </a:solidFill>
                <a:latin typeface="맑은 고딕"/>
                <a:ea typeface="맑은 고딕"/>
              </a:rPr>
              <a:t>문서 구조를 보존하고, 이미지와 출처를 연결하며, 실패를 추적 가능하게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5120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202A30"/>
                </a:solidFill>
                <a:latin typeface="맑은 고딕"/>
                <a:ea typeface="맑은 고딕"/>
              </a:rPr>
              <a:t>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75304"/>
            <a:ext cx="521208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수집부터 검색·응답까지 연결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이미지 설명 기반 검색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WI 번호·개정을 통한 근거 추적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업로드 로그와 단위 테스트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2779776"/>
            <a:ext cx="22860" cy="2825496"/>
          </a:xfrm>
          <a:prstGeom prst="rect">
            <a:avLst/>
          </a:prstGeom>
          <a:solidFill>
            <a:srgbClr val="DC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79776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19"/>
              </a:lnSpc>
              <a:spcAft>
                <a:spcPts val="0"/>
              </a:spcAft>
            </a:pPr>
            <a:r>
              <a:rPr sz="2300" b="1">
                <a:solidFill>
                  <a:srgbClr val="1767AC"/>
                </a:solidFill>
                <a:latin typeface="맑은 고딕"/>
                <a:ea typeface="맑은 고딕"/>
              </a:rPr>
              <a:t>다음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75304"/>
            <a:ext cx="5093208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대표 질문 세트로 검색·답변 평가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응답시간 p50·p95 및 비용 측정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삭제·개정·인덱스 스키마 통합</a:t>
            </a:r>
          </a:p>
          <a:p>
            <a:pPr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5D6D73"/>
                </a:solidFill>
                <a:latin typeface="맑은 고딕"/>
                <a:ea typeface="맑은 고딕"/>
              </a:rPr>
              <a:t>권한 검증과 JSON·SSE 일관성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07608"/>
            <a:ext cx="110002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Aft>
                <a:spcPts val="0"/>
              </a:spcAft>
            </a:pPr>
            <a:r>
              <a:rPr sz="1300" b="0">
                <a:solidFill>
                  <a:srgbClr val="5D6D73"/>
                </a:solidFill>
                <a:latin typeface="맑은 고딕"/>
                <a:ea typeface="맑은 고딕"/>
              </a:rPr>
              <a:t>기술 기반: FastAPI · Fabric OneLake · Azure AI Search · Azure OpenAI · Blob · Redis · 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Amkor WI Chatbot | 이미지 연계 RAG 포트폴리오</dc:title>
  <dc:subject>제조 작업표준서 검색과 근거 기반 질의응답</dc:subject>
  <dc:creator/>
  <cp:keywords>RAG, Fabric, Azure AI Search, WI, Portfolio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